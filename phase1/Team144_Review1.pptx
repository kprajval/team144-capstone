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4"/>
  </p:notesMasterIdLst>
  <p:handoutMasterIdLst>
    <p:handoutMasterId r:id="rId15"/>
  </p:handoutMasterIdLst>
  <p:sldIdLst>
    <p:sldId id="538" r:id="rId2"/>
    <p:sldId id="535" r:id="rId3"/>
    <p:sldId id="569" r:id="rId4"/>
    <p:sldId id="577" r:id="rId5"/>
    <p:sldId id="580" r:id="rId6"/>
    <p:sldId id="568" r:id="rId7"/>
    <p:sldId id="571" r:id="rId8"/>
    <p:sldId id="570" r:id="rId9"/>
    <p:sldId id="572" r:id="rId10"/>
    <p:sldId id="581" r:id="rId11"/>
    <p:sldId id="576" r:id="rId12"/>
    <p:sldId id="549" r:id="rId13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66FFCC"/>
    <a:srgbClr val="00CCFF"/>
    <a:srgbClr val="33CCFF"/>
    <a:srgbClr val="00FFFF"/>
    <a:srgbClr val="FF33CC"/>
    <a:srgbClr val="FF0066"/>
    <a:srgbClr val="0000FF"/>
    <a:srgbClr val="33CC33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>
        <p:scale>
          <a:sx n="80" d="100"/>
          <a:sy n="80" d="100"/>
        </p:scale>
        <p:origin x="778" y="1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10/29/2024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10/29/2024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10/29/2024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10/29/2024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C91282D4-EDA2-9EB7-4718-C22D3D176D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365125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8166505" TargetMode="External"/><Relationship Id="rId3" Type="http://schemas.openxmlformats.org/officeDocument/2006/relationships/hyperlink" Target="https://ieeexplore.ieee.org/document/9772559" TargetMode="External"/><Relationship Id="rId7" Type="http://schemas.openxmlformats.org/officeDocument/2006/relationships/hyperlink" Target="https://ieeexplore.ieee.org/document/7340767/authors#authors" TargetMode="External"/><Relationship Id="rId2" Type="http://schemas.openxmlformats.org/officeDocument/2006/relationships/hyperlink" Target="https://ieeexplore.ieee.org/document/9742917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eeexplore.ieee.org/document/10334967/authors#authors" TargetMode="External"/><Relationship Id="rId5" Type="http://schemas.openxmlformats.org/officeDocument/2006/relationships/hyperlink" Target="https://ieeexplore.ieee.org/document/10546013/authors#authors" TargetMode="External"/><Relationship Id="rId4" Type="http://schemas.openxmlformats.org/officeDocument/2006/relationships/hyperlink" Target="https://ieeexplore.ieee.org/document/9692420/authors" TargetMode="External"/><Relationship Id="rId9" Type="http://schemas.openxmlformats.org/officeDocument/2006/relationships/hyperlink" Target="https://ieeexplore.ieee.org/document/10392628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6;p3"/>
          <p:cNvSpPr txBox="1"/>
          <p:nvPr/>
        </p:nvSpPr>
        <p:spPr>
          <a:xfrm>
            <a:off x="0" y="4323472"/>
            <a:ext cx="12192000" cy="253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CFA518-D372-62E3-1BFC-9EE1EB0AA9EE}"/>
              </a:ext>
            </a:extLst>
          </p:cNvPr>
          <p:cNvSpPr txBox="1"/>
          <p:nvPr/>
        </p:nvSpPr>
        <p:spPr>
          <a:xfrm>
            <a:off x="0" y="1752600"/>
            <a:ext cx="121920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UE22CS320A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Capstone Project Approval</a:t>
            </a:r>
          </a:p>
          <a:p>
            <a:pPr algn="ctr"/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	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AVIOS – A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igilant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ntelligent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perating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</a:p>
          <a:p>
            <a:pPr lvl="2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		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144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	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Prof. Swetha Patil</a:t>
            </a:r>
          </a:p>
          <a:p>
            <a:pPr lvl="2"/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I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Kurumeti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Prajval ( PES2UG22CS274 )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Manoj Kumar KS ( PES2UG22CS302 )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I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Dhanushree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( PES2UG22CS176 )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I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Nagaratna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PES2UG22CS331 )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95400" y="2209800"/>
            <a:ext cx="8534400" cy="2554287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Feasibility study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Applications/Use cases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Deliverables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( Phase - I ) Project Timeline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other information</a:t>
            </a:r>
            <a:endParaRPr lang="en-US" sz="28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600200"/>
            <a:ext cx="10972800" cy="4191000"/>
          </a:xfrm>
          <a:prstGeom prst="rect">
            <a:avLst/>
          </a:prstGeom>
        </p:spPr>
        <p:txBody>
          <a:bodyPr/>
          <a:lstStyle/>
          <a:p>
            <a:pPr marL="342891" algn="ctr" eaLnBrk="0" hangingPunct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Integrated with Operating System.</a:t>
            </a: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aims to elevate user experience by leveraging intelligent automation, delivering personalized recommendations, and advancing system management for seamless and efficient performance.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routine tasks.</a:t>
            </a: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5841" lvl="1" indent="-285750" algn="just" ea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Resource Management</a:t>
            </a:r>
          </a:p>
          <a:p>
            <a:pPr marL="1085841" lvl="1" indent="-285750" algn="just" ea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Learning Environment</a:t>
            </a:r>
          </a:p>
          <a:p>
            <a:pPr marL="1085841" lvl="1" indent="-285750" algn="just" ea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Self-Healing System ( Automated Fault detection and Recovery )</a:t>
            </a:r>
          </a:p>
          <a:p>
            <a:pPr marL="1085841" lvl="1" indent="-285750" algn="just" eaLnBrk="0" hangingPunc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Assisted Security System</a:t>
            </a: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891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38535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BC8A74-CF12-DE6F-42C1-90220EFD3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2370F4C7-B242-16D5-E452-7E22794C9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AI Integrated OS ?</a:t>
            </a:r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4A885C-C27A-AF68-EAB1-AA73B4325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149127"/>
              </p:ext>
            </p:extLst>
          </p:nvPr>
        </p:nvGraphicFramePr>
        <p:xfrm>
          <a:off x="990600" y="2286000"/>
          <a:ext cx="10287000" cy="2800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0915649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167667643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730304437"/>
                    </a:ext>
                  </a:extLst>
                </a:gridCol>
              </a:tblGrid>
              <a:tr h="5066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165455"/>
                  </a:ext>
                </a:extLst>
              </a:tr>
              <a:tr h="506673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Allocation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31956"/>
                  </a:ext>
                </a:extLst>
              </a:tr>
              <a:tr h="506673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Assisted Security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Have Fixed Rules and Virus Definitions.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Keeps it’s security up to date using system 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035987"/>
                  </a:ext>
                </a:extLst>
              </a:tr>
              <a:tr h="506673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 Detection and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Reactive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800630"/>
                  </a:ext>
                </a:extLst>
              </a:tr>
              <a:tr h="506673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 Learning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 User to Optimize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based on User Usage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282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991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354BBC-7AF3-EBC0-BB75-4CF7A56EC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E0C6E40E-D9C4-9018-4834-A84267D0E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138535"/>
            <a:ext cx="624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Scope</a:t>
            </a:r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E434E-4F39-0D7D-5A1D-D6D3E7E99EED}"/>
              </a:ext>
            </a:extLst>
          </p:cNvPr>
          <p:cNvSpPr txBox="1"/>
          <p:nvPr/>
        </p:nvSpPr>
        <p:spPr>
          <a:xfrm>
            <a:off x="1066800" y="1600200"/>
            <a:ext cx="10363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Develop an AI-driven OS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experience through intelligent automation.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system management using predictive capabilities.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interface adjustments leveraging machine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Core features to be included: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Resource Management for efficient allocation.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to prevent system failures.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Interface Adjustments based on user behavior.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Expansion: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Post-Linux kernel stabilization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custom kernel with deeper AI integration.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for improved performance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better 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capabilities may include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Natural Language Processing for better user interaction.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Threat Detection for enhanced cybersecurity.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devices for smart environments, targeting homes or enterprises.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Advantage: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Offers intelligent and adaptive interactions compared to traditional OSs.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Optimizes user tasks based on observed usage patterns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Reduces resource waste and boosts user productivity.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Early adoption could provide a first-mover advantage in the growing market of AI-focused personalization and automation.</a:t>
            </a:r>
          </a:p>
          <a:p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216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495800" y="1138535"/>
            <a:ext cx="624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Feasibility study</a:t>
            </a:r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F8D5097-4F3E-18F6-5E0E-D1C81D63D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95400"/>
            <a:ext cx="107442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Linux kernel provides a reliable, open-source base with strong community support and AI integration potential. Challenges include optimizing AI for various hardware and ensuring compatibility with different applications and devices. Open-source AI frameworks like TensorFlow or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could simplify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Availability: 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Pre-Existing Large Datasets ( by Google ) and User data for Real-Time Training ( system logs 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costs cover development, data acquisition, and testing. Open-source tools reduce expenses.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Familiar with Linux System, Machine Learning, Deep Learning, C Programming, Python Programming.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Assessment: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Char char="•"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risks: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Ensuring compatibility with diverse hardware and applications will be challenging, especially for deep learning.</a:t>
            </a:r>
          </a:p>
          <a:p>
            <a:pPr lvl="1" eaLnBrk="0" hangingPunct="0">
              <a:buFontTx/>
              <a:buChar char="•"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usage must be transparent and GDPR-compliant to avoid legal issues and maintain trust.</a:t>
            </a:r>
          </a:p>
          <a:p>
            <a:pPr lvl="1" eaLnBrk="0" hangingPunct="0">
              <a:buFontTx/>
              <a:buChar char="•"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acceptance: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may hesitate to switch OSs, so focus on intuitive design and user education is essential.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Potential: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Rising AI adoption offers strong potential in personal computing, IoT, and enterprise markets. Early adopters and tech enthusiasts could build advocacy, expanding reach as AI features become more normalized.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1138535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Applications/Use cases</a:t>
            </a:r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FE9B5F-9CDA-E6A5-A52C-36EC240FC5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01"/>
          <a:stretch/>
        </p:blipFill>
        <p:spPr>
          <a:xfrm>
            <a:off x="533400" y="1764836"/>
            <a:ext cx="5181600" cy="44047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0FADB6-DD2D-2501-D29C-2750AA06A1F8}"/>
              </a:ext>
            </a:extLst>
          </p:cNvPr>
          <p:cNvSpPr txBox="1"/>
          <p:nvPr/>
        </p:nvSpPr>
        <p:spPr>
          <a:xfrm>
            <a:off x="845039" y="6062990"/>
            <a:ext cx="2050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“Design created with Canva”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6334BD-F099-6DEF-AE17-8EC2DA70C514}"/>
              </a:ext>
            </a:extLst>
          </p:cNvPr>
          <p:cNvSpPr txBox="1"/>
          <p:nvPr/>
        </p:nvSpPr>
        <p:spPr>
          <a:xfrm>
            <a:off x="6096000" y="1943375"/>
            <a:ext cx="5943600" cy="42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 Computers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Learns user habits and automates task based on that.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Customizes learning materials and offers intelligent tutoring based on student progress.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Monitors patient data in real-time to detect health issues and recommend personalized treatments.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Home Applications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Automates lighting, heating, and security by learning user preferences and behaviors.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Optimizes resource allocation and performance through AI-driven load balancing and cost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Services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Continuously monitors system behavior to detect anomalies and enhance cybersecurity.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Enterprise Systems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Predicts hardware failures and automates data analysis for decision-making support. 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AED38E-DB4F-5CF7-54BC-3B6E03406667}"/>
              </a:ext>
            </a:extLst>
          </p:cNvPr>
          <p:cNvSpPr txBox="1"/>
          <p:nvPr/>
        </p:nvSpPr>
        <p:spPr>
          <a:xfrm>
            <a:off x="1143000" y="1600200"/>
            <a:ext cx="9982200" cy="460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1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Capstone Phase-1 ( Semester 5 ):</a:t>
            </a:r>
            <a:b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 Background Study, Formulation the problem statement, Literature Survey</a:t>
            </a:r>
            <a:b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Capstone Phase-2 ( Semester 6 ):</a:t>
            </a:r>
            <a:b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 High Level Design, Part of Implementation.</a:t>
            </a:r>
            <a:b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Capstone Phase-3 ( Semester 7 ):</a:t>
            </a:r>
            <a:b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 Low level Design and Complete Implementation, Draft version of the paper for publishing.</a:t>
            </a:r>
            <a:b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Capstone Phase-4 ( Semester 8 ):</a:t>
            </a:r>
            <a:b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 Paper Publication in Scopus indexed journals/ Web of Science/ UGC Journal etc..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1AD1C9-0ECA-4010-320F-2E2695604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34">
            <a:extLst>
              <a:ext uri="{FF2B5EF4-FFF2-40B4-BE49-F238E27FC236}">
                <a16:creationId xmlns:a16="http://schemas.microsoft.com/office/drawing/2014/main" id="{54BE50A9-53BB-01AC-B502-64BCD900E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38535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Expected Deliverables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38535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( Phase – I ) Project Timeline</a:t>
            </a:r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A5537-3F7B-42F8-5CEF-E31C5EFE3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32" y="3072807"/>
            <a:ext cx="10820400" cy="27183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65E054-1758-6A85-9129-7F9864BE65A7}"/>
              </a:ext>
            </a:extLst>
          </p:cNvPr>
          <p:cNvSpPr txBox="1"/>
          <p:nvPr/>
        </p:nvSpPr>
        <p:spPr>
          <a:xfrm>
            <a:off x="609600" y="2514600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 for Phase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7DFD72-41AA-E488-B4A1-0DDA91BD2A77}"/>
              </a:ext>
            </a:extLst>
          </p:cNvPr>
          <p:cNvSpPr txBox="1"/>
          <p:nvPr/>
        </p:nvSpPr>
        <p:spPr>
          <a:xfrm>
            <a:off x="1066800" y="1600200"/>
            <a:ext cx="101346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( August 2024 to December 2024 )</a:t>
            </a:r>
          </a:p>
          <a:p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 (3 weeks )</a:t>
            </a:r>
          </a:p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Effort :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Team members conduct their respective research, find relevant tools to be used, Expertise 	of each member, Feasibility Study, Scope and Future market Launch Analysis</a:t>
            </a:r>
          </a:p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Team Involvement :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members are involved</a:t>
            </a:r>
          </a:p>
          <a:p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Formation ( 1 week )</a:t>
            </a:r>
          </a:p>
          <a:p>
            <a:pPr lvl="2"/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 :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the Problem Statement and review with guide</a:t>
            </a:r>
          </a:p>
          <a:p>
            <a:pPr lvl="2"/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Involvement :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comes up with Problem Statement and go for a Poll to Choose a good one.</a:t>
            </a:r>
          </a:p>
          <a:p>
            <a:pPr lvl="2"/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( 4 week )</a:t>
            </a:r>
          </a:p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Effort :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papers based on AI, ML, Security, Operating System</a:t>
            </a:r>
          </a:p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Team Involvement :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content between 4 people and come up with there survey</a:t>
            </a:r>
          </a:p>
          <a:p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Finalization of Phase 1 ( 2 week )</a:t>
            </a:r>
          </a:p>
          <a:p>
            <a:pPr lvl="2"/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 :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Deliverables ( Kaggle Datasets, Literature review ) for Submission.</a:t>
            </a:r>
          </a:p>
          <a:p>
            <a:pPr lvl="2"/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Involvement  :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members collective contribution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75FF08-D85C-0D15-83F1-3462DF9F0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id="{D9046370-2C6D-935B-67F0-4363AFF38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138535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( Phase - I ) Project Timeline</a:t>
            </a:r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185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708E4-9A7D-0403-23CA-58E584A89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557C60A2-4288-56E4-C700-602D88885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A7838-8547-8A59-4EA5-16E5A35A0B74}"/>
              </a:ext>
            </a:extLst>
          </p:cNvPr>
          <p:cNvSpPr txBox="1"/>
          <p:nvPr/>
        </p:nvSpPr>
        <p:spPr>
          <a:xfrm>
            <a:off x="1447800" y="1752600"/>
            <a:ext cx="4267200" cy="4340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300" b="1" i="0" dirty="0">
                <a:solidFill>
                  <a:srgbClr val="333333"/>
                </a:solidFill>
                <a:effectLst/>
                <a:latin typeface="HelveticaNeue Regular"/>
              </a:rPr>
              <a:t>“</a:t>
            </a:r>
            <a:r>
              <a:rPr lang="en-US" sz="13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of High-Confidence Embedded Operating System based on Artificial Intelligence and Smart Chips”, 2022, </a:t>
            </a:r>
            <a:r>
              <a:rPr lang="en-US" sz="1300" b="1" i="1" kern="100" dirty="0" err="1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Qinmin</a:t>
            </a:r>
            <a:r>
              <a:rPr lang="en-US" sz="1300" b="1" i="1" kern="100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 – </a:t>
            </a:r>
            <a:r>
              <a:rPr lang="en-US" sz="1300" i="1" kern="100" dirty="0">
                <a:solidFill>
                  <a:srgbClr val="0066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LINK</a:t>
            </a:r>
            <a:endParaRPr lang="en-US" sz="1300" i="1" kern="100" dirty="0">
              <a:solidFill>
                <a:srgbClr val="0066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300" i="1" kern="100" dirty="0">
              <a:solidFill>
                <a:srgbClr val="0066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13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of Equipment Automation Control and Remote Supervision System Based on Artificial Intelligence Algorithm”, 2024, </a:t>
            </a:r>
            <a:r>
              <a:rPr lang="en-IN" sz="1300" b="1" i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Xiaoge</a:t>
            </a:r>
            <a:r>
              <a:rPr lang="en-IN" sz="1300" b="1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 - </a:t>
            </a:r>
            <a:r>
              <a:rPr lang="en-US" sz="13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LINK</a:t>
            </a:r>
            <a:endParaRPr lang="en-US" sz="1300" i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3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“Artificial Intelligence Techniques for Power System Stabilization”, 2022, </a:t>
            </a:r>
            <a:r>
              <a:rPr lang="en-IN" sz="1300" b="1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Ndukwe</a:t>
            </a:r>
            <a:r>
              <a:rPr lang="en-IN" sz="1300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300" b="1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Okpo</a:t>
            </a:r>
            <a:r>
              <a:rPr lang="en-IN" sz="1300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Kalu ;</a:t>
            </a:r>
            <a:r>
              <a:rPr lang="en-IN" sz="1300" b="1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Oluseun</a:t>
            </a:r>
            <a:r>
              <a:rPr lang="en-IN" sz="1300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00" b="1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Oyeleke</a:t>
            </a:r>
            <a:r>
              <a:rPr lang="en-IN" sz="1300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; Sadiq Thomas ; Omotayo O ; </a:t>
            </a:r>
            <a:r>
              <a:rPr lang="en-IN" sz="1300" b="1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Oshiga</a:t>
            </a:r>
            <a:r>
              <a:rPr lang="en-IN" sz="1300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130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LINK</a:t>
            </a:r>
            <a:endParaRPr lang="en-IN" sz="1300" i="1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300" b="1" i="0" dirty="0">
                <a:solidFill>
                  <a:srgbClr val="333333"/>
                </a:solidFill>
                <a:effectLst/>
                <a:latin typeface="HelveticaNeue Regular"/>
              </a:rPr>
              <a:t>“</a:t>
            </a:r>
            <a:r>
              <a:rPr lang="en-US" sz="13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on Vulnerability Detection System of Instant Communication Network Based on Artificial Intelligence”, 2024, </a:t>
            </a:r>
            <a:r>
              <a:rPr lang="en-IN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Haiming</a:t>
            </a: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 – </a:t>
            </a:r>
            <a:r>
              <a:rPr lang="en-IN" sz="13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LINK</a:t>
            </a:r>
            <a:endParaRPr lang="en-IN" sz="13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endParaRPr lang="en-IN" sz="13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3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Artificially Intelligent Operating System with Sapi5 Voice Recognition Engine”, 2023, </a:t>
            </a:r>
            <a:r>
              <a:rPr lang="en-IN" sz="13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.Sumathi, </a:t>
            </a:r>
            <a:r>
              <a:rPr lang="en-IN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N.Nivetha</a:t>
            </a: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,J </a:t>
            </a:r>
            <a:r>
              <a:rPr lang="en-IN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Princy</a:t>
            </a: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Jovita - </a:t>
            </a:r>
            <a:r>
              <a:rPr lang="en-IN" sz="1300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LINK</a:t>
            </a:r>
            <a:endParaRPr lang="en-IN" sz="1300" b="1" i="1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D0B55-EE4F-45FE-644B-3E7789504037}"/>
              </a:ext>
            </a:extLst>
          </p:cNvPr>
          <p:cNvSpPr txBox="1"/>
          <p:nvPr/>
        </p:nvSpPr>
        <p:spPr>
          <a:xfrm>
            <a:off x="5943600" y="1752600"/>
            <a:ext cx="5105400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6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da-DK" sz="13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immune system for Android OS”, 2015, </a:t>
            </a: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Sergei </a:t>
            </a:r>
            <a:r>
              <a:rPr lang="en-IN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Bezobrazov</a:t>
            </a: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Anatoly </a:t>
            </a:r>
            <a:r>
              <a:rPr lang="en-IN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Sachenko</a:t>
            </a: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M </a:t>
            </a:r>
            <a:r>
              <a:rPr lang="en-IN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yroslav</a:t>
            </a: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Komar</a:t>
            </a: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,Vladimir </a:t>
            </a:r>
            <a:r>
              <a:rPr lang="en-IN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Rubanau</a:t>
            </a: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13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LINK</a:t>
            </a:r>
            <a:endParaRPr lang="en-IN" sz="13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6"/>
            </a:pPr>
            <a:endParaRPr lang="en-IN" sz="13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6"/>
            </a:pPr>
            <a:r>
              <a:rPr lang="en-US" sz="1300" b="1" i="0" dirty="0">
                <a:solidFill>
                  <a:srgbClr val="333333"/>
                </a:solidFill>
                <a:effectLst/>
                <a:latin typeface="HelveticaNeue Regular"/>
              </a:rPr>
              <a:t>“</a:t>
            </a:r>
            <a:r>
              <a:rPr lang="en-US" sz="13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analysis of malware using artificial neural networks: Applying machine learning to identify malicious behavior based on parent process hierarchy.”, 2017, 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Cristian </a:t>
            </a:r>
            <a:r>
              <a:rPr lang="en-US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Pascariu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Ionut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Daniel </a:t>
            </a:r>
            <a:r>
              <a:rPr lang="en-US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Barbu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1300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LINK</a:t>
            </a:r>
            <a:endParaRPr lang="en-IN" sz="1300" i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6"/>
            </a:pPr>
            <a:endParaRPr lang="en-US" sz="1300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AutoNum type="arabicPeriod" startAt="8"/>
            </a:pPr>
            <a:r>
              <a:rPr lang="en-US" sz="13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“Investigation on Power System Dynamic Monitoring System Using Artificial Neural Networks”, 2023, </a:t>
            </a:r>
            <a:r>
              <a:rPr lang="en-US" sz="1300" b="1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ShiJie;Zhang</a:t>
            </a:r>
            <a:r>
              <a:rPr lang="en-US" sz="1300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yanxia</a:t>
            </a:r>
            <a:r>
              <a:rPr lang="en-US" sz="1300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Yu Linin ; </a:t>
            </a:r>
            <a:r>
              <a:rPr lang="en-US" sz="1300" b="1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Zhuo</a:t>
            </a:r>
            <a:r>
              <a:rPr lang="en-US" sz="1300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Zhao – </a:t>
            </a:r>
            <a:r>
              <a:rPr lang="en-US" sz="1300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LINK</a:t>
            </a:r>
            <a:endParaRPr lang="en-US" sz="1300" i="1" dirty="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AutoNum type="arabicPeriod" startAt="8"/>
            </a:pPr>
            <a:endParaRPr lang="en-US" sz="1300" i="1" dirty="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9"/>
            </a:pPr>
            <a:r>
              <a:rPr lang="en-IN" sz="13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“Cyber-Attacks Risk Mitigation on Power System via Artificial Intelligence Technique”, 2022, </a:t>
            </a:r>
            <a:r>
              <a:rPr lang="en-US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Saraa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Ismaeel </a:t>
            </a:r>
            <a:r>
              <a:rPr lang="en-US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Khalel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;Shaker M ; </a:t>
            </a:r>
            <a:r>
              <a:rPr lang="en-US" sz="1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Khudher</a:t>
            </a:r>
            <a:r>
              <a:rPr lang="en-US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300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LINK</a:t>
            </a:r>
            <a:endParaRPr lang="en-IN" sz="1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1804282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66700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</TotalTime>
  <Words>1191</Words>
  <Application>Microsoft Office PowerPoint</Application>
  <PresentationFormat>Widescreen</PresentationFormat>
  <Paragraphs>141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HelveticaNeue Regular</vt:lpstr>
      <vt:lpstr>Times New Roman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Prajval K</cp:lastModifiedBy>
  <cp:revision>151</cp:revision>
  <dcterms:created xsi:type="dcterms:W3CDTF">2020-11-22T08:14:37Z</dcterms:created>
  <dcterms:modified xsi:type="dcterms:W3CDTF">2024-10-29T04:44:58Z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