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29"/>
  </p:notesMasterIdLst>
  <p:handoutMasterIdLst>
    <p:handoutMasterId r:id="rId30"/>
  </p:handoutMasterIdLst>
  <p:sldIdLst>
    <p:sldId id="592" r:id="rId2"/>
    <p:sldId id="535" r:id="rId3"/>
    <p:sldId id="570" r:id="rId4"/>
    <p:sldId id="588" r:id="rId5"/>
    <p:sldId id="593" r:id="rId6"/>
    <p:sldId id="569" r:id="rId7"/>
    <p:sldId id="557" r:id="rId8"/>
    <p:sldId id="585" r:id="rId9"/>
    <p:sldId id="586" r:id="rId10"/>
    <p:sldId id="568" r:id="rId11"/>
    <p:sldId id="587" r:id="rId12"/>
    <p:sldId id="590" r:id="rId13"/>
    <p:sldId id="591" r:id="rId14"/>
    <p:sldId id="600" r:id="rId15"/>
    <p:sldId id="601" r:id="rId16"/>
    <p:sldId id="602" r:id="rId17"/>
    <p:sldId id="598" r:id="rId18"/>
    <p:sldId id="599" r:id="rId19"/>
    <p:sldId id="536" r:id="rId20"/>
    <p:sldId id="583" r:id="rId21"/>
    <p:sldId id="545" r:id="rId22"/>
    <p:sldId id="595" r:id="rId23"/>
    <p:sldId id="596" r:id="rId24"/>
    <p:sldId id="597" r:id="rId25"/>
    <p:sldId id="584" r:id="rId26"/>
    <p:sldId id="552" r:id="rId27"/>
    <p:sldId id="549" r:id="rId28"/>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a:srgbClr val="FF0066"/>
    <a:srgbClr val="33CC33"/>
    <a:srgbClr val="00FFFF"/>
    <a:srgbClr val="6600FF"/>
    <a:srgbClr val="CC66FF"/>
    <a:srgbClr val="62832D"/>
    <a:srgbClr val="00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86811" autoAdjust="0"/>
  </p:normalViewPr>
  <p:slideViewPr>
    <p:cSldViewPr>
      <p:cViewPr varScale="1">
        <p:scale>
          <a:sx n="82" d="100"/>
          <a:sy n="82" d="100"/>
        </p:scale>
        <p:origin x="710" y="7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12/3/2024</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12/3/2024</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extLst>
      <p:ext uri="{BB962C8B-B14F-4D97-AF65-F5344CB8AC3E}">
        <p14:creationId xmlns:p14="http://schemas.microsoft.com/office/powerpoint/2010/main" val="3517047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6</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DE73D-8ECF-AF98-63B1-C3C5C8D58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F97682-F0C4-2DAE-14ED-FD74B0EA163D}"/>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85C0B31B-FD23-B3BE-3D10-42B801E3291B}"/>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63173067-ECEF-68C9-F67D-53A99CA971D4}"/>
              </a:ext>
            </a:extLst>
          </p:cNvPr>
          <p:cNvSpPr>
            <a:spLocks noGrp="1"/>
          </p:cNvSpPr>
          <p:nvPr>
            <p:ph type="sldNum" sz="quarter" idx="10"/>
          </p:nvPr>
        </p:nvSpPr>
        <p:spPr/>
        <p:txBody>
          <a:bodyPr/>
          <a:lstStyle/>
          <a:p>
            <a:pPr>
              <a:defRPr/>
            </a:pPr>
            <a:fld id="{01C81575-24DE-4F6C-A73E-0331B3B2E418}" type="slidenum">
              <a:rPr lang="en-US" smtClean="0"/>
              <a:pPr>
                <a:defRPr/>
              </a:pPr>
              <a:t>8</a:t>
            </a:fld>
            <a:endParaRPr lang="en-US"/>
          </a:p>
        </p:txBody>
      </p:sp>
    </p:spTree>
    <p:extLst>
      <p:ext uri="{BB962C8B-B14F-4D97-AF65-F5344CB8AC3E}">
        <p14:creationId xmlns:p14="http://schemas.microsoft.com/office/powerpoint/2010/main" val="3938615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34CEF-7073-D7AB-EC74-925D23444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E6DAC7-DAEB-2A57-A800-59BBBFC1C847}"/>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5799C16C-4B0D-EDC4-B7BB-F29488713B23}"/>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48FBF1AB-0288-1910-8236-CA0405E44132}"/>
              </a:ext>
            </a:extLst>
          </p:cNvPr>
          <p:cNvSpPr>
            <a:spLocks noGrp="1"/>
          </p:cNvSpPr>
          <p:nvPr>
            <p:ph type="sldNum" sz="quarter" idx="10"/>
          </p:nvPr>
        </p:nvSpPr>
        <p:spPr/>
        <p:txBody>
          <a:bodyPr/>
          <a:lstStyle/>
          <a:p>
            <a:pPr>
              <a:defRPr/>
            </a:pPr>
            <a:fld id="{01C81575-24DE-4F6C-A73E-0331B3B2E418}" type="slidenum">
              <a:rPr lang="en-US" smtClean="0"/>
              <a:pPr>
                <a:defRPr/>
              </a:pPr>
              <a:t>9</a:t>
            </a:fld>
            <a:endParaRPr lang="en-US"/>
          </a:p>
        </p:txBody>
      </p:sp>
    </p:spTree>
    <p:extLst>
      <p:ext uri="{BB962C8B-B14F-4D97-AF65-F5344CB8AC3E}">
        <p14:creationId xmlns:p14="http://schemas.microsoft.com/office/powerpoint/2010/main" val="32654996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10</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4A08C-C927-42D4-1E74-E3E84DDC8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9600B6-8D8C-B153-664A-47537DFB3D5B}"/>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003644BB-518F-0B90-4C82-4A9E7FA23ADC}"/>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71FC9081-9950-9395-6E9B-8C95CBB2A000}"/>
              </a:ext>
            </a:extLst>
          </p:cNvPr>
          <p:cNvSpPr>
            <a:spLocks noGrp="1"/>
          </p:cNvSpPr>
          <p:nvPr>
            <p:ph type="sldNum" sz="quarter" idx="10"/>
          </p:nvPr>
        </p:nvSpPr>
        <p:spPr/>
        <p:txBody>
          <a:bodyPr/>
          <a:lstStyle/>
          <a:p>
            <a:pPr>
              <a:defRPr/>
            </a:pPr>
            <a:fld id="{01C81575-24DE-4F6C-A73E-0331B3B2E418}" type="slidenum">
              <a:rPr lang="en-US" smtClean="0"/>
              <a:pPr>
                <a:defRPr/>
              </a:pPr>
              <a:t>11</a:t>
            </a:fld>
            <a:endParaRPr lang="en-US"/>
          </a:p>
        </p:txBody>
      </p:sp>
    </p:spTree>
    <p:extLst>
      <p:ext uri="{BB962C8B-B14F-4D97-AF65-F5344CB8AC3E}">
        <p14:creationId xmlns:p14="http://schemas.microsoft.com/office/powerpoint/2010/main" val="345797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19</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26</a:t>
            </a:fld>
            <a:endParaRPr lang="en-US"/>
          </a:p>
        </p:txBody>
      </p:sp>
    </p:spTree>
    <p:extLst>
      <p:ext uri="{BB962C8B-B14F-4D97-AF65-F5344CB8AC3E}">
        <p14:creationId xmlns:p14="http://schemas.microsoft.com/office/powerpoint/2010/main" val="4174625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12/3/2024</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12/3/2024</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12/3/2024</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12/3/2024</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12/3/2024</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12/3/2024</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12/3/2024</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12/3/2024</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12/3/2024</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12/3/2024</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10" name="Picture 2" descr="PESSAT - All India Online Entrance Exam for Admission to PES University">
            <a:extLst>
              <a:ext uri="{FF2B5EF4-FFF2-40B4-BE49-F238E27FC236}">
                <a16:creationId xmlns:a16="http://schemas.microsoft.com/office/drawing/2014/main" id="{A3B97CAD-824E-EAC1-FC41-3EEEC584AA9C}"/>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264409"/>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6;p3"/>
          <p:cNvSpPr txBox="1"/>
          <p:nvPr/>
        </p:nvSpPr>
        <p:spPr>
          <a:xfrm>
            <a:off x="0" y="4323472"/>
            <a:ext cx="12192000" cy="2534527"/>
          </a:xfrm>
          <a:prstGeom prst="rect">
            <a:avLst/>
          </a:prstGeom>
          <a:noFill/>
          <a:ln>
            <a:noFill/>
          </a:ln>
        </p:spPr>
        <p:txBody>
          <a:bodyPr spcFirstLastPara="1" wrap="square" lIns="91425" tIns="45700" rIns="91425" bIns="45700" anchor="t" anchorCtr="0">
            <a:noAutofit/>
          </a:bodyPr>
          <a:lstStyle/>
          <a:p>
            <a:pPr>
              <a:spcBef>
                <a:spcPts val="0"/>
              </a:spcBef>
              <a:spcAft>
                <a:spcPts val="0"/>
              </a:spcAft>
            </a:pPr>
            <a:endParaRPr sz="2400" dirty="0">
              <a:solidFill>
                <a:srgbClr val="0033CC"/>
              </a:solidFill>
              <a:latin typeface="Trebuchet MS"/>
              <a:ea typeface="Trebuchet MS"/>
              <a:cs typeface="Trebuchet MS"/>
              <a:sym typeface="Trebuchet MS"/>
            </a:endParaRPr>
          </a:p>
        </p:txBody>
      </p:sp>
      <p:sp>
        <p:nvSpPr>
          <p:cNvPr id="6" name="TextBox 5">
            <a:extLst>
              <a:ext uri="{FF2B5EF4-FFF2-40B4-BE49-F238E27FC236}">
                <a16:creationId xmlns:a16="http://schemas.microsoft.com/office/drawing/2014/main" id="{79CFA518-D372-62E3-1BFC-9EE1EB0AA9EE}"/>
              </a:ext>
            </a:extLst>
          </p:cNvPr>
          <p:cNvSpPr txBox="1"/>
          <p:nvPr/>
        </p:nvSpPr>
        <p:spPr>
          <a:xfrm>
            <a:off x="0" y="1455162"/>
            <a:ext cx="12192000" cy="4278094"/>
          </a:xfrm>
          <a:prstGeom prst="rect">
            <a:avLst/>
          </a:prstGeom>
          <a:noFill/>
        </p:spPr>
        <p:txBody>
          <a:bodyPr wrap="square">
            <a:spAutoFit/>
          </a:bodyPr>
          <a:lstStyle/>
          <a:p>
            <a:pPr algn="ctr"/>
            <a:r>
              <a:rPr lang="en-IN" sz="3600" b="1" dirty="0">
                <a:solidFill>
                  <a:srgbClr val="FF0000"/>
                </a:solidFill>
                <a:latin typeface="Times New Roman" panose="02020603050405020304" pitchFamily="18" charset="0"/>
                <a:cs typeface="Times New Roman" panose="02020603050405020304" pitchFamily="18" charset="0"/>
              </a:rPr>
              <a:t>UE22CS320A</a:t>
            </a:r>
            <a:r>
              <a:rPr lang="en-IN" sz="3600" dirty="0">
                <a:latin typeface="Times New Roman" panose="02020603050405020304" pitchFamily="18" charset="0"/>
                <a:cs typeface="Times New Roman" panose="02020603050405020304" pitchFamily="18" charset="0"/>
              </a:rPr>
              <a:t> </a:t>
            </a:r>
            <a:r>
              <a:rPr lang="en-IN" sz="3600" b="1" dirty="0">
                <a:solidFill>
                  <a:srgbClr val="FF0000"/>
                </a:solidFill>
                <a:latin typeface="Times New Roman" panose="02020603050405020304" pitchFamily="18" charset="0"/>
                <a:cs typeface="Times New Roman" panose="02020603050405020304" pitchFamily="18" charset="0"/>
              </a:rPr>
              <a:t>– Project Phase – 1</a:t>
            </a:r>
          </a:p>
          <a:p>
            <a:pPr algn="ctr"/>
            <a:r>
              <a:rPr lang="en-IN" sz="3600" b="1" dirty="0">
                <a:solidFill>
                  <a:srgbClr val="FF0000"/>
                </a:solidFill>
                <a:latin typeface="Times New Roman" panose="02020603050405020304" pitchFamily="18" charset="0"/>
                <a:cs typeface="Times New Roman" panose="02020603050405020304" pitchFamily="18" charset="0"/>
              </a:rPr>
              <a:t>End Semester Assessment</a:t>
            </a:r>
          </a:p>
          <a:p>
            <a:pPr algn="ctr"/>
            <a:endParaRPr lang="en-IN" sz="3600" b="1" dirty="0">
              <a:solidFill>
                <a:srgbClr val="FF0000"/>
              </a:solidFill>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TITLE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AVIOS – A</a:t>
            </a:r>
            <a:r>
              <a:rPr lang="en-IN" sz="2000" i="1" dirty="0">
                <a:latin typeface="Times New Roman" panose="02020603050405020304" pitchFamily="18" charset="0"/>
                <a:cs typeface="Times New Roman" panose="02020603050405020304" pitchFamily="18" charset="0"/>
              </a:rPr>
              <a:t>daptive</a:t>
            </a:r>
            <a:r>
              <a:rPr lang="en-IN" sz="2000" b="1" i="1" dirty="0">
                <a:latin typeface="Times New Roman" panose="02020603050405020304" pitchFamily="18" charset="0"/>
                <a:cs typeface="Times New Roman" panose="02020603050405020304" pitchFamily="18" charset="0"/>
              </a:rPr>
              <a:t> V</a:t>
            </a:r>
            <a:r>
              <a:rPr lang="en-IN" sz="2000" i="1" dirty="0">
                <a:latin typeface="Times New Roman" panose="02020603050405020304" pitchFamily="18" charset="0"/>
                <a:cs typeface="Times New Roman" panose="02020603050405020304" pitchFamily="18" charset="0"/>
              </a:rPr>
              <a:t>igilant</a:t>
            </a:r>
            <a:r>
              <a:rPr lang="en-IN" sz="2000" b="1" i="1" dirty="0">
                <a:latin typeface="Times New Roman" panose="02020603050405020304" pitchFamily="18" charset="0"/>
                <a:cs typeface="Times New Roman" panose="02020603050405020304" pitchFamily="18" charset="0"/>
              </a:rPr>
              <a:t> I</a:t>
            </a:r>
            <a:r>
              <a:rPr lang="en-IN" sz="2000" i="1" dirty="0">
                <a:latin typeface="Times New Roman" panose="02020603050405020304" pitchFamily="18" charset="0"/>
                <a:cs typeface="Times New Roman" panose="02020603050405020304" pitchFamily="18" charset="0"/>
              </a:rPr>
              <a:t>ntelligent</a:t>
            </a:r>
            <a:r>
              <a:rPr lang="en-IN" sz="2000" b="1" i="1" dirty="0">
                <a:latin typeface="Times New Roman" panose="02020603050405020304" pitchFamily="18" charset="0"/>
                <a:cs typeface="Times New Roman" panose="02020603050405020304" pitchFamily="18" charset="0"/>
              </a:rPr>
              <a:t> O</a:t>
            </a:r>
            <a:r>
              <a:rPr lang="en-IN" sz="2000" i="1" dirty="0">
                <a:latin typeface="Times New Roman" panose="02020603050405020304" pitchFamily="18" charset="0"/>
                <a:cs typeface="Times New Roman" panose="02020603050405020304" pitchFamily="18" charset="0"/>
              </a:rPr>
              <a:t>perating</a:t>
            </a:r>
            <a:r>
              <a:rPr lang="en-IN" sz="2000" b="1" i="1" dirty="0">
                <a:latin typeface="Times New Roman" panose="02020603050405020304" pitchFamily="18" charset="0"/>
                <a:cs typeface="Times New Roman" panose="02020603050405020304" pitchFamily="18" charset="0"/>
              </a:rPr>
              <a:t> S</a:t>
            </a:r>
            <a:r>
              <a:rPr lang="en-IN" sz="2000" i="1" dirty="0">
                <a:latin typeface="Times New Roman" panose="02020603050405020304" pitchFamily="18" charset="0"/>
                <a:cs typeface="Times New Roman" panose="02020603050405020304" pitchFamily="18" charset="0"/>
              </a:rPr>
              <a:t>ystem</a:t>
            </a:r>
          </a:p>
          <a:p>
            <a:pPr lvl="2"/>
            <a:r>
              <a:rPr lang="en-IN" sz="2000" b="1" i="1" dirty="0">
                <a:latin typeface="Times New Roman" panose="02020603050405020304" pitchFamily="18" charset="0"/>
                <a:cs typeface="Times New Roman" panose="02020603050405020304" pitchFamily="18" charset="0"/>
              </a:rPr>
              <a:t>PROJECT ID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Team 144</a:t>
            </a:r>
            <a:endParaRPr lang="en-IN" sz="2000" b="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GUIDE	</a:t>
            </a:r>
            <a:r>
              <a:rPr lang="en-IN" sz="2000" b="1" dirty="0">
                <a:latin typeface="Times New Roman" panose="02020603050405020304" pitchFamily="18" charset="0"/>
                <a:cs typeface="Times New Roman" panose="02020603050405020304" pitchFamily="18" charset="0"/>
              </a:rPr>
              <a:t>: </a:t>
            </a:r>
            <a:r>
              <a:rPr lang="en-IN" sz="2000" b="1" i="1" dirty="0">
                <a:latin typeface="Times New Roman" panose="02020603050405020304" pitchFamily="18" charset="0"/>
                <a:cs typeface="Times New Roman" panose="02020603050405020304" pitchFamily="18" charset="0"/>
              </a:rPr>
              <a:t>  Prof. Swetha Patil</a:t>
            </a:r>
          </a:p>
          <a:p>
            <a:pPr lvl="2"/>
            <a:endParaRPr lang="en-IN" sz="2000" b="1" i="1" dirty="0">
              <a:latin typeface="Times New Roman" panose="02020603050405020304" pitchFamily="18" charset="0"/>
              <a:cs typeface="Times New Roman" panose="02020603050405020304" pitchFamily="18" charset="0"/>
            </a:endParaRPr>
          </a:p>
          <a:p>
            <a:pPr lvl="2"/>
            <a:r>
              <a:rPr lang="en-IN" sz="2000" b="1" i="1" dirty="0">
                <a:latin typeface="Times New Roman" panose="02020603050405020304" pitchFamily="18" charset="0"/>
                <a:cs typeface="Times New Roman" panose="02020603050405020304" pitchFamily="18" charset="0"/>
              </a:rPr>
              <a:t>PROJECT TEAM</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Kurumeti</a:t>
            </a:r>
            <a:r>
              <a:rPr lang="en-IN" sz="1600" b="1" i="1" dirty="0">
                <a:latin typeface="Times New Roman" panose="02020603050405020304" pitchFamily="18" charset="0"/>
                <a:cs typeface="Times New Roman" panose="02020603050405020304" pitchFamily="18" charset="0"/>
              </a:rPr>
              <a:t> Prajval ( PES2UG22CS274 )</a:t>
            </a:r>
          </a:p>
          <a:p>
            <a:pPr marL="1828800" lvl="3" indent="-457200">
              <a:buFont typeface="+mj-lt"/>
              <a:buAutoNum type="arabicPeriod"/>
            </a:pPr>
            <a:r>
              <a:rPr lang="en-IN" sz="1600" b="1" i="1" dirty="0">
                <a:latin typeface="Times New Roman" panose="02020603050405020304" pitchFamily="18" charset="0"/>
                <a:cs typeface="Times New Roman" panose="02020603050405020304" pitchFamily="18" charset="0"/>
              </a:rPr>
              <a:t>Manoj Kumar KS ( PES2UG22CS302 )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Dhanushree</a:t>
            </a:r>
            <a:r>
              <a:rPr lang="en-IN" sz="1600" b="1" i="1" dirty="0">
                <a:latin typeface="Times New Roman" panose="02020603050405020304" pitchFamily="18" charset="0"/>
                <a:cs typeface="Times New Roman" panose="02020603050405020304" pitchFamily="18" charset="0"/>
              </a:rPr>
              <a:t> K ( PES2UG22CS176 )</a:t>
            </a:r>
          </a:p>
          <a:p>
            <a:pPr marL="1828800" lvl="3" indent="-457200">
              <a:buFont typeface="+mj-lt"/>
              <a:buAutoNum type="arabicPeriod"/>
            </a:pPr>
            <a:r>
              <a:rPr lang="en-IN" sz="1600" b="1" i="1" dirty="0" err="1">
                <a:latin typeface="Times New Roman" panose="02020603050405020304" pitchFamily="18" charset="0"/>
                <a:cs typeface="Times New Roman" panose="02020603050405020304" pitchFamily="18" charset="0"/>
              </a:rPr>
              <a:t>Nagaratna</a:t>
            </a:r>
            <a:r>
              <a:rPr lang="en-IN" sz="1600" b="1" i="1" dirty="0">
                <a:latin typeface="Times New Roman" panose="02020603050405020304" pitchFamily="18" charset="0"/>
                <a:cs typeface="Times New Roman" panose="02020603050405020304" pitchFamily="18" charset="0"/>
              </a:rPr>
              <a:t> ( PES2UG22CS331 )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0" name="Content Placeholder 2"/>
          <p:cNvSpPr txBox="1">
            <a:spLocks/>
          </p:cNvSpPr>
          <p:nvPr/>
        </p:nvSpPr>
        <p:spPr>
          <a:xfrm>
            <a:off x="2057400" y="1676400"/>
            <a:ext cx="8077200" cy="4724400"/>
          </a:xfrm>
          <a:prstGeom prst="rect">
            <a:avLst/>
          </a:prstGeom>
        </p:spPr>
        <p:txBody>
          <a:bodyPr/>
          <a:lstStyle/>
          <a:p>
            <a:pPr marL="685791" indent="-342900" algn="just" eaLnBrk="0" hangingPunct="0">
              <a:spcBef>
                <a:spcPct val="20000"/>
              </a:spcBef>
              <a:buFont typeface="Arial" panose="020B0604020202020204" pitchFamily="34" charset="0"/>
              <a:buChar char="•"/>
              <a:defRPr/>
            </a:pPr>
            <a:r>
              <a:rPr lang="en-IN" sz="2000" kern="0" dirty="0">
                <a:latin typeface="Times New Roman" panose="02020603050405020304" pitchFamily="18" charset="0"/>
                <a:cs typeface="Times New Roman" panose="02020603050405020304" pitchFamily="18" charset="0"/>
              </a:rPr>
              <a:t>Introduction and Motivation</a:t>
            </a:r>
          </a:p>
          <a:p>
            <a:pPr marL="685791" indent="-342900" algn="just" eaLnBrk="0" hangingPunct="0">
              <a:spcBef>
                <a:spcPct val="20000"/>
              </a:spcBef>
              <a:buFont typeface="Arial" panose="020B0604020202020204" pitchFamily="34" charset="0"/>
              <a:buChar char="•"/>
              <a:defRPr/>
            </a:pPr>
            <a:r>
              <a:rPr lang="en-IN" sz="2000" kern="0" dirty="0">
                <a:latin typeface="Times New Roman" panose="02020603050405020304" pitchFamily="18" charset="0"/>
                <a:cs typeface="Times New Roman" panose="02020603050405020304" pitchFamily="18" charset="0"/>
              </a:rPr>
              <a:t>Problem Statement</a:t>
            </a:r>
          </a:p>
          <a:p>
            <a:pPr marL="685791" indent="-342900" algn="just" eaLnBrk="0" hangingPunct="0">
              <a:spcBef>
                <a:spcPct val="20000"/>
              </a:spcBef>
              <a:buFont typeface="Arial" panose="020B0604020202020204" pitchFamily="34" charset="0"/>
              <a:buChar char="•"/>
              <a:defRPr/>
            </a:pPr>
            <a:r>
              <a:rPr lang="en-US" sz="2000" kern="0" dirty="0">
                <a:latin typeface="Times New Roman" panose="02020603050405020304" pitchFamily="18" charset="0"/>
                <a:cs typeface="Times New Roman" panose="02020603050405020304" pitchFamily="18" charset="0"/>
              </a:rPr>
              <a:t>Abstract and Scope</a:t>
            </a:r>
          </a:p>
          <a:p>
            <a:pPr marL="685791" indent="-342900" algn="just" eaLnBrk="0" hangingPunct="0">
              <a:spcBef>
                <a:spcPct val="20000"/>
              </a:spcBef>
              <a:buFont typeface="Arial" panose="020B0604020202020204" pitchFamily="34" charset="0"/>
              <a:buChar char="•"/>
              <a:defRPr/>
            </a:pPr>
            <a:r>
              <a:rPr lang="en-US" sz="2000" kern="0" dirty="0">
                <a:latin typeface="Times New Roman" panose="02020603050405020304" pitchFamily="18" charset="0"/>
                <a:cs typeface="Times New Roman" panose="02020603050405020304" pitchFamily="18" charset="0"/>
              </a:rPr>
              <a:t>Suggestions from Review – 1</a:t>
            </a:r>
          </a:p>
          <a:p>
            <a:pPr marL="685791" indent="-342900" algn="just" eaLnBrk="0" hangingPunct="0">
              <a:spcBef>
                <a:spcPct val="20000"/>
              </a:spcBef>
              <a:buFont typeface="Arial" panose="020B0604020202020204" pitchFamily="34" charset="0"/>
              <a:buChar char="•"/>
              <a:defRPr/>
            </a:pPr>
            <a:r>
              <a:rPr lang="en-US" sz="2000" kern="0" dirty="0">
                <a:latin typeface="Times New Roman" panose="02020603050405020304" pitchFamily="18" charset="0"/>
                <a:cs typeface="Times New Roman" panose="02020603050405020304" pitchFamily="18" charset="0"/>
              </a:rPr>
              <a:t> Research / Technology gap and Challenges</a:t>
            </a:r>
          </a:p>
          <a:p>
            <a:pPr marL="685791" indent="-342900" algn="just" eaLnBrk="0" hangingPunct="0">
              <a:spcBef>
                <a:spcPct val="20000"/>
              </a:spcBef>
              <a:buFont typeface="Arial" panose="020B0604020202020204" pitchFamily="34" charset="0"/>
              <a:buChar char="•"/>
              <a:defRPr/>
            </a:pPr>
            <a:r>
              <a:rPr lang="en-US" sz="2000" kern="0" dirty="0">
                <a:latin typeface="Times New Roman" panose="02020603050405020304" pitchFamily="18" charset="0"/>
                <a:cs typeface="Times New Roman" panose="02020603050405020304" pitchFamily="18" charset="0"/>
              </a:rPr>
              <a:t>Objectives</a:t>
            </a:r>
          </a:p>
          <a:p>
            <a:pPr marL="685791" indent="-342900" algn="just" eaLnBrk="0" hangingPunct="0">
              <a:spcBef>
                <a:spcPct val="20000"/>
              </a:spcBef>
              <a:buFont typeface="Arial" panose="020B0604020202020204" pitchFamily="34" charset="0"/>
              <a:buChar char="•"/>
              <a:defRPr/>
            </a:pPr>
            <a:r>
              <a:rPr lang="en-US" sz="2000" kern="0" dirty="0">
                <a:latin typeface="Times New Roman" panose="02020603050405020304" pitchFamily="18" charset="0"/>
                <a:cs typeface="Times New Roman" panose="02020603050405020304" pitchFamily="18" charset="0"/>
              </a:rPr>
              <a:t>Literature Survey / Existing System</a:t>
            </a:r>
          </a:p>
          <a:p>
            <a:pPr marL="685791" indent="-342900" algn="just" eaLnBrk="0" hangingPunct="0">
              <a:spcBef>
                <a:spcPct val="20000"/>
              </a:spcBef>
              <a:buFont typeface="Arial" panose="020B0604020202020204" pitchFamily="34" charset="0"/>
              <a:buChar char="•"/>
              <a:defRPr/>
            </a:pPr>
            <a:r>
              <a:rPr lang="en-US" sz="2000" kern="0" dirty="0">
                <a:latin typeface="Times New Roman" panose="02020603050405020304" pitchFamily="18" charset="0"/>
                <a:cs typeface="Times New Roman" panose="02020603050405020304" pitchFamily="18" charset="0"/>
              </a:rPr>
              <a:t>Dataset exploration</a:t>
            </a:r>
          </a:p>
          <a:p>
            <a:pPr marL="685791" indent="-342900" algn="just" eaLnBrk="0" hangingPunct="0">
              <a:spcBef>
                <a:spcPct val="20000"/>
              </a:spcBef>
              <a:buFont typeface="Arial" panose="020B0604020202020204" pitchFamily="34" charset="0"/>
              <a:buChar char="•"/>
              <a:defRPr/>
            </a:pPr>
            <a:r>
              <a:rPr lang="en-US" sz="2000" kern="0" dirty="0">
                <a:latin typeface="Times New Roman" panose="02020603050405020304" pitchFamily="18" charset="0"/>
                <a:cs typeface="Times New Roman" panose="02020603050405020304" pitchFamily="18" charset="0"/>
                <a:sym typeface="Trebuchet MS"/>
              </a:rPr>
              <a:t>References</a:t>
            </a:r>
            <a:endParaRPr lang="en-US" sz="2000" kern="0" dirty="0">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695400" y="1810350"/>
            <a:ext cx="10369152" cy="4590450"/>
          </a:xfrm>
          <a:prstGeom prst="rect">
            <a:avLst/>
          </a:prstGeom>
        </p:spPr>
        <p:txBody>
          <a:bodyPr/>
          <a:lstStyle/>
          <a:p>
            <a:pPr marL="628641" indent="-285750" algn="just" eaLnBrk="0" hangingPunct="0">
              <a:spcBef>
                <a:spcPct val="20000"/>
              </a:spcBef>
              <a:buFont typeface="Wingdings" panose="05000000000000000000" pitchFamily="2" charset="2"/>
              <a:buChar char="§"/>
              <a:defRPr/>
            </a:pPr>
            <a:r>
              <a:rPr lang="en-US" sz="2000" dirty="0">
                <a:latin typeface="Times New Roman" panose="02020603050405020304" pitchFamily="18" charset="0"/>
                <a:cs typeface="Times New Roman" panose="02020603050405020304" pitchFamily="18" charset="0"/>
              </a:rPr>
              <a:t>Operating systems are essential for all computational devices, including personal computers and enterprise systems.  </a:t>
            </a:r>
          </a:p>
          <a:p>
            <a:pPr marL="628641" indent="-285750" algn="just" eaLnBrk="0" hangingPunct="0">
              <a:spcBef>
                <a:spcPct val="20000"/>
              </a:spcBef>
              <a:buFont typeface="Wingdings" panose="05000000000000000000" pitchFamily="2" charset="2"/>
              <a:buChar char="§"/>
              <a:defRPr/>
            </a:pPr>
            <a:r>
              <a:rPr lang="en-US" sz="2000" dirty="0">
                <a:latin typeface="Times New Roman" panose="02020603050405020304" pitchFamily="18" charset="0"/>
                <a:cs typeface="Times New Roman" panose="02020603050405020304" pitchFamily="18" charset="0"/>
              </a:rPr>
              <a:t>Traditional operating systems lack adaptability and intelligence for enhancing user experience and system management proactively.  </a:t>
            </a:r>
          </a:p>
          <a:p>
            <a:pPr marL="628641" indent="-285750" algn="just" eaLnBrk="0" hangingPunct="0">
              <a:spcBef>
                <a:spcPct val="20000"/>
              </a:spcBef>
              <a:buFont typeface="Wingdings" panose="05000000000000000000" pitchFamily="2" charset="2"/>
              <a:buChar char="§"/>
              <a:defRPr/>
            </a:pPr>
            <a:r>
              <a:rPr lang="en-US" sz="2000" dirty="0">
                <a:latin typeface="Times New Roman" panose="02020603050405020304" pitchFamily="18" charset="0"/>
                <a:cs typeface="Times New Roman" panose="02020603050405020304" pitchFamily="18" charset="0"/>
              </a:rPr>
              <a:t>AVIOS is a novel AI-powered operating system designed to address these limitations.</a:t>
            </a:r>
          </a:p>
          <a:p>
            <a:pPr marL="342891" algn="just" eaLnBrk="0" hangingPunct="0">
              <a:spcBef>
                <a:spcPct val="20000"/>
              </a:spcBef>
              <a:defRPr/>
            </a:pPr>
            <a:r>
              <a:rPr lang="en-US" sz="2000" dirty="0">
                <a:latin typeface="Times New Roman" panose="02020603050405020304" pitchFamily="18" charset="0"/>
                <a:cs typeface="Times New Roman" panose="02020603050405020304" pitchFamily="18" charset="0"/>
              </a:rPr>
              <a:t>  </a:t>
            </a:r>
          </a:p>
          <a:p>
            <a:pPr marL="628641" indent="-285750" algn="just" eaLnBrk="0" hangingPunct="0">
              <a:spcBef>
                <a:spcPct val="20000"/>
              </a:spcBef>
              <a:buFont typeface="Wingdings" panose="05000000000000000000" pitchFamily="2" charset="2"/>
              <a:buChar char="Ø"/>
              <a:defRPr/>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Key features of AVIOS:  </a:t>
            </a:r>
          </a:p>
          <a:p>
            <a:pPr marL="1085841" lvl="1" indent="-285750" algn="just" eaLnBrk="0" hangingPunct="0">
              <a:spcBef>
                <a:spcPct val="20000"/>
              </a:spcBef>
              <a:buFont typeface="Wingdings" panose="05000000000000000000" pitchFamily="2" charset="2"/>
              <a:buChar char="§"/>
              <a:defRPr/>
            </a:pPr>
            <a:r>
              <a:rPr lang="en-US" sz="2000" dirty="0">
                <a:latin typeface="Times New Roman" panose="02020603050405020304" pitchFamily="18" charset="0"/>
                <a:cs typeface="Times New Roman" panose="02020603050405020304" pitchFamily="18" charset="0"/>
              </a:rPr>
              <a:t>Optimizes resource management.</a:t>
            </a:r>
          </a:p>
          <a:p>
            <a:pPr marL="1085841" lvl="1" indent="-285750" algn="just" eaLnBrk="0" hangingPunct="0">
              <a:spcBef>
                <a:spcPct val="20000"/>
              </a:spcBef>
              <a:buFont typeface="Wingdings" panose="05000000000000000000" pitchFamily="2" charset="2"/>
              <a:buChar char="§"/>
              <a:defRPr/>
            </a:pPr>
            <a:r>
              <a:rPr lang="en-US" sz="2000" dirty="0">
                <a:latin typeface="Times New Roman" panose="02020603050405020304" pitchFamily="18" charset="0"/>
                <a:cs typeface="Times New Roman" panose="02020603050405020304" pitchFamily="18" charset="0"/>
              </a:rPr>
              <a:t>Facilitates predictive analysis.  </a:t>
            </a:r>
          </a:p>
          <a:p>
            <a:pPr marL="1085841" lvl="1" indent="-285750" algn="just" eaLnBrk="0" hangingPunct="0">
              <a:spcBef>
                <a:spcPct val="20000"/>
              </a:spcBef>
              <a:buFont typeface="Wingdings" panose="05000000000000000000" pitchFamily="2" charset="2"/>
              <a:buChar char="§"/>
              <a:defRPr/>
            </a:pPr>
            <a:r>
              <a:rPr lang="en-US" sz="2000" dirty="0">
                <a:latin typeface="Times New Roman" panose="02020603050405020304" pitchFamily="18" charset="0"/>
                <a:cs typeface="Times New Roman" panose="02020603050405020304" pitchFamily="18" charset="0"/>
              </a:rPr>
              <a:t>Security Detection and Mitigation</a:t>
            </a:r>
          </a:p>
        </p:txBody>
      </p:sp>
      <p:sp>
        <p:nvSpPr>
          <p:cNvPr id="14" name="Text Box 34"/>
          <p:cNvSpPr txBox="1">
            <a:spLocks noChangeArrowheads="1"/>
          </p:cNvSpPr>
          <p:nvPr/>
        </p:nvSpPr>
        <p:spPr bwMode="auto">
          <a:xfrm>
            <a:off x="4191000" y="1137746"/>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Introduction and Motivation</a:t>
            </a:r>
          </a:p>
        </p:txBody>
      </p:sp>
    </p:spTree>
    <p:extLst>
      <p:ext uri="{BB962C8B-B14F-4D97-AF65-F5344CB8AC3E}">
        <p14:creationId xmlns:p14="http://schemas.microsoft.com/office/powerpoint/2010/main" val="3892582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96DB4-98F4-E0A1-5147-1300DBE0D502}"/>
              </a:ext>
            </a:extLst>
          </p:cNvPr>
          <p:cNvSpPr>
            <a:spLocks noGrp="1"/>
          </p:cNvSpPr>
          <p:nvPr>
            <p:ph type="ctrTitle"/>
          </p:nvPr>
        </p:nvSpPr>
        <p:spPr>
          <a:xfrm>
            <a:off x="767408" y="764703"/>
            <a:ext cx="9793088" cy="576065"/>
          </a:xfrm>
        </p:spPr>
        <p:txBody>
          <a:bodyPr>
            <a:normAutofit/>
          </a:bodyPr>
          <a:lstStyle/>
          <a:p>
            <a:pPr algn="r"/>
            <a:r>
              <a:rPr lang="en-IN" sz="2800" b="1" i="1" kern="0" dirty="0">
                <a:solidFill>
                  <a:srgbClr val="FF0000"/>
                </a:solidFill>
                <a:latin typeface="Times New Roman" panose="02020603050405020304" pitchFamily="18" charset="0"/>
                <a:cs typeface="Times New Roman" panose="02020603050405020304" pitchFamily="18" charset="0"/>
              </a:rPr>
              <a:t>Motivation</a:t>
            </a:r>
            <a:endParaRPr lang="en-IN" sz="2800" b="1" i="1" dirty="0">
              <a:solidFill>
                <a:srgbClr val="FF0000"/>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902F0EB-6C3C-9415-4F66-46D485F2532E}"/>
              </a:ext>
            </a:extLst>
          </p:cNvPr>
          <p:cNvSpPr>
            <a:spLocks noGrp="1"/>
          </p:cNvSpPr>
          <p:nvPr>
            <p:ph type="subTitle" idx="1"/>
          </p:nvPr>
        </p:nvSpPr>
        <p:spPr>
          <a:xfrm>
            <a:off x="911424" y="1556792"/>
            <a:ext cx="10369152" cy="4464496"/>
          </a:xfrm>
        </p:spPr>
        <p:txBody>
          <a:bodyPr>
            <a:normAutofit lnSpcReduction="10000"/>
          </a:bodyPr>
          <a:lstStyle/>
          <a:p>
            <a:pPr algn="l"/>
            <a:endParaRPr lang="en-US" sz="1800" b="1" dirty="0">
              <a:solidFill>
                <a:srgbClr val="000000"/>
              </a:solidFill>
              <a:latin typeface="Times New Roman" panose="02020603050405020304" pitchFamily="18" charset="0"/>
              <a:ea typeface="+mj-ea"/>
              <a:cs typeface="Times New Roman" panose="02020603050405020304" pitchFamily="18" charset="0"/>
            </a:endParaRPr>
          </a:p>
          <a:p>
            <a:pPr marL="342900" indent="-342900" algn="l">
              <a:lnSpc>
                <a:spcPct val="100000"/>
              </a:lnSpc>
              <a:buFont typeface="+mj-lt"/>
              <a:buAutoNum type="arabicPeriod"/>
            </a:pPr>
            <a:r>
              <a:rPr lang="en-US" sz="2000" b="1" i="1" kern="1200" dirty="0">
                <a:solidFill>
                  <a:srgbClr val="000000"/>
                </a:solidFill>
                <a:effectLst/>
                <a:latin typeface="Times New Roman" panose="02020603050405020304" pitchFamily="18" charset="0"/>
                <a:ea typeface="+mj-ea"/>
                <a:cs typeface="Times New Roman" panose="02020603050405020304" pitchFamily="18" charset="0"/>
              </a:rPr>
              <a:t>Rapid Growth of AI</a:t>
            </a:r>
            <a:r>
              <a:rPr lang="en-US" sz="2000" b="1" i="1" dirty="0">
                <a:solidFill>
                  <a:srgbClr val="000000"/>
                </a:solidFill>
                <a:latin typeface="Times New Roman" panose="02020603050405020304" pitchFamily="18" charset="0"/>
                <a:ea typeface="+mj-ea"/>
                <a:cs typeface="Times New Roman" panose="02020603050405020304" pitchFamily="18" charset="0"/>
              </a:rPr>
              <a:t> : </a:t>
            </a:r>
            <a:r>
              <a:rPr lang="en-US" sz="1800" kern="1200" dirty="0">
                <a:solidFill>
                  <a:srgbClr val="000000"/>
                </a:solidFill>
                <a:effectLst/>
                <a:latin typeface="Times New Roman" panose="02020603050405020304" pitchFamily="18" charset="0"/>
                <a:ea typeface="+mj-ea"/>
                <a:cs typeface="Times New Roman" panose="02020603050405020304" pitchFamily="18" charset="0"/>
              </a:rPr>
              <a:t>AI is transforming industries with its ability to analyze, learn, and adapt. The rising demand for personalized, intelligent systems inspired me to explore its integration into everyday technology.</a:t>
            </a:r>
          </a:p>
          <a:p>
            <a:pPr marL="342900" indent="-342900" algn="l">
              <a:lnSpc>
                <a:spcPct val="100000"/>
              </a:lnSpc>
              <a:buFont typeface="+mj-lt"/>
              <a:buAutoNum type="arabicPeriod"/>
            </a:pPr>
            <a:endParaRPr lang="en-US" sz="1800" b="1" dirty="0">
              <a:solidFill>
                <a:srgbClr val="000000"/>
              </a:solidFill>
              <a:latin typeface="Times New Roman" panose="02020603050405020304" pitchFamily="18" charset="0"/>
              <a:ea typeface="+mj-ea"/>
              <a:cs typeface="Times New Roman" panose="02020603050405020304" pitchFamily="18" charset="0"/>
            </a:endParaRPr>
          </a:p>
          <a:p>
            <a:pPr marL="342900" indent="-342900" algn="l">
              <a:buFont typeface="+mj-lt"/>
              <a:buAutoNum type="arabicPeriod"/>
            </a:pPr>
            <a:r>
              <a:rPr lang="en-US" sz="2000" b="1" i="1" kern="1200" dirty="0">
                <a:solidFill>
                  <a:srgbClr val="000000"/>
                </a:solidFill>
                <a:effectLst/>
                <a:latin typeface="Times New Roman" panose="02020603050405020304" pitchFamily="18" charset="0"/>
                <a:ea typeface="+mj-ea"/>
                <a:cs typeface="Times New Roman" panose="02020603050405020304" pitchFamily="18" charset="0"/>
              </a:rPr>
              <a:t>Enhancing Human Interaction with Technology : </a:t>
            </a:r>
            <a:r>
              <a:rPr lang="en-US" sz="1800" kern="1200" dirty="0">
                <a:solidFill>
                  <a:srgbClr val="000000"/>
                </a:solidFill>
                <a:effectLst/>
                <a:latin typeface="Times New Roman" panose="02020603050405020304" pitchFamily="18" charset="0"/>
                <a:ea typeface="+mj-ea"/>
                <a:cs typeface="Times New Roman" panose="02020603050405020304" pitchFamily="18" charset="0"/>
              </a:rPr>
              <a:t>Traditional operating systems lack intuitive interaction.  </a:t>
            </a:r>
            <a:r>
              <a:rPr lang="en-US" sz="1800" dirty="0">
                <a:solidFill>
                  <a:srgbClr val="000000"/>
                </a:solidFill>
                <a:latin typeface="Times New Roman" panose="02020603050405020304" pitchFamily="18" charset="0"/>
                <a:ea typeface="+mj-ea"/>
                <a:cs typeface="Times New Roman" panose="02020603050405020304" pitchFamily="18" charset="0"/>
              </a:rPr>
              <a:t>Our </a:t>
            </a:r>
            <a:r>
              <a:rPr lang="en-US" sz="1800" kern="1200" dirty="0">
                <a:solidFill>
                  <a:srgbClr val="000000"/>
                </a:solidFill>
                <a:effectLst/>
                <a:latin typeface="Times New Roman" panose="02020603050405020304" pitchFamily="18" charset="0"/>
                <a:ea typeface="+mj-ea"/>
                <a:cs typeface="Times New Roman" panose="02020603050405020304" pitchFamily="18" charset="0"/>
              </a:rPr>
              <a:t>project aims to create an OS that enables seamless and dynamic communication between humans and technology.</a:t>
            </a:r>
          </a:p>
          <a:p>
            <a:pPr marL="342900" indent="-342900" algn="l">
              <a:buFont typeface="+mj-lt"/>
              <a:buAutoNum type="arabicPeriod"/>
            </a:pPr>
            <a:endParaRPr lang="en-US" sz="1800" kern="1200" dirty="0">
              <a:solidFill>
                <a:srgbClr val="000000"/>
              </a:solidFill>
              <a:effectLst/>
              <a:latin typeface="Times New Roman" panose="02020603050405020304" pitchFamily="18" charset="0"/>
              <a:ea typeface="+mj-ea"/>
              <a:cs typeface="Times New Roman" panose="02020603050405020304" pitchFamily="18" charset="0"/>
            </a:endParaRPr>
          </a:p>
          <a:p>
            <a:pPr marL="342900" indent="-342900" algn="l">
              <a:buFont typeface="+mj-lt"/>
              <a:buAutoNum type="arabicPeriod"/>
            </a:pPr>
            <a:r>
              <a:rPr lang="en-US" sz="2000" b="1" i="1" kern="1200" dirty="0">
                <a:solidFill>
                  <a:srgbClr val="000000"/>
                </a:solidFill>
                <a:effectLst/>
                <a:latin typeface="Times New Roman" panose="02020603050405020304" pitchFamily="18" charset="0"/>
                <a:ea typeface="+mj-ea"/>
                <a:cs typeface="Times New Roman" panose="02020603050405020304" pitchFamily="18" charset="0"/>
              </a:rPr>
              <a:t>Bridging the Gap Between Humans and Machines : </a:t>
            </a:r>
            <a:r>
              <a:rPr lang="en-US" sz="1800" kern="1200" dirty="0">
                <a:solidFill>
                  <a:srgbClr val="000000"/>
                </a:solidFill>
                <a:effectLst/>
                <a:latin typeface="Times New Roman" panose="02020603050405020304" pitchFamily="18" charset="0"/>
                <a:ea typeface="+mj-ea"/>
                <a:cs typeface="Times New Roman" panose="02020603050405020304" pitchFamily="18" charset="0"/>
              </a:rPr>
              <a:t>Current systems require users to adapt to technology. An AI-based OS focuses on making technology adapt to individual user needs</a:t>
            </a:r>
            <a:r>
              <a:rPr lang="en-US" sz="1800" b="1" kern="1200" dirty="0">
                <a:solidFill>
                  <a:srgbClr val="000000"/>
                </a:solidFill>
                <a:effectLst/>
                <a:latin typeface="Times New Roman" panose="02020603050405020304" pitchFamily="18" charset="0"/>
                <a:ea typeface="+mj-ea"/>
                <a:cs typeface="Times New Roman" panose="02020603050405020304" pitchFamily="18" charset="0"/>
              </a:rPr>
              <a:t>.</a:t>
            </a:r>
            <a:br>
              <a:rPr lang="en-US" sz="1800" b="1" kern="1200" dirty="0">
                <a:solidFill>
                  <a:srgbClr val="000000"/>
                </a:solidFill>
                <a:effectLst/>
                <a:latin typeface="Times New Roman" panose="02020603050405020304" pitchFamily="18" charset="0"/>
                <a:ea typeface="+mj-ea"/>
                <a:cs typeface="Times New Roman" panose="02020603050405020304" pitchFamily="18" charset="0"/>
              </a:rPr>
            </a:br>
            <a:br>
              <a:rPr lang="en-US" sz="1800" b="1" kern="1200" dirty="0">
                <a:solidFill>
                  <a:srgbClr val="000000"/>
                </a:solidFill>
                <a:effectLst/>
                <a:latin typeface="Times New Roman" panose="02020603050405020304" pitchFamily="18" charset="0"/>
                <a:ea typeface="+mj-ea"/>
                <a:cs typeface="Times New Roman" panose="02020603050405020304" pitchFamily="18" charset="0"/>
              </a:rPr>
            </a:br>
            <a:br>
              <a:rPr lang="en-US" sz="1800" kern="1200" dirty="0">
                <a:solidFill>
                  <a:srgbClr val="000000"/>
                </a:solidFill>
                <a:effectLst/>
                <a:latin typeface="Times New Roman" panose="02020603050405020304" pitchFamily="18" charset="0"/>
                <a:ea typeface="+mj-ea"/>
                <a:cs typeface="Times New Roman" panose="02020603050405020304" pitchFamily="18" charset="0"/>
              </a:rPr>
            </a:br>
            <a:br>
              <a:rPr lang="en-US" sz="1800" kern="1200" dirty="0">
                <a:solidFill>
                  <a:srgbClr val="000000"/>
                </a:solidFill>
                <a:effectLst/>
                <a:latin typeface="Times New Roman" panose="02020603050405020304" pitchFamily="18" charset="0"/>
                <a:ea typeface="+mj-ea"/>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E65C6336-FE28-69C3-E026-74413EB73ECF}"/>
              </a:ext>
            </a:extLst>
          </p:cNvPr>
          <p:cNvSpPr>
            <a:spLocks noChangeArrowheads="1"/>
          </p:cNvSpPr>
          <p:nvPr/>
        </p:nvSpPr>
        <p:spPr bwMode="auto">
          <a:xfrm>
            <a:off x="3126973" y="1304255"/>
            <a:ext cx="7620000" cy="36513"/>
          </a:xfrm>
          <a:prstGeom prst="rect">
            <a:avLst/>
          </a:prstGeom>
          <a:solidFill>
            <a:srgbClr val="33CCCC"/>
          </a:solidFill>
          <a:ln w="9525">
            <a:noFill/>
            <a:miter lim="800000"/>
            <a:headEnd/>
            <a:tailEnd/>
          </a:ln>
        </p:spPr>
        <p:txBody>
          <a:bodyPr wrap="none" anchor="ctr"/>
          <a:lstStyle/>
          <a:p>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4306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609600" y="1600200"/>
            <a:ext cx="10972800" cy="4191000"/>
          </a:xfrm>
          <a:prstGeom prst="rect">
            <a:avLst/>
          </a:prstGeom>
        </p:spPr>
        <p:txBody>
          <a:bodyPr/>
          <a:lstStyle/>
          <a:p>
            <a:pPr marL="342891" algn="ctr" eaLnBrk="0" hangingPunct="0">
              <a:lnSpc>
                <a:spcPct val="300000"/>
              </a:lnSpc>
              <a:spcBef>
                <a:spcPts val="0"/>
              </a:spcBef>
              <a:spcAft>
                <a:spcPts val="0"/>
              </a:spcAft>
              <a:defRPr/>
            </a:pPr>
            <a:r>
              <a:rPr lang="en-IN" sz="2400" b="1" dirty="0">
                <a:latin typeface="Times New Roman" panose="02020603050405020304" pitchFamily="18" charset="0"/>
                <a:cs typeface="Times New Roman" panose="02020603050405020304" pitchFamily="18" charset="0"/>
              </a:rPr>
              <a:t>Artificial Intelligence Integrated with Operating System.</a:t>
            </a:r>
          </a:p>
          <a:p>
            <a:pPr marL="342891" algn="just" eaLnBrk="0" hangingPunct="0">
              <a:lnSpc>
                <a:spcPct val="150000"/>
              </a:lnSpc>
              <a:spcBef>
                <a:spcPts val="0"/>
              </a:spcBef>
              <a:spcAft>
                <a:spcPts val="0"/>
              </a:spcAft>
              <a:defRPr/>
            </a:pPr>
            <a:r>
              <a:rPr lang="en-US" sz="2000" dirty="0">
                <a:latin typeface="Times New Roman" panose="02020603050405020304" pitchFamily="18" charset="0"/>
                <a:cs typeface="Times New Roman" panose="02020603050405020304" pitchFamily="18" charset="0"/>
              </a:rPr>
              <a:t>Modern operating systems face challenges in maintaining reliability and security due to unpredictable faults and increasing cyber threats. Manual intervention for cyberattack mitigation leads to downtime, data breaches, and reduced performance. To address these challenges, an AI-based operating system is proposed with features like dynamic resource allocation and proactive AI-driven threat detection and mitigation. This system ensures seamless operation, enhanced security, and improved user trust through adaptive intelligence.</a:t>
            </a:r>
            <a:endParaRPr lang="en-IN" sz="2000" dirty="0">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38535"/>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Problem Statement</a:t>
            </a:r>
            <a:endParaRPr lang="en-US" sz="2400" b="1" i="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814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0" name="Content Placeholder 2"/>
          <p:cNvSpPr txBox="1">
            <a:spLocks/>
          </p:cNvSpPr>
          <p:nvPr/>
        </p:nvSpPr>
        <p:spPr>
          <a:xfrm>
            <a:off x="1199456" y="1953345"/>
            <a:ext cx="8935144" cy="4447455"/>
          </a:xfrm>
          <a:prstGeom prst="rect">
            <a:avLst/>
          </a:prstGeom>
        </p:spPr>
        <p:txBody>
          <a:bodyPr/>
          <a:lstStyle/>
          <a:p>
            <a:pPr marL="342891" algn="just" eaLnBrk="0" hangingPunct="0">
              <a:spcBef>
                <a:spcPct val="20000"/>
              </a:spcBef>
              <a:defRPr/>
            </a:pPr>
            <a:endParaRPr lang="en-IN" sz="2400" kern="0" dirty="0">
              <a:solidFill>
                <a:srgbClr val="0000FF"/>
              </a:solidFill>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Abstract and Scope</a:t>
            </a:r>
          </a:p>
        </p:txBody>
      </p:sp>
      <p:sp>
        <p:nvSpPr>
          <p:cNvPr id="6" name="Text Placeholder 5">
            <a:extLst>
              <a:ext uri="{FF2B5EF4-FFF2-40B4-BE49-F238E27FC236}">
                <a16:creationId xmlns:a16="http://schemas.microsoft.com/office/drawing/2014/main" id="{696B3B7D-F24B-732D-B41D-8672E5E21DE1}"/>
              </a:ext>
            </a:extLst>
          </p:cNvPr>
          <p:cNvSpPr>
            <a:spLocks noGrp="1"/>
          </p:cNvSpPr>
          <p:nvPr>
            <p:ph type="body" idx="1"/>
          </p:nvPr>
        </p:nvSpPr>
        <p:spPr>
          <a:xfrm>
            <a:off x="831850" y="2042821"/>
            <a:ext cx="10515600" cy="4046830"/>
          </a:xfrm>
        </p:spPr>
        <p:txBody>
          <a:bodyPr>
            <a:normAutofit/>
          </a:bodyPr>
          <a:lstStyle/>
          <a:p>
            <a:r>
              <a:rPr lang="en-IN" b="1" i="1" dirty="0">
                <a:solidFill>
                  <a:schemeClr val="tx1"/>
                </a:solidFill>
                <a:latin typeface="Times New Roman" panose="02020603050405020304" pitchFamily="18" charset="0"/>
                <a:cs typeface="Times New Roman" panose="02020603050405020304" pitchFamily="18" charset="0"/>
              </a:rPr>
              <a:t>Abstract :</a:t>
            </a:r>
            <a:r>
              <a:rPr lang="en-IN" b="1" i="1" dirty="0">
                <a:latin typeface="Times New Roman" panose="02020603050405020304" pitchFamily="18" charset="0"/>
                <a:cs typeface="Times New Roman" panose="02020603050405020304" pitchFamily="18" charset="0"/>
              </a:rPr>
              <a:t> </a:t>
            </a:r>
          </a:p>
          <a:p>
            <a:r>
              <a:rPr lang="en-US" sz="1800" dirty="0">
                <a:solidFill>
                  <a:schemeClr val="tx1"/>
                </a:solidFill>
                <a:latin typeface="Times New Roman" panose="02020603050405020304" pitchFamily="18" charset="0"/>
                <a:cs typeface="Times New Roman" panose="02020603050405020304" pitchFamily="18" charset="0"/>
              </a:rPr>
              <a:t>	An AI-driven operating system designed to enhance user experience through predictive system management. By leveraging AI techniques, the system aims to improve security via advanced threat detection and efficient system management.</a:t>
            </a:r>
          </a:p>
          <a:p>
            <a:endParaRPr lang="en-US" sz="1800" dirty="0">
              <a:solidFill>
                <a:schemeClr val="tx1"/>
              </a:solidFill>
              <a:latin typeface="Times New Roman" panose="02020603050405020304" pitchFamily="18" charset="0"/>
              <a:cs typeface="Times New Roman" panose="02020603050405020304" pitchFamily="18" charset="0"/>
            </a:endParaRPr>
          </a:p>
          <a:p>
            <a:r>
              <a:rPr lang="en-IN" b="1" i="1" dirty="0">
                <a:solidFill>
                  <a:schemeClr val="tx1"/>
                </a:solidFill>
                <a:latin typeface="Times New Roman" panose="02020603050405020304" pitchFamily="18" charset="0"/>
                <a:cs typeface="Times New Roman" panose="02020603050405020304" pitchFamily="18" charset="0"/>
              </a:rPr>
              <a:t>Scope:</a:t>
            </a:r>
          </a:p>
          <a:p>
            <a:pPr algn="just"/>
            <a:r>
              <a:rPr lang="en-US" sz="2000"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The project focuses on integrating AI with Linux kernels for resource management and system security. Initial phases will utilize existing Linux kernels, with future plans for custom kernel development optimized for AI workloads. This ensures technical feasibility while addressing the unique challenges of real-time AI integration with an OS kernel.</a:t>
            </a:r>
            <a:endParaRPr lang="en-IN"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1030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p:cNvSpPr txBox="1">
            <a:spLocks/>
          </p:cNvSpPr>
          <p:nvPr/>
        </p:nvSpPr>
        <p:spPr>
          <a:xfrm>
            <a:off x="839416" y="1700808"/>
            <a:ext cx="10297144" cy="4384667"/>
          </a:xfrm>
          <a:prstGeom prst="rect">
            <a:avLst/>
          </a:prstGeom>
        </p:spPr>
        <p:txBody>
          <a:bodyPr/>
          <a:lstStyle/>
          <a:p>
            <a:pPr marL="685791" indent="-342900" algn="just" eaLnBrk="0" hangingPunct="0">
              <a:spcBef>
                <a:spcPct val="20000"/>
              </a:spcBef>
              <a:buFont typeface="Wingdings" panose="05000000000000000000" pitchFamily="2" charset="2"/>
              <a:buChar char="§"/>
              <a:defRPr/>
            </a:pPr>
            <a:endParaRPr lang="en-IN" sz="2400" b="1" i="1" kern="0" dirty="0">
              <a:latin typeface="Times New Roman" panose="02020603050405020304" pitchFamily="18" charset="0"/>
              <a:cs typeface="Times New Roman" panose="02020603050405020304" pitchFamily="18" charset="0"/>
            </a:endParaRPr>
          </a:p>
          <a:p>
            <a:pPr marL="685791" indent="-342900" algn="just" eaLnBrk="0" hangingPunct="0">
              <a:spcBef>
                <a:spcPct val="20000"/>
              </a:spcBef>
              <a:buFont typeface="Wingdings" panose="05000000000000000000" pitchFamily="2" charset="2"/>
              <a:buChar char="§"/>
              <a:defRPr/>
            </a:pPr>
            <a:endParaRPr lang="en-IN" sz="2400" b="1" i="1" kern="0" dirty="0">
              <a:latin typeface="Times New Roman" panose="02020603050405020304" pitchFamily="18" charset="0"/>
              <a:cs typeface="Times New Roman" panose="02020603050405020304" pitchFamily="18" charset="0"/>
            </a:endParaRPr>
          </a:p>
          <a:p>
            <a:pPr marL="685791" indent="-342900" algn="just" eaLnBrk="0" hangingPunct="0">
              <a:spcBef>
                <a:spcPct val="20000"/>
              </a:spcBef>
              <a:buFont typeface="Wingdings" panose="05000000000000000000" pitchFamily="2" charset="2"/>
              <a:buChar char="§"/>
              <a:defRPr/>
            </a:pPr>
            <a:r>
              <a:rPr lang="en-IN" sz="2400" b="1" i="1" kern="0" dirty="0">
                <a:latin typeface="Times New Roman" panose="02020603050405020304" pitchFamily="18" charset="0"/>
                <a:cs typeface="Times New Roman" panose="02020603050405020304" pitchFamily="18" charset="0"/>
              </a:rPr>
              <a:t>Suggestions from Review – 1 : </a:t>
            </a:r>
            <a:r>
              <a:rPr lang="en-IN" sz="2400" kern="0" dirty="0">
                <a:latin typeface="Times New Roman" panose="02020603050405020304" pitchFamily="18" charset="0"/>
                <a:cs typeface="Times New Roman" panose="02020603050405020304" pitchFamily="18" charset="0"/>
              </a:rPr>
              <a:t>Instead of working on 4 goals, work on any one of the feature and integrate with Linux kernel at max not necessary for the full kernel design because of the complexity.</a:t>
            </a:r>
          </a:p>
          <a:p>
            <a:pPr marL="342891" algn="just" eaLnBrk="0" hangingPunct="0">
              <a:spcBef>
                <a:spcPct val="20000"/>
              </a:spcBef>
              <a:defRPr/>
            </a:pPr>
            <a:endParaRPr lang="en-IN" sz="2400" kern="0" dirty="0">
              <a:latin typeface="Times New Roman" panose="02020603050405020304" pitchFamily="18" charset="0"/>
              <a:cs typeface="Times New Roman" panose="02020603050405020304" pitchFamily="18" charset="0"/>
            </a:endParaRPr>
          </a:p>
          <a:p>
            <a:pPr marL="685791" indent="-342900" algn="just" eaLnBrk="0" hangingPunct="0">
              <a:spcBef>
                <a:spcPct val="20000"/>
              </a:spcBef>
              <a:buFont typeface="Wingdings" panose="05000000000000000000" pitchFamily="2" charset="2"/>
              <a:buChar char="§"/>
              <a:defRPr/>
            </a:pPr>
            <a:r>
              <a:rPr lang="en-IN" sz="2400" b="1" i="1" kern="0" dirty="0">
                <a:latin typeface="Times New Roman" panose="02020603050405020304" pitchFamily="18" charset="0"/>
                <a:cs typeface="Times New Roman" panose="02020603050405020304" pitchFamily="18" charset="0"/>
              </a:rPr>
              <a:t>Suggestions Assessment : </a:t>
            </a:r>
            <a:r>
              <a:rPr lang="en-IN" sz="2400" kern="0" dirty="0">
                <a:latin typeface="Times New Roman" panose="02020603050405020304" pitchFamily="18" charset="0"/>
                <a:cs typeface="Times New Roman" panose="02020603050405020304" pitchFamily="18" charset="0"/>
              </a:rPr>
              <a:t>So as panel has suggested to go with one feature we are planning of moving forward in implementing the features like Smart Security Assistance and Intelligent Dynamic Allocation making system efficient.</a:t>
            </a: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Suggestions from Review - 1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7E7DF-CD10-A895-4CFF-5816898EE3E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DB940B1-8E0A-43F5-8145-5E6D13847780}"/>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929AC46B-F2BB-0650-180C-2D4A9807C7E0}"/>
              </a:ext>
            </a:extLst>
          </p:cNvPr>
          <p:cNvSpPr txBox="1">
            <a:spLocks/>
          </p:cNvSpPr>
          <p:nvPr/>
        </p:nvSpPr>
        <p:spPr>
          <a:xfrm>
            <a:off x="6528048" y="2086289"/>
            <a:ext cx="5134867" cy="4211931"/>
          </a:xfrm>
          <a:prstGeom prst="rect">
            <a:avLst/>
          </a:prstGeom>
        </p:spPr>
        <p:txBody>
          <a:bodyPr/>
          <a:lstStyle/>
          <a:p>
            <a:pPr marL="342891" algn="just" eaLnBrk="0" hangingPunct="0">
              <a:spcBef>
                <a:spcPct val="20000"/>
              </a:spcBef>
              <a:defRPr/>
            </a:pPr>
            <a:endParaRPr lang="en-IN" sz="2400" dirty="0">
              <a:solidFill>
                <a:srgbClr val="0000FF"/>
              </a:solidFill>
              <a:latin typeface="Times New Roman" panose="02020603050405020304" pitchFamily="18" charset="0"/>
              <a:cs typeface="Times New Roman" panose="02020603050405020304" pitchFamily="18" charset="0"/>
            </a:endParaRPr>
          </a:p>
        </p:txBody>
      </p:sp>
      <p:sp>
        <p:nvSpPr>
          <p:cNvPr id="14" name="Text Box 34">
            <a:extLst>
              <a:ext uri="{FF2B5EF4-FFF2-40B4-BE49-F238E27FC236}">
                <a16:creationId xmlns:a16="http://schemas.microsoft.com/office/drawing/2014/main" id="{1390B55D-43F9-5CAE-77DD-5114F2D2BD46}"/>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Challenges and Research Gap</a:t>
            </a:r>
          </a:p>
        </p:txBody>
      </p:sp>
      <p:sp>
        <p:nvSpPr>
          <p:cNvPr id="2" name="TextBox 1">
            <a:extLst>
              <a:ext uri="{FF2B5EF4-FFF2-40B4-BE49-F238E27FC236}">
                <a16:creationId xmlns:a16="http://schemas.microsoft.com/office/drawing/2014/main" id="{2E05C299-4584-D135-D740-A49DDBCBF6EC}"/>
              </a:ext>
            </a:extLst>
          </p:cNvPr>
          <p:cNvSpPr txBox="1"/>
          <p:nvPr/>
        </p:nvSpPr>
        <p:spPr>
          <a:xfrm>
            <a:off x="6384032" y="2327902"/>
            <a:ext cx="4752529" cy="2923877"/>
          </a:xfrm>
          <a:prstGeom prst="rect">
            <a:avLst/>
          </a:prstGeom>
          <a:noFill/>
        </p:spPr>
        <p:txBody>
          <a:bodyPr wrap="square" rtlCol="0">
            <a:spAutoFit/>
          </a:bodyPr>
          <a:lstStyle/>
          <a:p>
            <a:r>
              <a:rPr lang="en-IN" sz="2400" b="1" i="1" dirty="0">
                <a:latin typeface="Times New Roman" panose="02020603050405020304" pitchFamily="18" charset="0"/>
                <a:cs typeface="Times New Roman" panose="02020603050405020304" pitchFamily="18" charset="0"/>
              </a:rPr>
              <a:t>Research Gap</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of robust AI models for adaptive threat detection and memory optimization.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Limited datasets for training smart memory allocation mechanisms.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Insufficient focus on scalability for memory-intensive systems.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Gaps in integrating cybersecurity with dynamic memory management.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optimization to reduce overhead in real-time security and memory operations.</a:t>
            </a:r>
            <a:endParaRPr lang="en-IN" sz="1600" b="1" i="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CE359E2-39AE-65D1-D8ED-BED7A0F6B78D}"/>
              </a:ext>
            </a:extLst>
          </p:cNvPr>
          <p:cNvSpPr txBox="1"/>
          <p:nvPr/>
        </p:nvSpPr>
        <p:spPr>
          <a:xfrm>
            <a:off x="1186057" y="2138615"/>
            <a:ext cx="4909944" cy="1015663"/>
          </a:xfrm>
          <a:prstGeom prst="rect">
            <a:avLst/>
          </a:prstGeom>
          <a:noFill/>
        </p:spPr>
        <p:txBody>
          <a:bodyPr wrap="square" rtlCol="0">
            <a:spAutoFit/>
          </a:bodyPr>
          <a:lstStyle/>
          <a:p>
            <a:pPr marL="457200" indent="-457200">
              <a:buFont typeface="+mj-lt"/>
              <a:buAutoNum type="arabicPeriod"/>
            </a:pPr>
            <a:endParaRPr lang="en-US" sz="1800" dirty="0">
              <a:latin typeface="Times New Roman" panose="02020603050405020304" pitchFamily="18" charset="0"/>
              <a:cs typeface="Times New Roman" panose="02020603050405020304" pitchFamily="18" charset="0"/>
            </a:endParaRPr>
          </a:p>
          <a:p>
            <a:r>
              <a:rPr lang="en-US" sz="2400" b="1" i="1" dirty="0">
                <a:latin typeface="Times New Roman" panose="02020603050405020304" pitchFamily="18" charset="0"/>
                <a:cs typeface="Times New Roman" panose="02020603050405020304" pitchFamily="18" charset="0"/>
              </a:rPr>
              <a:t>Challenges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endParaRPr lang="en-IN" dirty="0"/>
          </a:p>
        </p:txBody>
      </p:sp>
      <p:sp>
        <p:nvSpPr>
          <p:cNvPr id="6" name="Rectangle 2">
            <a:extLst>
              <a:ext uri="{FF2B5EF4-FFF2-40B4-BE49-F238E27FC236}">
                <a16:creationId xmlns:a16="http://schemas.microsoft.com/office/drawing/2014/main" id="{9305F86E-3534-B5EA-FCC3-904D69A517B8}"/>
              </a:ext>
            </a:extLst>
          </p:cNvPr>
          <p:cNvSpPr>
            <a:spLocks noChangeArrowheads="1"/>
          </p:cNvSpPr>
          <p:nvPr/>
        </p:nvSpPr>
        <p:spPr bwMode="auto">
          <a:xfrm>
            <a:off x="1239909" y="2495902"/>
            <a:ext cx="4802239"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Diagnose threats and memory bottlenecks without human intervention.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 memory allocation to ensure seamless performance.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system security through real-time threat mitigation.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security vulnerabilities and memory allocation inefficiencies autonomously.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reliability and user experience with smarter resource management. </a:t>
            </a:r>
          </a:p>
        </p:txBody>
      </p:sp>
      <p:sp>
        <p:nvSpPr>
          <p:cNvPr id="7" name="Rectangle 3">
            <a:extLst>
              <a:ext uri="{FF2B5EF4-FFF2-40B4-BE49-F238E27FC236}">
                <a16:creationId xmlns:a16="http://schemas.microsoft.com/office/drawing/2014/main" id="{8C06FBF2-8427-1A46-8CA6-04E70AF9D3C0}"/>
              </a:ext>
            </a:extLst>
          </p:cNvPr>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386270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A82B5-85E5-9F52-E735-9D94A9AC850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977EF10-7059-1AAF-06F1-C993B66CD461}"/>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F20BC0D5-82C5-776F-7C47-B575E1F9943F}"/>
              </a:ext>
            </a:extLst>
          </p:cNvPr>
          <p:cNvSpPr txBox="1">
            <a:spLocks/>
          </p:cNvSpPr>
          <p:nvPr/>
        </p:nvSpPr>
        <p:spPr>
          <a:xfrm>
            <a:off x="2057400" y="2188868"/>
            <a:ext cx="8077200" cy="4211931"/>
          </a:xfrm>
          <a:prstGeom prst="rect">
            <a:avLst/>
          </a:prstGeom>
        </p:spPr>
        <p:txBody>
          <a:bodyPr/>
          <a:lstStyle/>
          <a:p>
            <a:pPr marL="685791" indent="-342900" algn="just" eaLnBrk="0" hangingPunct="0">
              <a:spcBef>
                <a:spcPct val="20000"/>
              </a:spcBef>
              <a:buFont typeface="Arial" panose="020B0604020202020204" pitchFamily="34" charset="0"/>
              <a:buChar char="•"/>
              <a:defRPr/>
            </a:pPr>
            <a:endParaRPr lang="en-IN" sz="240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F1B5795C-E560-9A58-09B9-5DABEA897158}"/>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Objectives</a:t>
            </a:r>
          </a:p>
        </p:txBody>
      </p:sp>
      <p:sp>
        <p:nvSpPr>
          <p:cNvPr id="6" name="TextBox 5">
            <a:extLst>
              <a:ext uri="{FF2B5EF4-FFF2-40B4-BE49-F238E27FC236}">
                <a16:creationId xmlns:a16="http://schemas.microsoft.com/office/drawing/2014/main" id="{1B6511D1-5555-A69E-C4B2-E84039EE6A5C}"/>
              </a:ext>
            </a:extLst>
          </p:cNvPr>
          <p:cNvSpPr txBox="1"/>
          <p:nvPr/>
        </p:nvSpPr>
        <p:spPr>
          <a:xfrm>
            <a:off x="1199456" y="1373834"/>
            <a:ext cx="9793088" cy="4499758"/>
          </a:xfrm>
          <a:prstGeom prst="rect">
            <a:avLst/>
          </a:prstGeom>
          <a:noFill/>
        </p:spPr>
        <p:txBody>
          <a:bodyPr wrap="square" rtlCol="0">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 system vulnerabilities and memory inefficiencies autonomously.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Diagnose security threats and memory allocation issues without human intervention.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Optimize memory allocation to ensure seamless performance.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Minimize downtime through real-time threat mitigation.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system reliability, security, and user experience.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Proactively protect against cyberattacks and optimize system performance.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overall efficiency through intelligent security and memory management. </a:t>
            </a:r>
          </a:p>
          <a:p>
            <a:pPr>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662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0" name="Content Placeholder 2"/>
          <p:cNvSpPr txBox="1">
            <a:spLocks/>
          </p:cNvSpPr>
          <p:nvPr/>
        </p:nvSpPr>
        <p:spPr>
          <a:xfrm>
            <a:off x="2057400" y="2188868"/>
            <a:ext cx="8077200" cy="4211931"/>
          </a:xfrm>
          <a:prstGeom prst="rect">
            <a:avLst/>
          </a:prstGeom>
        </p:spPr>
        <p:txBody>
          <a:bodyPr/>
          <a:lstStyle/>
          <a:p>
            <a:pPr marL="342891" algn="just" eaLnBrk="0" hangingPunct="0">
              <a:spcBef>
                <a:spcPct val="20000"/>
              </a:spcBef>
              <a:defRPr/>
            </a:pPr>
            <a:endParaRPr lang="en-IN" sz="2400" dirty="0">
              <a:solidFill>
                <a:srgbClr val="0000FF"/>
              </a:solidFill>
              <a:latin typeface="Times New Roman" panose="02020603050405020304" pitchFamily="18" charset="0"/>
              <a:cs typeface="Times New Roman" panose="02020603050405020304" pitchFamily="18" charset="0"/>
            </a:endParaRPr>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Existing System</a:t>
            </a:r>
          </a:p>
        </p:txBody>
      </p:sp>
      <p:sp>
        <p:nvSpPr>
          <p:cNvPr id="15" name="Title 11">
            <a:extLst>
              <a:ext uri="{FF2B5EF4-FFF2-40B4-BE49-F238E27FC236}">
                <a16:creationId xmlns:a16="http://schemas.microsoft.com/office/drawing/2014/main" id="{267B73FE-0115-9F91-12D8-60F3517E5DDB}"/>
              </a:ext>
            </a:extLst>
          </p:cNvPr>
          <p:cNvSpPr>
            <a:spLocks noGrp="1"/>
          </p:cNvSpPr>
          <p:nvPr>
            <p:ph idx="1"/>
          </p:nvPr>
        </p:nvSpPr>
        <p:spPr>
          <a:xfrm>
            <a:off x="838200" y="1597942"/>
            <a:ext cx="10515600" cy="4351338"/>
          </a:xfrm>
        </p:spPr>
        <p:txBody>
          <a:bodyPr>
            <a:normAutofit/>
          </a:bodyPr>
          <a:lstStyle/>
          <a:p>
            <a:pPr marL="457200" indent="-457200">
              <a:buFont typeface="+mj-lt"/>
              <a:buAutoNum type="arabicPeriod"/>
            </a:pPr>
            <a:endParaRPr lang="en-US" sz="2000" b="1" i="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i="1" dirty="0">
                <a:latin typeface="Times New Roman" panose="02020603050405020304" pitchFamily="18" charset="0"/>
                <a:cs typeface="Times New Roman" panose="02020603050405020304" pitchFamily="18" charset="0"/>
              </a:rPr>
              <a:t>AI Assistants in Linux – based Systems ( e.g., Mycroft, OpenAI Integration ):</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These AI assistants focus on automating simple tasks like voice commands, scheduling and system commands. However, they don’t deeply integrate AI for resource management or adaptive security or fault detection.</a:t>
            </a:r>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i="1" dirty="0">
                <a:latin typeface="Times New Roman" panose="02020603050405020304" pitchFamily="18" charset="0"/>
                <a:cs typeface="Times New Roman" panose="02020603050405020304" pitchFamily="18" charset="0"/>
              </a:rPr>
              <a:t>Red Hat Enterprise Linux ( RHEL ) AI :</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RHEL AI deploy AI for enterprise workloads, particularly in hybrid cloud environment. Uses AI for monitoring, workload management and predictive analytics but doesn’t completely aim in driving AI as its core.</a:t>
            </a:r>
          </a:p>
          <a:p>
            <a:pPr lvl="1">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000" b="1" i="1" dirty="0">
                <a:latin typeface="Times New Roman" panose="02020603050405020304" pitchFamily="18" charset="0"/>
                <a:cs typeface="Times New Roman" panose="02020603050405020304" pitchFamily="18" charset="0"/>
              </a:rPr>
              <a:t>Microsoft Windows with AI (e.g., Copilot)</a:t>
            </a:r>
            <a:r>
              <a:rPr lang="en-US" sz="2000" i="1" dirty="0">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Microsoft’s integration of AI in Windows 11 (through Copilot) focuses on enhancing productivity through task automation and voice commands. It’s more user-centered, aimed at assisting with everyday tasks but doesn’t fully integrate AI into the OS for deep system optimizations.</a:t>
            </a:r>
          </a:p>
          <a:p>
            <a:pPr>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5369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623FF-26CE-0AF2-6ED4-D8B45DDAF5C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9FD3129-7547-A295-0997-F1A0378C9EC1}"/>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0" name="Content Placeholder 2">
            <a:extLst>
              <a:ext uri="{FF2B5EF4-FFF2-40B4-BE49-F238E27FC236}">
                <a16:creationId xmlns:a16="http://schemas.microsoft.com/office/drawing/2014/main" id="{E59D000B-476A-6A52-28DE-6A4B6A5E4E07}"/>
              </a:ext>
            </a:extLst>
          </p:cNvPr>
          <p:cNvSpPr txBox="1">
            <a:spLocks/>
          </p:cNvSpPr>
          <p:nvPr/>
        </p:nvSpPr>
        <p:spPr>
          <a:xfrm>
            <a:off x="1559496" y="2188868"/>
            <a:ext cx="8575104" cy="4211931"/>
          </a:xfrm>
          <a:prstGeom prst="rect">
            <a:avLst/>
          </a:prstGeom>
        </p:spPr>
        <p:txBody>
          <a:bodyPr/>
          <a:lstStyle/>
          <a:p>
            <a:pPr marL="685791" indent="-342900" algn="just" eaLnBrk="0" hangingPunct="0">
              <a:spcBef>
                <a:spcPct val="20000"/>
              </a:spcBef>
              <a:buFont typeface="Arial" panose="020B0604020202020204" pitchFamily="34" charset="0"/>
              <a:buChar char="•"/>
              <a:defRPr/>
            </a:pPr>
            <a:endParaRPr lang="en-IN" sz="2400" dirty="0">
              <a:solidFill>
                <a:srgbClr val="0000FF"/>
              </a:solidFill>
              <a:latin typeface="Trebuchet MS" pitchFamily="34" charset="0"/>
            </a:endParaRPr>
          </a:p>
        </p:txBody>
      </p:sp>
      <p:sp>
        <p:nvSpPr>
          <p:cNvPr id="14" name="Text Box 34">
            <a:extLst>
              <a:ext uri="{FF2B5EF4-FFF2-40B4-BE49-F238E27FC236}">
                <a16:creationId xmlns:a16="http://schemas.microsoft.com/office/drawing/2014/main" id="{CE0956C5-C413-3480-EEF3-487EA92FE7F4}"/>
              </a:ext>
            </a:extLst>
          </p:cNvPr>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Literature Survey/Existing System</a:t>
            </a:r>
          </a:p>
        </p:txBody>
      </p:sp>
      <p:graphicFrame>
        <p:nvGraphicFramePr>
          <p:cNvPr id="11" name="Content Placeholder 10">
            <a:extLst>
              <a:ext uri="{FF2B5EF4-FFF2-40B4-BE49-F238E27FC236}">
                <a16:creationId xmlns:a16="http://schemas.microsoft.com/office/drawing/2014/main" id="{EA98E6C7-F693-110A-92DC-E0F641EF59B3}"/>
              </a:ext>
            </a:extLst>
          </p:cNvPr>
          <p:cNvGraphicFramePr>
            <a:graphicFrameLocks noGrp="1"/>
          </p:cNvGraphicFramePr>
          <p:nvPr>
            <p:ph idx="1"/>
            <p:extLst>
              <p:ext uri="{D42A27DB-BD31-4B8C-83A1-F6EECF244321}">
                <p14:modId xmlns:p14="http://schemas.microsoft.com/office/powerpoint/2010/main" val="1241267802"/>
              </p:ext>
            </p:extLst>
          </p:nvPr>
        </p:nvGraphicFramePr>
        <p:xfrm>
          <a:off x="299355" y="1652353"/>
          <a:ext cx="11593290" cy="4900348"/>
        </p:xfrm>
        <a:graphic>
          <a:graphicData uri="http://schemas.openxmlformats.org/drawingml/2006/table">
            <a:tbl>
              <a:tblPr firstRow="1" bandRow="1">
                <a:tableStyleId>{5C22544A-7EE6-4342-B048-85BDC9FD1C3A}</a:tableStyleId>
              </a:tblPr>
              <a:tblGrid>
                <a:gridCol w="2318658">
                  <a:extLst>
                    <a:ext uri="{9D8B030D-6E8A-4147-A177-3AD203B41FA5}">
                      <a16:colId xmlns:a16="http://schemas.microsoft.com/office/drawing/2014/main" val="535061579"/>
                    </a:ext>
                  </a:extLst>
                </a:gridCol>
                <a:gridCol w="1281742">
                  <a:extLst>
                    <a:ext uri="{9D8B030D-6E8A-4147-A177-3AD203B41FA5}">
                      <a16:colId xmlns:a16="http://schemas.microsoft.com/office/drawing/2014/main" val="24621747"/>
                    </a:ext>
                  </a:extLst>
                </a:gridCol>
                <a:gridCol w="2664296">
                  <a:extLst>
                    <a:ext uri="{9D8B030D-6E8A-4147-A177-3AD203B41FA5}">
                      <a16:colId xmlns:a16="http://schemas.microsoft.com/office/drawing/2014/main" val="2485748225"/>
                    </a:ext>
                  </a:extLst>
                </a:gridCol>
                <a:gridCol w="2304256">
                  <a:extLst>
                    <a:ext uri="{9D8B030D-6E8A-4147-A177-3AD203B41FA5}">
                      <a16:colId xmlns:a16="http://schemas.microsoft.com/office/drawing/2014/main" val="92942730"/>
                    </a:ext>
                  </a:extLst>
                </a:gridCol>
                <a:gridCol w="3024338">
                  <a:extLst>
                    <a:ext uri="{9D8B030D-6E8A-4147-A177-3AD203B41FA5}">
                      <a16:colId xmlns:a16="http://schemas.microsoft.com/office/drawing/2014/main" val="3497993922"/>
                    </a:ext>
                  </a:extLst>
                </a:gridCol>
              </a:tblGrid>
              <a:tr h="357493">
                <a:tc>
                  <a:txBody>
                    <a:bodyPr/>
                    <a:lstStyle/>
                    <a:p>
                      <a:r>
                        <a:rPr lang="en-IN" sz="1600" i="1" dirty="0">
                          <a:latin typeface="Times New Roman" panose="02020603050405020304" pitchFamily="18" charset="0"/>
                          <a:cs typeface="Times New Roman" panose="02020603050405020304" pitchFamily="18" charset="0"/>
                        </a:rPr>
                        <a:t>Title &amp; Author name</a:t>
                      </a:r>
                    </a:p>
                  </a:txBody>
                  <a:tcPr/>
                </a:tc>
                <a:tc>
                  <a:txBody>
                    <a:bodyPr/>
                    <a:lstStyle/>
                    <a:p>
                      <a:r>
                        <a:rPr lang="en-IN" sz="1600" i="1" dirty="0">
                          <a:latin typeface="Times New Roman" panose="02020603050405020304" pitchFamily="18" charset="0"/>
                          <a:cs typeface="Times New Roman" panose="02020603050405020304" pitchFamily="18" charset="0"/>
                        </a:rPr>
                        <a:t>Year</a:t>
                      </a:r>
                    </a:p>
                  </a:txBody>
                  <a:tcPr/>
                </a:tc>
                <a:tc>
                  <a:txBody>
                    <a:bodyPr/>
                    <a:lstStyle/>
                    <a:p>
                      <a:r>
                        <a:rPr lang="en-IN" sz="1600" i="1" dirty="0">
                          <a:latin typeface="Times New Roman" panose="02020603050405020304" pitchFamily="18" charset="0"/>
                          <a:cs typeface="Times New Roman" panose="02020603050405020304" pitchFamily="18" charset="0"/>
                        </a:rPr>
                        <a:t>CONFERENCE NAME</a:t>
                      </a:r>
                    </a:p>
                  </a:txBody>
                  <a:tcPr/>
                </a:tc>
                <a:tc>
                  <a:txBody>
                    <a:bodyPr/>
                    <a:lstStyle/>
                    <a:p>
                      <a:r>
                        <a:rPr lang="en-IN" sz="1600" i="1" dirty="0">
                          <a:latin typeface="Times New Roman" panose="02020603050405020304" pitchFamily="18" charset="0"/>
                          <a:cs typeface="Times New Roman" panose="02020603050405020304" pitchFamily="18" charset="0"/>
                        </a:rPr>
                        <a:t>METHODOLOGY USED</a:t>
                      </a:r>
                    </a:p>
                  </a:txBody>
                  <a:tcPr/>
                </a:tc>
                <a:tc>
                  <a:txBody>
                    <a:bodyPr/>
                    <a:lstStyle/>
                    <a:p>
                      <a:r>
                        <a:rPr lang="en-IN" sz="1600" i="1" dirty="0">
                          <a:latin typeface="Times New Roman" panose="02020603050405020304" pitchFamily="18" charset="0"/>
                          <a:cs typeface="Times New Roman" panose="02020603050405020304" pitchFamily="18" charset="0"/>
                        </a:rPr>
                        <a:t>DRAWBACKS</a:t>
                      </a:r>
                    </a:p>
                  </a:txBody>
                  <a:tcPr/>
                </a:tc>
                <a:extLst>
                  <a:ext uri="{0D108BD9-81ED-4DB2-BD59-A6C34878D82A}">
                    <a16:rowId xmlns:a16="http://schemas.microsoft.com/office/drawing/2014/main" val="508192611"/>
                  </a:ext>
                </a:extLst>
              </a:tr>
              <a:tr h="4321228">
                <a:tc>
                  <a:txBody>
                    <a:bodyPr/>
                    <a:lstStyle/>
                    <a:p>
                      <a:r>
                        <a:rPr lang="en-US" sz="1400" dirty="0">
                          <a:latin typeface="Times New Roman" panose="02020603050405020304" pitchFamily="18" charset="0"/>
                          <a:cs typeface="Times New Roman" panose="02020603050405020304" pitchFamily="18" charset="0"/>
                        </a:rPr>
                        <a:t>Development of an Operating System Supporting Intelligent Predictions and Recommendations</a:t>
                      </a:r>
                    </a:p>
                    <a:p>
                      <a:endParaRPr lang="en-US" sz="1400" dirty="0">
                        <a:latin typeface="Times New Roman" panose="02020603050405020304" pitchFamily="18" charset="0"/>
                        <a:cs typeface="Times New Roman" panose="02020603050405020304" pitchFamily="18" charset="0"/>
                      </a:endParaRPr>
                    </a:p>
                    <a:p>
                      <a:r>
                        <a:rPr lang="en-IN" sz="1400" b="1" dirty="0" err="1">
                          <a:latin typeface="Times New Roman" panose="02020603050405020304" pitchFamily="18" charset="0"/>
                          <a:cs typeface="Times New Roman" panose="02020603050405020304" pitchFamily="18" charset="0"/>
                        </a:rPr>
                        <a:t>Rakhmadi</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Rahman</a:t>
                      </a:r>
                    </a:p>
                    <a:p>
                      <a:r>
                        <a:rPr lang="en-IN" sz="1400" b="1" dirty="0">
                          <a:latin typeface="Times New Roman" panose="02020603050405020304" pitchFamily="18" charset="0"/>
                          <a:cs typeface="Times New Roman" panose="02020603050405020304" pitchFamily="18" charset="0"/>
                        </a:rPr>
                        <a:t>Alya </a:t>
                      </a:r>
                      <a:r>
                        <a:rPr lang="en-IN" sz="1400" b="1" dirty="0" err="1">
                          <a:latin typeface="Times New Roman" panose="02020603050405020304" pitchFamily="18" charset="0"/>
                          <a:cs typeface="Times New Roman" panose="02020603050405020304" pitchFamily="18" charset="0"/>
                        </a:rPr>
                        <a:t>Wulan</a:t>
                      </a:r>
                      <a:r>
                        <a:rPr lang="en-IN" sz="1400" b="1" dirty="0">
                          <a:latin typeface="Times New Roman" panose="02020603050405020304" pitchFamily="18" charset="0"/>
                          <a:cs typeface="Times New Roman" panose="02020603050405020304" pitchFamily="18" charset="0"/>
                        </a:rPr>
                        <a:t> </a:t>
                      </a:r>
                      <a:r>
                        <a:rPr lang="en-IN" sz="1400" b="1" dirty="0" err="1">
                          <a:latin typeface="Times New Roman" panose="02020603050405020304" pitchFamily="18" charset="0"/>
                          <a:cs typeface="Times New Roman" panose="02020603050405020304" pitchFamily="18" charset="0"/>
                        </a:rPr>
                        <a:t>ApriliyaniSiti</a:t>
                      </a:r>
                      <a:r>
                        <a:rPr lang="en-IN" sz="1400" b="1" dirty="0">
                          <a:latin typeface="Times New Roman" panose="02020603050405020304" pitchFamily="18" charset="0"/>
                          <a:cs typeface="Times New Roman" panose="02020603050405020304" pitchFamily="18" charset="0"/>
                        </a:rPr>
                        <a:t> Siti Nur </a:t>
                      </a:r>
                      <a:r>
                        <a:rPr lang="en-IN" sz="1400" b="1" dirty="0" err="1">
                          <a:latin typeface="Times New Roman" panose="02020603050405020304" pitchFamily="18" charset="0"/>
                          <a:cs typeface="Times New Roman" panose="02020603050405020304" pitchFamily="18" charset="0"/>
                        </a:rPr>
                        <a:t>Azizah</a:t>
                      </a:r>
                      <a:r>
                        <a:rPr lang="en-IN" sz="1400" b="1" dirty="0">
                          <a:latin typeface="Times New Roman" panose="02020603050405020304" pitchFamily="18" charset="0"/>
                          <a:cs typeface="Times New Roman" panose="02020603050405020304" pitchFamily="18" charset="0"/>
                        </a:rPr>
                        <a:t> Ibrahim</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2024</a:t>
                      </a:r>
                    </a:p>
                  </a:txBody>
                  <a:tcPr/>
                </a:tc>
                <a:tc>
                  <a:txBody>
                    <a:bodyPr/>
                    <a:lstStyle/>
                    <a:p>
                      <a:r>
                        <a:rPr lang="en-US" sz="1400" dirty="0">
                          <a:latin typeface="Times New Roman" panose="02020603050405020304" pitchFamily="18" charset="0"/>
                          <a:cs typeface="Times New Roman" panose="02020603050405020304" pitchFamily="18" charset="0"/>
                        </a:rPr>
                        <a:t>Information Technology Engineering Journals (ITEJ), Volume 9, Number 1, July 2024</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1" dirty="0">
                          <a:latin typeface="Times New Roman" panose="02020603050405020304" pitchFamily="18" charset="0"/>
                          <a:cs typeface="Times New Roman" panose="02020603050405020304" pitchFamily="18" charset="0"/>
                        </a:rPr>
                        <a:t>Experimental Approach</a:t>
                      </a:r>
                      <a:r>
                        <a:rPr lang="en-IN" sz="1400" dirty="0">
                          <a:latin typeface="Times New Roman" panose="02020603050405020304" pitchFamily="18" charset="0"/>
                          <a:cs typeface="Times New Roman" panose="02020603050405020304" pitchFamily="18" charset="0"/>
                        </a:rPr>
                        <a:t>: Developed an AI-based application recommendation system integrated into the Linux operating system.</a:t>
                      </a:r>
                    </a:p>
                    <a:p>
                      <a:r>
                        <a:rPr lang="en-IN" sz="1400" b="1" dirty="0">
                          <a:latin typeface="Times New Roman" panose="02020603050405020304" pitchFamily="18" charset="0"/>
                          <a:cs typeface="Times New Roman" panose="02020603050405020304" pitchFamily="18" charset="0"/>
                        </a:rPr>
                        <a:t>Data Collection</a:t>
                      </a:r>
                      <a:r>
                        <a:rPr lang="en-IN" sz="1400" dirty="0">
                          <a:latin typeface="Times New Roman" panose="02020603050405020304" pitchFamily="18" charset="0"/>
                          <a:cs typeface="Times New Roman" panose="02020603050405020304" pitchFamily="18" charset="0"/>
                        </a:rPr>
                        <a:t>: Logged application usage data (frequency, duration, types) using Python with libraries like </a:t>
                      </a:r>
                      <a:r>
                        <a:rPr lang="en-IN" sz="1400" dirty="0" err="1">
                          <a:latin typeface="Times New Roman" panose="02020603050405020304" pitchFamily="18" charset="0"/>
                          <a:cs typeface="Times New Roman" panose="02020603050405020304" pitchFamily="18" charset="0"/>
                        </a:rPr>
                        <a:t>psutil</a:t>
                      </a:r>
                      <a:r>
                        <a:rPr lang="en-IN" sz="1400" dirty="0">
                          <a:latin typeface="Times New Roman" panose="02020603050405020304" pitchFamily="18" charset="0"/>
                          <a:cs typeface="Times New Roman" panose="02020603050405020304" pitchFamily="18" charset="0"/>
                        </a:rPr>
                        <a:t> and pandas.</a:t>
                      </a:r>
                    </a:p>
                    <a:p>
                      <a:r>
                        <a:rPr lang="en-IN" sz="1400" b="1" dirty="0">
                          <a:latin typeface="Times New Roman" panose="02020603050405020304" pitchFamily="18" charset="0"/>
                          <a:cs typeface="Times New Roman" panose="02020603050405020304" pitchFamily="18" charset="0"/>
                        </a:rPr>
                        <a:t>Machine Learning Model</a:t>
                      </a:r>
                      <a:r>
                        <a:rPr lang="en-IN" sz="1400" dirty="0">
                          <a:latin typeface="Times New Roman" panose="02020603050405020304" pitchFamily="18" charset="0"/>
                          <a:cs typeface="Times New Roman" panose="02020603050405020304" pitchFamily="18" charset="0"/>
                        </a:rPr>
                        <a:t>: Implemented and trained using the K-Nearest </a:t>
                      </a:r>
                      <a:r>
                        <a:rPr lang="en-IN" sz="1400" dirty="0" err="1">
                          <a:latin typeface="Times New Roman" panose="02020603050405020304" pitchFamily="18" charset="0"/>
                          <a:cs typeface="Times New Roman" panose="02020603050405020304" pitchFamily="18" charset="0"/>
                        </a:rPr>
                        <a:t>Neighbors</a:t>
                      </a:r>
                      <a:r>
                        <a:rPr lang="en-IN" sz="1400" dirty="0">
                          <a:latin typeface="Times New Roman" panose="02020603050405020304" pitchFamily="18" charset="0"/>
                          <a:cs typeface="Times New Roman" panose="02020603050405020304" pitchFamily="18" charset="0"/>
                        </a:rPr>
                        <a:t> (KNN) algorithm via scikit-learn.</a:t>
                      </a:r>
                    </a:p>
                  </a:txBody>
                  <a:tcPr/>
                </a:tc>
                <a:tc>
                  <a:txBody>
                    <a:bodyPr/>
                    <a:lstStyle/>
                    <a:p>
                      <a:r>
                        <a:rPr lang="en-US" sz="1400" b="1" dirty="0">
                          <a:latin typeface="Times New Roman" panose="02020603050405020304" pitchFamily="18" charset="0"/>
                          <a:cs typeface="Times New Roman" panose="02020603050405020304" pitchFamily="18" charset="0"/>
                        </a:rPr>
                        <a:t>Performance Limitations</a:t>
                      </a:r>
                      <a:r>
                        <a:rPr lang="en-US" sz="1400" dirty="0">
                          <a:latin typeface="Times New Roman" panose="02020603050405020304" pitchFamily="18" charset="0"/>
                          <a:cs typeface="Times New Roman" panose="02020603050405020304" pitchFamily="18" charset="0"/>
                        </a:rPr>
                        <a:t>: Running complex AI models impacts system performance, particularly on devices with low hardware specifications.</a:t>
                      </a:r>
                    </a:p>
                    <a:p>
                      <a:r>
                        <a:rPr lang="en-US" sz="1400" b="1" dirty="0">
                          <a:latin typeface="Times New Roman" panose="02020603050405020304" pitchFamily="18" charset="0"/>
                          <a:cs typeface="Times New Roman" panose="02020603050405020304" pitchFamily="18" charset="0"/>
                        </a:rPr>
                        <a:t>Privacy Challenges</a:t>
                      </a:r>
                      <a:r>
                        <a:rPr lang="en-US" sz="1400" dirty="0">
                          <a:latin typeface="Times New Roman" panose="02020603050405020304" pitchFamily="18" charset="0"/>
                          <a:cs typeface="Times New Roman" panose="02020603050405020304" pitchFamily="18" charset="0"/>
                        </a:rPr>
                        <a:t>: Managing and securing user data while ensuring compliance with privacy standards remains an issue.</a:t>
                      </a:r>
                    </a:p>
                    <a:p>
                      <a:r>
                        <a:rPr lang="en-US" sz="1400" b="1" dirty="0">
                          <a:latin typeface="Times New Roman" panose="02020603050405020304" pitchFamily="18" charset="0"/>
                          <a:cs typeface="Times New Roman" panose="02020603050405020304" pitchFamily="18" charset="0"/>
                        </a:rPr>
                        <a:t>Limited Generalization</a:t>
                      </a:r>
                      <a:r>
                        <a:rPr lang="en-US" sz="1400" dirty="0">
                          <a:latin typeface="Times New Roman" panose="02020603050405020304" pitchFamily="18" charset="0"/>
                          <a:cs typeface="Times New Roman" panose="02020603050405020304" pitchFamily="18" charset="0"/>
                        </a:rPr>
                        <a:t>: The system focuses on specific usage patterns, potentially limiting its adaptability to diverse user behaviors.</a:t>
                      </a:r>
                    </a:p>
                    <a:p>
                      <a:r>
                        <a:rPr lang="en-US" sz="1400" b="1" dirty="0">
                          <a:latin typeface="Times New Roman" panose="02020603050405020304" pitchFamily="18" charset="0"/>
                          <a:cs typeface="Times New Roman" panose="02020603050405020304" pitchFamily="18" charset="0"/>
                        </a:rPr>
                        <a:t>Integration Difficulties</a:t>
                      </a:r>
                      <a:r>
                        <a:rPr lang="en-US" sz="1400" dirty="0">
                          <a:latin typeface="Times New Roman" panose="02020603050405020304" pitchFamily="18" charset="0"/>
                          <a:cs typeface="Times New Roman" panose="02020603050405020304" pitchFamily="18" charset="0"/>
                        </a:rPr>
                        <a:t>: Compatibility issues may arise when integrating with existing Linux environments.</a:t>
                      </a:r>
                    </a:p>
                    <a:p>
                      <a:r>
                        <a:rPr lang="en-US" sz="1400" b="1" dirty="0">
                          <a:latin typeface="Times New Roman" panose="02020603050405020304" pitchFamily="18" charset="0"/>
                          <a:cs typeface="Times New Roman" panose="02020603050405020304" pitchFamily="18" charset="0"/>
                        </a:rPr>
                        <a:t>Resource Requirements</a:t>
                      </a:r>
                      <a:r>
                        <a:rPr lang="en-US" sz="1400" dirty="0">
                          <a:latin typeface="Times New Roman" panose="02020603050405020304" pitchFamily="18" charset="0"/>
                          <a:cs typeface="Times New Roman" panose="02020603050405020304" pitchFamily="18" charset="0"/>
                        </a:rPr>
                        <a:t>: Development and deployment demand significant expertise, time, and financial resources.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91379539"/>
                  </a:ext>
                </a:extLst>
              </a:tr>
            </a:tbl>
          </a:graphicData>
        </a:graphic>
      </p:graphicFrame>
    </p:spTree>
    <p:extLst>
      <p:ext uri="{BB962C8B-B14F-4D97-AF65-F5344CB8AC3E}">
        <p14:creationId xmlns:p14="http://schemas.microsoft.com/office/powerpoint/2010/main" val="3065681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48618-B9E5-25D9-F6BD-6A682F0AFC89}"/>
              </a:ext>
            </a:extLst>
          </p:cNvPr>
          <p:cNvSpPr>
            <a:spLocks noGrp="1"/>
          </p:cNvSpPr>
          <p:nvPr>
            <p:ph type="title"/>
          </p:nvPr>
        </p:nvSpPr>
        <p:spPr>
          <a:xfrm>
            <a:off x="-171128" y="908720"/>
            <a:ext cx="10515600" cy="853976"/>
          </a:xfrm>
        </p:spPr>
        <p:txBody>
          <a:bodyPr>
            <a:normAutofit fontScale="90000"/>
          </a:bodyPr>
          <a:lstStyle/>
          <a:p>
            <a:pPr algn="r"/>
            <a:r>
              <a:rPr lang="en-US" sz="2700" b="1" i="1" dirty="0">
                <a:solidFill>
                  <a:srgbClr val="FF0000"/>
                </a:solidFill>
                <a:latin typeface="Times New Roman" panose="02020603050405020304" pitchFamily="18" charset="0"/>
                <a:cs typeface="Times New Roman" panose="02020603050405020304" pitchFamily="18" charset="0"/>
              </a:rPr>
              <a:t>Literature Survey/Existing System</a:t>
            </a:r>
            <a:br>
              <a:rPr lang="en-US" sz="4400" b="1" i="1" dirty="0">
                <a:solidFill>
                  <a:srgbClr val="FF0000"/>
                </a:solidFill>
                <a:latin typeface="Times New Roman" panose="02020603050405020304" pitchFamily="18" charset="0"/>
                <a:cs typeface="Times New Roman" panose="02020603050405020304" pitchFamily="18" charset="0"/>
              </a:rPr>
            </a:br>
            <a:endParaRPr lang="en-IN" b="1" i="1" dirty="0">
              <a:latin typeface="Times New Roman" panose="02020603050405020304" pitchFamily="18" charset="0"/>
              <a:cs typeface="Times New Roman" panose="02020603050405020304" pitchFamily="18" charset="0"/>
            </a:endParaRPr>
          </a:p>
        </p:txBody>
      </p:sp>
      <p:graphicFrame>
        <p:nvGraphicFramePr>
          <p:cNvPr id="12" name="Content Placeholder 11">
            <a:extLst>
              <a:ext uri="{FF2B5EF4-FFF2-40B4-BE49-F238E27FC236}">
                <a16:creationId xmlns:a16="http://schemas.microsoft.com/office/drawing/2014/main" id="{079625C6-8E5D-6867-E3C1-3EA0CE888CD2}"/>
              </a:ext>
            </a:extLst>
          </p:cNvPr>
          <p:cNvGraphicFramePr>
            <a:graphicFrameLocks noGrp="1"/>
          </p:cNvGraphicFramePr>
          <p:nvPr>
            <p:ph idx="1"/>
            <p:extLst>
              <p:ext uri="{D42A27DB-BD31-4B8C-83A1-F6EECF244321}">
                <p14:modId xmlns:p14="http://schemas.microsoft.com/office/powerpoint/2010/main" val="1448097326"/>
              </p:ext>
            </p:extLst>
          </p:nvPr>
        </p:nvGraphicFramePr>
        <p:xfrm>
          <a:off x="299355" y="1412776"/>
          <a:ext cx="11593289" cy="5151120"/>
        </p:xfrm>
        <a:graphic>
          <a:graphicData uri="http://schemas.openxmlformats.org/drawingml/2006/table">
            <a:tbl>
              <a:tblPr firstRow="1" bandRow="1">
                <a:tableStyleId>{5C22544A-7EE6-4342-B048-85BDC9FD1C3A}</a:tableStyleId>
              </a:tblPr>
              <a:tblGrid>
                <a:gridCol w="2318658">
                  <a:extLst>
                    <a:ext uri="{9D8B030D-6E8A-4147-A177-3AD203B41FA5}">
                      <a16:colId xmlns:a16="http://schemas.microsoft.com/office/drawing/2014/main" val="3087742061"/>
                    </a:ext>
                  </a:extLst>
                </a:gridCol>
                <a:gridCol w="1104475">
                  <a:extLst>
                    <a:ext uri="{9D8B030D-6E8A-4147-A177-3AD203B41FA5}">
                      <a16:colId xmlns:a16="http://schemas.microsoft.com/office/drawing/2014/main" val="4035573503"/>
                    </a:ext>
                  </a:extLst>
                </a:gridCol>
                <a:gridCol w="2445520">
                  <a:extLst>
                    <a:ext uri="{9D8B030D-6E8A-4147-A177-3AD203B41FA5}">
                      <a16:colId xmlns:a16="http://schemas.microsoft.com/office/drawing/2014/main" val="1731938168"/>
                    </a:ext>
                  </a:extLst>
                </a:gridCol>
                <a:gridCol w="2611381">
                  <a:extLst>
                    <a:ext uri="{9D8B030D-6E8A-4147-A177-3AD203B41FA5}">
                      <a16:colId xmlns:a16="http://schemas.microsoft.com/office/drawing/2014/main" val="1304002562"/>
                    </a:ext>
                  </a:extLst>
                </a:gridCol>
                <a:gridCol w="3113255">
                  <a:extLst>
                    <a:ext uri="{9D8B030D-6E8A-4147-A177-3AD203B41FA5}">
                      <a16:colId xmlns:a16="http://schemas.microsoft.com/office/drawing/2014/main" val="2881697885"/>
                    </a:ext>
                  </a:extLst>
                </a:gridCol>
              </a:tblGrid>
              <a:tr h="123711">
                <a:tc>
                  <a:txBody>
                    <a:bodyPr/>
                    <a:lstStyle/>
                    <a:p>
                      <a:r>
                        <a:rPr lang="en-IN" sz="1600" i="1" dirty="0">
                          <a:latin typeface="Times New Roman" panose="02020603050405020304" pitchFamily="18" charset="0"/>
                          <a:cs typeface="Times New Roman" panose="02020603050405020304" pitchFamily="18" charset="0"/>
                        </a:rPr>
                        <a:t>Title &amp; Author Name</a:t>
                      </a:r>
                    </a:p>
                  </a:txBody>
                  <a:tcPr/>
                </a:tc>
                <a:tc>
                  <a:txBody>
                    <a:bodyPr/>
                    <a:lstStyle/>
                    <a:p>
                      <a:r>
                        <a:rPr lang="en-IN" sz="1600" i="1" dirty="0">
                          <a:latin typeface="Times New Roman" panose="02020603050405020304" pitchFamily="18" charset="0"/>
                          <a:cs typeface="Times New Roman" panose="02020603050405020304" pitchFamily="18" charset="0"/>
                        </a:rPr>
                        <a:t>Year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i="1" dirty="0">
                          <a:latin typeface="Times New Roman" panose="02020603050405020304" pitchFamily="18" charset="0"/>
                          <a:cs typeface="Times New Roman" panose="02020603050405020304" pitchFamily="18" charset="0"/>
                        </a:rPr>
                        <a:t>CONFERENCE NAME</a:t>
                      </a:r>
                    </a:p>
                    <a:p>
                      <a:endParaRPr lang="en-IN" sz="1600" i="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i="1" dirty="0">
                          <a:latin typeface="Times New Roman" panose="02020603050405020304" pitchFamily="18" charset="0"/>
                          <a:cs typeface="Times New Roman" panose="02020603050405020304" pitchFamily="18" charset="0"/>
                        </a:rPr>
                        <a:t>METHODOLOGY USED</a:t>
                      </a:r>
                    </a:p>
                    <a:p>
                      <a:endParaRPr lang="en-IN" sz="1600" i="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i="1" dirty="0">
                          <a:latin typeface="Times New Roman" panose="02020603050405020304" pitchFamily="18" charset="0"/>
                          <a:cs typeface="Times New Roman" panose="02020603050405020304" pitchFamily="18" charset="0"/>
                        </a:rPr>
                        <a:t>DRAWBACKS</a:t>
                      </a:r>
                    </a:p>
                    <a:p>
                      <a:endParaRPr lang="en-IN" sz="1600" i="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926523"/>
                  </a:ext>
                </a:extLst>
              </a:tr>
              <a:tr h="370840">
                <a:tc>
                  <a:txBody>
                    <a:bodyPr/>
                    <a:lstStyle/>
                    <a:p>
                      <a:r>
                        <a:rPr lang="en-US" sz="1400" dirty="0">
                          <a:latin typeface="Times New Roman" panose="02020603050405020304" pitchFamily="18" charset="0"/>
                          <a:cs typeface="Times New Roman" panose="02020603050405020304" pitchFamily="18" charset="0"/>
                        </a:rPr>
                        <a:t>AI Based OS: Future of Operating System</a:t>
                      </a:r>
                    </a:p>
                    <a:p>
                      <a:endParaRPr lang="en-US"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Shivam Vishwakarma</a:t>
                      </a:r>
                    </a:p>
                  </a:txBody>
                  <a:tcPr/>
                </a:tc>
                <a:tc>
                  <a:txBody>
                    <a:bodyPr/>
                    <a:lstStyle/>
                    <a:p>
                      <a:r>
                        <a:rPr lang="en-IN" sz="1400" dirty="0">
                          <a:latin typeface="Times New Roman" panose="02020603050405020304" pitchFamily="18" charset="0"/>
                          <a:cs typeface="Times New Roman" panose="02020603050405020304" pitchFamily="18" charset="0"/>
                        </a:rPr>
                        <a:t>2021</a:t>
                      </a:r>
                    </a:p>
                  </a:txBody>
                  <a:tcPr/>
                </a:tc>
                <a:tc>
                  <a:txBody>
                    <a:bodyPr/>
                    <a:lstStyle/>
                    <a:p>
                      <a:r>
                        <a:rPr lang="en-US" sz="1400" dirty="0">
                          <a:latin typeface="Times New Roman" panose="02020603050405020304" pitchFamily="18" charset="0"/>
                          <a:cs typeface="Times New Roman" panose="02020603050405020304" pitchFamily="18" charset="0"/>
                        </a:rPr>
                        <a:t>National Conference on “Unprecedented and Advanced Concepts of Computer Vision” (NCUACC-2021)</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Published in </a:t>
                      </a:r>
                      <a:r>
                        <a:rPr lang="en-US" sz="1400" b="0" dirty="0">
                          <a:latin typeface="Times New Roman" panose="02020603050405020304" pitchFamily="18" charset="0"/>
                          <a:cs typeface="Times New Roman" panose="02020603050405020304" pitchFamily="18" charset="0"/>
                        </a:rPr>
                        <a:t>International Journal of Trend in Research and Development (IJTRD)</a:t>
                      </a:r>
                      <a:endParaRPr lang="en-IN" sz="1400" b="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Approach</a:t>
                      </a:r>
                      <a:r>
                        <a:rPr lang="en-US" sz="1400" dirty="0">
                          <a:latin typeface="Times New Roman" panose="02020603050405020304" pitchFamily="18" charset="0"/>
                          <a:cs typeface="Times New Roman" panose="02020603050405020304" pitchFamily="18" charset="0"/>
                        </a:rPr>
                        <a:t>: Explored integration of AI techniques into operating systems using methods like fuzzy logic, expert systems, neural networks, and pattern recognition.</a:t>
                      </a:r>
                    </a:p>
                    <a:p>
                      <a:r>
                        <a:rPr lang="en-US" sz="1400" b="1" dirty="0">
                          <a:latin typeface="Times New Roman" panose="02020603050405020304" pitchFamily="18" charset="0"/>
                          <a:cs typeface="Times New Roman" panose="02020603050405020304" pitchFamily="18" charset="0"/>
                        </a:rPr>
                        <a:t>Features Implemented</a:t>
                      </a:r>
                      <a:r>
                        <a:rPr lang="en-US" sz="1400" dirty="0">
                          <a:latin typeface="Times New Roman" panose="02020603050405020304" pitchFamily="18" charset="0"/>
                          <a:cs typeface="Times New Roman" panose="02020603050405020304" pitchFamily="18" charset="0"/>
                        </a:rPr>
                        <a:t>: Smart process and memory management.</a:t>
                      </a:r>
                    </a:p>
                    <a:p>
                      <a:r>
                        <a:rPr lang="en-US" sz="1400" dirty="0">
                          <a:latin typeface="Times New Roman" panose="02020603050405020304" pitchFamily="18" charset="0"/>
                          <a:cs typeface="Times New Roman" panose="02020603050405020304" pitchFamily="18" charset="0"/>
                        </a:rPr>
                        <a:t>Prediction and optimization of resources.</a:t>
                      </a:r>
                    </a:p>
                    <a:p>
                      <a:r>
                        <a:rPr lang="en-US" sz="1400" dirty="0">
                          <a:latin typeface="Times New Roman" panose="02020603050405020304" pitchFamily="18" charset="0"/>
                          <a:cs typeface="Times New Roman" panose="02020603050405020304" pitchFamily="18" charset="0"/>
                        </a:rPr>
                        <a:t>Self-healing capabilities to combat viruses and maintain OS performance.</a:t>
                      </a:r>
                    </a:p>
                    <a:p>
                      <a:r>
                        <a:rPr lang="en-US" sz="1400" dirty="0">
                          <a:latin typeface="Times New Roman" panose="02020603050405020304" pitchFamily="18" charset="0"/>
                          <a:cs typeface="Times New Roman" panose="02020603050405020304" pitchFamily="18" charset="0"/>
                        </a:rPr>
                        <a:t>AI integration for advanced user interactions, including natural language processing (NLP).</a:t>
                      </a:r>
                    </a:p>
                    <a:p>
                      <a:r>
                        <a:rPr lang="en-US" sz="1400" b="1" dirty="0">
                          <a:latin typeface="Times New Roman" panose="02020603050405020304" pitchFamily="18" charset="0"/>
                          <a:cs typeface="Times New Roman" panose="02020603050405020304" pitchFamily="18" charset="0"/>
                        </a:rPr>
                        <a:t>Applications Studied</a:t>
                      </a:r>
                      <a:r>
                        <a:rPr lang="en-US" sz="1400" dirty="0">
                          <a:latin typeface="Times New Roman" panose="02020603050405020304" pitchFamily="18" charset="0"/>
                          <a:cs typeface="Times New Roman" panose="02020603050405020304" pitchFamily="18" charset="0"/>
                        </a:rPr>
                        <a:t>: Analysis of existing projects like </a:t>
                      </a:r>
                      <a:r>
                        <a:rPr lang="en-US" sz="1400" dirty="0" err="1">
                          <a:latin typeface="Times New Roman" panose="02020603050405020304" pitchFamily="18" charset="0"/>
                          <a:cs typeface="Times New Roman" panose="02020603050405020304" pitchFamily="18" charset="0"/>
                        </a:rPr>
                        <a:t>NeurOS</a:t>
                      </a:r>
                      <a:r>
                        <a:rPr lang="en-US" sz="1400" dirty="0">
                          <a:latin typeface="Times New Roman" panose="02020603050405020304" pitchFamily="18" charset="0"/>
                          <a:cs typeface="Times New Roman" panose="02020603050405020304" pitchFamily="18" charset="0"/>
                        </a:rPr>
                        <a:t>, Cognition, and </a:t>
                      </a:r>
                      <a:r>
                        <a:rPr lang="en-US" sz="1400" dirty="0" err="1">
                          <a:latin typeface="Times New Roman" panose="02020603050405020304" pitchFamily="18" charset="0"/>
                          <a:cs typeface="Times New Roman" panose="02020603050405020304" pitchFamily="18" charset="0"/>
                        </a:rPr>
                        <a:t>Algorithmia’s</a:t>
                      </a:r>
                      <a:r>
                        <a:rPr lang="en-US" sz="1400" dirty="0">
                          <a:latin typeface="Times New Roman" panose="02020603050405020304" pitchFamily="18" charset="0"/>
                          <a:cs typeface="Times New Roman" panose="02020603050405020304" pitchFamily="18" charset="0"/>
                        </a:rPr>
                        <a:t> AI OS.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Privacy Concerns</a:t>
                      </a:r>
                      <a:r>
                        <a:rPr lang="en-US" sz="1400" dirty="0">
                          <a:latin typeface="Times New Roman" panose="02020603050405020304" pitchFamily="18" charset="0"/>
                          <a:cs typeface="Times New Roman" panose="02020603050405020304" pitchFamily="18" charset="0"/>
                        </a:rPr>
                        <a:t>: AI can process sensitive data (e.g., emails, messages), raising potential security risks.</a:t>
                      </a:r>
                    </a:p>
                    <a:p>
                      <a:r>
                        <a:rPr lang="en-US" sz="1400" b="1" dirty="0">
                          <a:latin typeface="Times New Roman" panose="02020603050405020304" pitchFamily="18" charset="0"/>
                          <a:cs typeface="Times New Roman" panose="02020603050405020304" pitchFamily="18" charset="0"/>
                        </a:rPr>
                        <a:t>High Costs</a:t>
                      </a:r>
                      <a:r>
                        <a:rPr lang="en-US" sz="1400" dirty="0">
                          <a:latin typeface="Times New Roman" panose="02020603050405020304" pitchFamily="18" charset="0"/>
                          <a:cs typeface="Times New Roman" panose="02020603050405020304" pitchFamily="18" charset="0"/>
                        </a:rPr>
                        <a:t>: Developing, maintaining, and repairing AI-driven systems is expensive.</a:t>
                      </a:r>
                    </a:p>
                    <a:p>
                      <a:r>
                        <a:rPr lang="en-US" sz="1400" b="1" dirty="0">
                          <a:latin typeface="Times New Roman" panose="02020603050405020304" pitchFamily="18" charset="0"/>
                          <a:cs typeface="Times New Roman" panose="02020603050405020304" pitchFamily="18" charset="0"/>
                        </a:rPr>
                        <a:t>Performance Limitations</a:t>
                      </a:r>
                      <a:r>
                        <a:rPr lang="en-US" sz="1400" dirty="0">
                          <a:latin typeface="Times New Roman" panose="02020603050405020304" pitchFamily="18" charset="0"/>
                          <a:cs typeface="Times New Roman" panose="02020603050405020304" pitchFamily="18" charset="0"/>
                        </a:rPr>
                        <a:t>: Computational requirements for AI processes may slow down the OS, especially in storage and processing-heavy tasks.</a:t>
                      </a:r>
                    </a:p>
                    <a:p>
                      <a:r>
                        <a:rPr lang="en-US" sz="1400" b="1" dirty="0">
                          <a:latin typeface="Times New Roman" panose="02020603050405020304" pitchFamily="18" charset="0"/>
                          <a:cs typeface="Times New Roman" panose="02020603050405020304" pitchFamily="18" charset="0"/>
                        </a:rPr>
                        <a:t>Dependence on AI</a:t>
                      </a:r>
                      <a:r>
                        <a:rPr lang="en-US" sz="1400" dirty="0">
                          <a:latin typeface="Times New Roman" panose="02020603050405020304" pitchFamily="18" charset="0"/>
                          <a:cs typeface="Times New Roman" panose="02020603050405020304" pitchFamily="18" charset="0"/>
                        </a:rPr>
                        <a:t>: Over-reliance on AI systems can lead to user complacency and diminished human engagement in problem-solving.</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0105012"/>
                  </a:ext>
                </a:extLst>
              </a:tr>
            </a:tbl>
          </a:graphicData>
        </a:graphic>
      </p:graphicFrame>
      <p:sp>
        <p:nvSpPr>
          <p:cNvPr id="3" name="Rectangle 2">
            <a:extLst>
              <a:ext uri="{FF2B5EF4-FFF2-40B4-BE49-F238E27FC236}">
                <a16:creationId xmlns:a16="http://schemas.microsoft.com/office/drawing/2014/main" id="{AED57AEA-89BE-E5CB-57B0-743F59EFDB3F}"/>
              </a:ext>
            </a:extLst>
          </p:cNvPr>
          <p:cNvSpPr>
            <a:spLocks noChangeArrowheads="1"/>
          </p:cNvSpPr>
          <p:nvPr/>
        </p:nvSpPr>
        <p:spPr bwMode="auto">
          <a:xfrm>
            <a:off x="3048000" y="1268760"/>
            <a:ext cx="7620000" cy="36513"/>
          </a:xfrm>
          <a:prstGeom prst="rect">
            <a:avLst/>
          </a:prstGeom>
          <a:solidFill>
            <a:srgbClr val="33CCCC"/>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3214261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7142F-CFDD-C775-F0BE-0FA14AB4D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3AC85-A273-A8AF-C9CE-E31AB41FE865}"/>
              </a:ext>
            </a:extLst>
          </p:cNvPr>
          <p:cNvSpPr>
            <a:spLocks noGrp="1"/>
          </p:cNvSpPr>
          <p:nvPr>
            <p:ph type="title"/>
          </p:nvPr>
        </p:nvSpPr>
        <p:spPr>
          <a:xfrm>
            <a:off x="-24680" y="1196752"/>
            <a:ext cx="10515600" cy="853976"/>
          </a:xfrm>
        </p:spPr>
        <p:txBody>
          <a:bodyPr>
            <a:normAutofit fontScale="90000"/>
          </a:bodyPr>
          <a:lstStyle/>
          <a:p>
            <a:pPr algn="r"/>
            <a:r>
              <a:rPr lang="en-US" sz="2700" b="1" i="1" dirty="0">
                <a:solidFill>
                  <a:srgbClr val="FF0000"/>
                </a:solidFill>
                <a:latin typeface="Times New Roman" panose="02020603050405020304" pitchFamily="18" charset="0"/>
                <a:cs typeface="Times New Roman" panose="02020603050405020304" pitchFamily="18" charset="0"/>
              </a:rPr>
              <a:t>Literature Survey/Existing System</a:t>
            </a:r>
            <a:br>
              <a:rPr lang="en-US" sz="4400" b="1" i="1" dirty="0">
                <a:solidFill>
                  <a:srgbClr val="FF0000"/>
                </a:solidFill>
                <a:latin typeface="Times New Roman" panose="02020603050405020304" pitchFamily="18" charset="0"/>
                <a:cs typeface="Times New Roman" panose="02020603050405020304" pitchFamily="18" charset="0"/>
              </a:rPr>
            </a:br>
            <a:endParaRPr lang="en-IN" b="1" i="1" dirty="0">
              <a:latin typeface="Times New Roman" panose="02020603050405020304" pitchFamily="18" charset="0"/>
              <a:cs typeface="Times New Roman" panose="02020603050405020304" pitchFamily="18" charset="0"/>
            </a:endParaRPr>
          </a:p>
        </p:txBody>
      </p:sp>
      <p:graphicFrame>
        <p:nvGraphicFramePr>
          <p:cNvPr id="12" name="Content Placeholder 11">
            <a:extLst>
              <a:ext uri="{FF2B5EF4-FFF2-40B4-BE49-F238E27FC236}">
                <a16:creationId xmlns:a16="http://schemas.microsoft.com/office/drawing/2014/main" id="{140E4BD5-6FB1-B0F7-32CF-A578780A2FBC}"/>
              </a:ext>
            </a:extLst>
          </p:cNvPr>
          <p:cNvGraphicFramePr>
            <a:graphicFrameLocks noGrp="1"/>
          </p:cNvGraphicFramePr>
          <p:nvPr>
            <p:ph idx="1"/>
            <p:extLst>
              <p:ext uri="{D42A27DB-BD31-4B8C-83A1-F6EECF244321}">
                <p14:modId xmlns:p14="http://schemas.microsoft.com/office/powerpoint/2010/main" val="1241185326"/>
              </p:ext>
            </p:extLst>
          </p:nvPr>
        </p:nvGraphicFramePr>
        <p:xfrm>
          <a:off x="335360" y="1825625"/>
          <a:ext cx="11521280" cy="472440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087742061"/>
                    </a:ext>
                  </a:extLst>
                </a:gridCol>
                <a:gridCol w="1097615">
                  <a:extLst>
                    <a:ext uri="{9D8B030D-6E8A-4147-A177-3AD203B41FA5}">
                      <a16:colId xmlns:a16="http://schemas.microsoft.com/office/drawing/2014/main" val="4035573503"/>
                    </a:ext>
                  </a:extLst>
                </a:gridCol>
                <a:gridCol w="2474088">
                  <a:extLst>
                    <a:ext uri="{9D8B030D-6E8A-4147-A177-3AD203B41FA5}">
                      <a16:colId xmlns:a16="http://schemas.microsoft.com/office/drawing/2014/main" val="1731938168"/>
                    </a:ext>
                  </a:extLst>
                </a:gridCol>
                <a:gridCol w="2474088">
                  <a:extLst>
                    <a:ext uri="{9D8B030D-6E8A-4147-A177-3AD203B41FA5}">
                      <a16:colId xmlns:a16="http://schemas.microsoft.com/office/drawing/2014/main" val="1304002562"/>
                    </a:ext>
                  </a:extLst>
                </a:gridCol>
                <a:gridCol w="3171233">
                  <a:extLst>
                    <a:ext uri="{9D8B030D-6E8A-4147-A177-3AD203B41FA5}">
                      <a16:colId xmlns:a16="http://schemas.microsoft.com/office/drawing/2014/main" val="2881697885"/>
                    </a:ext>
                  </a:extLst>
                </a:gridCol>
              </a:tblGrid>
              <a:tr h="123711">
                <a:tc>
                  <a:txBody>
                    <a:bodyPr/>
                    <a:lstStyle/>
                    <a:p>
                      <a:r>
                        <a:rPr lang="en-IN" sz="1600" dirty="0">
                          <a:latin typeface="Times New Roman" panose="02020603050405020304" pitchFamily="18" charset="0"/>
                          <a:cs typeface="Times New Roman" panose="02020603050405020304" pitchFamily="18" charset="0"/>
                        </a:rPr>
                        <a:t>Title &amp; Author Name</a:t>
                      </a:r>
                    </a:p>
                  </a:txBody>
                  <a:tcPr/>
                </a:tc>
                <a:tc>
                  <a:txBody>
                    <a:bodyPr/>
                    <a:lstStyle/>
                    <a:p>
                      <a:r>
                        <a:rPr lang="en-IN" sz="1600" dirty="0">
                          <a:latin typeface="Times New Roman" panose="02020603050405020304" pitchFamily="18" charset="0"/>
                          <a:cs typeface="Times New Roman" panose="02020603050405020304" pitchFamily="18" charset="0"/>
                        </a:rPr>
                        <a:t>Year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CONFERENCE NAME</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METHODOLOGY USED</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DRAWBACKS</a:t>
                      </a: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926523"/>
                  </a:ext>
                </a:extLst>
              </a:tr>
              <a:tr h="370840">
                <a:tc>
                  <a:txBody>
                    <a:bodyPr/>
                    <a:lstStyle/>
                    <a:p>
                      <a:r>
                        <a:rPr lang="en-US" sz="1400" dirty="0">
                          <a:latin typeface="Times New Roman" panose="02020603050405020304" pitchFamily="18" charset="0"/>
                          <a:cs typeface="Times New Roman" panose="02020603050405020304" pitchFamily="18" charset="0"/>
                        </a:rPr>
                        <a:t>Artificially Intelligent Operating System with SAPI5 Voice Recognition Engine</a:t>
                      </a:r>
                    </a:p>
                    <a:p>
                      <a:endParaRPr lang="en-US" sz="1400" dirty="0">
                        <a:latin typeface="Times New Roman" panose="02020603050405020304" pitchFamily="18" charset="0"/>
                        <a:cs typeface="Times New Roman" panose="02020603050405020304" pitchFamily="18" charset="0"/>
                      </a:endParaRPr>
                    </a:p>
                    <a:p>
                      <a:r>
                        <a:rPr lang="en-IN" sz="1400" b="1" dirty="0" err="1">
                          <a:latin typeface="Times New Roman" panose="02020603050405020304" pitchFamily="18" charset="0"/>
                          <a:cs typeface="Times New Roman" panose="02020603050405020304" pitchFamily="18" charset="0"/>
                        </a:rPr>
                        <a:t>Dr.</a:t>
                      </a:r>
                      <a:r>
                        <a:rPr lang="en-IN" sz="1400" b="1" dirty="0">
                          <a:latin typeface="Times New Roman" panose="02020603050405020304" pitchFamily="18" charset="0"/>
                          <a:cs typeface="Times New Roman" panose="02020603050405020304" pitchFamily="18" charset="0"/>
                        </a:rPr>
                        <a:t> Sumathi </a:t>
                      </a:r>
                      <a:r>
                        <a:rPr lang="en-IN" sz="1400" b="1" dirty="0" err="1">
                          <a:latin typeface="Times New Roman" panose="02020603050405020304" pitchFamily="18" charset="0"/>
                          <a:cs typeface="Times New Roman" panose="02020603050405020304" pitchFamily="18" charset="0"/>
                        </a:rPr>
                        <a:t>S.Nivetha</a:t>
                      </a:r>
                      <a:r>
                        <a:rPr lang="en-IN" sz="1400" b="1" dirty="0">
                          <a:latin typeface="Times New Roman" panose="02020603050405020304" pitchFamily="18" charset="0"/>
                          <a:cs typeface="Times New Roman" panose="02020603050405020304" pitchFamily="18" charset="0"/>
                        </a:rPr>
                        <a:t> </a:t>
                      </a:r>
                      <a:r>
                        <a:rPr lang="en-IN" sz="1400" b="1" dirty="0" err="1">
                          <a:latin typeface="Times New Roman" panose="02020603050405020304" pitchFamily="18" charset="0"/>
                          <a:cs typeface="Times New Roman" panose="02020603050405020304" pitchFamily="18" charset="0"/>
                        </a:rPr>
                        <a:t>N.Princy</a:t>
                      </a:r>
                      <a:r>
                        <a:rPr lang="en-IN" sz="1400" b="1" dirty="0">
                          <a:latin typeface="Times New Roman" panose="02020603050405020304" pitchFamily="18" charset="0"/>
                          <a:cs typeface="Times New Roman" panose="02020603050405020304" pitchFamily="18" charset="0"/>
                        </a:rPr>
                        <a:t> Jovita J.</a:t>
                      </a:r>
                      <a:endParaRPr lang="en-US" sz="1400" b="1"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2023</a:t>
                      </a:r>
                    </a:p>
                  </a:txBody>
                  <a:tcPr/>
                </a:tc>
                <a:tc>
                  <a:txBody>
                    <a:bodyPr/>
                    <a:lstStyle/>
                    <a:p>
                      <a:r>
                        <a:rPr lang="en-US" sz="1400" dirty="0">
                          <a:latin typeface="Times New Roman" panose="02020603050405020304" pitchFamily="18" charset="0"/>
                          <a:cs typeface="Times New Roman" panose="02020603050405020304" pitchFamily="18" charset="0"/>
                        </a:rPr>
                        <a:t>9th International Conference on Smart Computing and Communications (ICSCC)</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Speech Recognition</a:t>
                      </a:r>
                      <a:r>
                        <a:rPr lang="en-US" sz="1400" dirty="0">
                          <a:latin typeface="Times New Roman" panose="02020603050405020304" pitchFamily="18" charset="0"/>
                          <a:cs typeface="Times New Roman" panose="02020603050405020304" pitchFamily="18" charset="0"/>
                        </a:rPr>
                        <a:t>: Utilizes SAPI5 (Microsoft Speech API5) for recognizing user input through voice and converting it into text.</a:t>
                      </a:r>
                    </a:p>
                    <a:p>
                      <a:r>
                        <a:rPr lang="en-US" sz="1400" b="1" dirty="0">
                          <a:latin typeface="Times New Roman" panose="02020603050405020304" pitchFamily="18" charset="0"/>
                          <a:cs typeface="Times New Roman" panose="02020603050405020304" pitchFamily="18" charset="0"/>
                        </a:rPr>
                        <a:t>Text-to-Speech Conversion</a:t>
                      </a:r>
                      <a:r>
                        <a:rPr lang="en-US" sz="1400" dirty="0">
                          <a:latin typeface="Times New Roman" panose="02020603050405020304" pitchFamily="18" charset="0"/>
                          <a:cs typeface="Times New Roman" panose="02020603050405020304" pitchFamily="18" charset="0"/>
                        </a:rPr>
                        <a:t>: Uses the pyttsx3 library to convert text into audio outputs</a:t>
                      </a:r>
                    </a:p>
                    <a:p>
                      <a:r>
                        <a:rPr lang="en-US" sz="1400" b="1" dirty="0">
                          <a:latin typeface="Times New Roman" panose="02020603050405020304" pitchFamily="18" charset="0"/>
                          <a:cs typeface="Times New Roman" panose="02020603050405020304" pitchFamily="18" charset="0"/>
                        </a:rPr>
                        <a:t>Input Matching</a:t>
                      </a:r>
                      <a:r>
                        <a:rPr lang="en-US" sz="1400" dirty="0">
                          <a:latin typeface="Times New Roman" panose="02020603050405020304" pitchFamily="18" charset="0"/>
                          <a:cs typeface="Times New Roman" panose="02020603050405020304" pitchFamily="18" charset="0"/>
                        </a:rPr>
                        <a:t>: Data is fetched from sources like Wikipedia, YouTube, and Google based on user requests</a:t>
                      </a:r>
                    </a:p>
                    <a:p>
                      <a:r>
                        <a:rPr lang="en-US" sz="1400" b="1" dirty="0">
                          <a:latin typeface="Times New Roman" panose="02020603050405020304" pitchFamily="18" charset="0"/>
                          <a:cs typeface="Times New Roman" panose="02020603050405020304" pitchFamily="18" charset="0"/>
                        </a:rPr>
                        <a:t>System </a:t>
                      </a:r>
                      <a:r>
                        <a:rPr lang="en-US" sz="1400" b="1" dirty="0" err="1">
                          <a:latin typeface="Times New Roman" panose="02020603050405020304" pitchFamily="18" charset="0"/>
                          <a:cs typeface="Times New Roman" panose="02020603050405020304" pitchFamily="18" charset="0"/>
                        </a:rPr>
                        <a:t>Architecture</a:t>
                      </a:r>
                      <a:r>
                        <a:rPr lang="en-US" sz="1400" dirty="0" err="1">
                          <a:latin typeface="Times New Roman" panose="02020603050405020304" pitchFamily="18" charset="0"/>
                          <a:cs typeface="Times New Roman" panose="02020603050405020304" pitchFamily="18" charset="0"/>
                        </a:rPr>
                        <a:t>:Processes</a:t>
                      </a:r>
                      <a:r>
                        <a:rPr lang="en-US" sz="1400" dirty="0">
                          <a:latin typeface="Times New Roman" panose="02020603050405020304" pitchFamily="18" charset="0"/>
                          <a:cs typeface="Times New Roman" panose="02020603050405020304" pitchFamily="18" charset="0"/>
                        </a:rPr>
                        <a:t> real-time user voice inputs.</a:t>
                      </a:r>
                    </a:p>
                    <a:p>
                      <a:r>
                        <a:rPr lang="en-US" sz="1400" dirty="0">
                          <a:latin typeface="Times New Roman" panose="02020603050405020304" pitchFamily="18" charset="0"/>
                          <a:cs typeface="Times New Roman" panose="02020603050405020304" pitchFamily="18" charset="0"/>
                        </a:rPr>
                        <a:t>Matches inputs to database entries for outputs.</a:t>
                      </a:r>
                    </a:p>
                    <a:p>
                      <a:r>
                        <a:rPr lang="en-US" sz="1400" dirty="0">
                          <a:latin typeface="Times New Roman" panose="02020603050405020304" pitchFamily="18" charset="0"/>
                          <a:cs typeface="Times New Roman" panose="02020603050405020304" pitchFamily="18" charset="0"/>
                        </a:rPr>
                        <a:t>Provides results in both textual and spoken forms.</a:t>
                      </a: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Accuracy</a:t>
                      </a:r>
                      <a:r>
                        <a:rPr lang="en-US" sz="1400" dirty="0">
                          <a:latin typeface="Times New Roman" panose="02020603050405020304" pitchFamily="18" charset="0"/>
                          <a:cs typeface="Times New Roman" panose="02020603050405020304" pitchFamily="18" charset="0"/>
                        </a:rPr>
                        <a:t>: Approximately 70–80% accuracy due to potential noise interference.</a:t>
                      </a:r>
                    </a:p>
                    <a:p>
                      <a:r>
                        <a:rPr lang="en-US" sz="1400" b="1" dirty="0">
                          <a:latin typeface="Times New Roman" panose="02020603050405020304" pitchFamily="18" charset="0"/>
                          <a:cs typeface="Times New Roman" panose="02020603050405020304" pitchFamily="18" charset="0"/>
                        </a:rPr>
                        <a:t>Error Rate</a:t>
                      </a:r>
                      <a:r>
                        <a:rPr lang="en-US" sz="1400" dirty="0">
                          <a:latin typeface="Times New Roman" panose="02020603050405020304" pitchFamily="18" charset="0"/>
                          <a:cs typeface="Times New Roman" panose="02020603050405020304" pitchFamily="18" charset="0"/>
                        </a:rPr>
                        <a:t>: Voice recognition error rate stands at 10%, while text-to-speech has a 5% error rate.</a:t>
                      </a:r>
                    </a:p>
                    <a:p>
                      <a:r>
                        <a:rPr lang="en-US" sz="1400" b="1" dirty="0">
                          <a:latin typeface="Times New Roman" panose="02020603050405020304" pitchFamily="18" charset="0"/>
                          <a:cs typeface="Times New Roman" panose="02020603050405020304" pitchFamily="18" charset="0"/>
                        </a:rPr>
                        <a:t>Background Noise Sensitivity</a:t>
                      </a:r>
                      <a:r>
                        <a:rPr lang="en-US" sz="1400" dirty="0">
                          <a:latin typeface="Times New Roman" panose="02020603050405020304" pitchFamily="18" charset="0"/>
                          <a:cs typeface="Times New Roman" panose="02020603050405020304" pitchFamily="18" charset="0"/>
                        </a:rPr>
                        <a:t>: Performance affected by ambient noise.</a:t>
                      </a:r>
                    </a:p>
                    <a:p>
                      <a:r>
                        <a:rPr lang="en-US" sz="1400" b="1" dirty="0">
                          <a:latin typeface="Times New Roman" panose="02020603050405020304" pitchFamily="18" charset="0"/>
                          <a:cs typeface="Times New Roman" panose="02020603050405020304" pitchFamily="18" charset="0"/>
                        </a:rPr>
                        <a:t>Response Time</a:t>
                      </a:r>
                      <a:r>
                        <a:rPr lang="en-US" sz="1400" dirty="0">
                          <a:latin typeface="Times New Roman" panose="02020603050405020304" pitchFamily="18" charset="0"/>
                          <a:cs typeface="Times New Roman" panose="02020603050405020304" pitchFamily="18" charset="0"/>
                        </a:rPr>
                        <a:t>: Average of 250 </a:t>
                      </a:r>
                      <a:r>
                        <a:rPr lang="en-US" sz="1400" dirty="0" err="1">
                          <a:latin typeface="Times New Roman" panose="02020603050405020304" pitchFamily="18" charset="0"/>
                          <a:cs typeface="Times New Roman" panose="02020603050405020304" pitchFamily="18" charset="0"/>
                        </a:rPr>
                        <a:t>ms</a:t>
                      </a:r>
                      <a:r>
                        <a:rPr lang="en-US" sz="1400" dirty="0">
                          <a:latin typeface="Times New Roman" panose="02020603050405020304" pitchFamily="18" charset="0"/>
                          <a:cs typeface="Times New Roman" panose="02020603050405020304" pitchFamily="18" charset="0"/>
                        </a:rPr>
                        <a:t>, which might delay real-time critical applications.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0105012"/>
                  </a:ext>
                </a:extLst>
              </a:tr>
            </a:tbl>
          </a:graphicData>
        </a:graphic>
      </p:graphicFrame>
      <p:sp>
        <p:nvSpPr>
          <p:cNvPr id="3" name="Rectangle 2">
            <a:extLst>
              <a:ext uri="{FF2B5EF4-FFF2-40B4-BE49-F238E27FC236}">
                <a16:creationId xmlns:a16="http://schemas.microsoft.com/office/drawing/2014/main" id="{CB7DBB9C-D841-7B5A-FE3F-C6C131318739}"/>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3244656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8B0A9-3EC2-D48E-D064-B48EB2892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2B8148-BF26-CEB8-382D-77F6E2EC645F}"/>
              </a:ext>
            </a:extLst>
          </p:cNvPr>
          <p:cNvSpPr>
            <a:spLocks noGrp="1"/>
          </p:cNvSpPr>
          <p:nvPr>
            <p:ph type="title"/>
          </p:nvPr>
        </p:nvSpPr>
        <p:spPr>
          <a:xfrm>
            <a:off x="-24680" y="1196752"/>
            <a:ext cx="10515600" cy="853976"/>
          </a:xfrm>
        </p:spPr>
        <p:txBody>
          <a:bodyPr>
            <a:normAutofit fontScale="90000"/>
          </a:bodyPr>
          <a:lstStyle/>
          <a:p>
            <a:pPr algn="r"/>
            <a:r>
              <a:rPr lang="en-US" sz="2700" b="1" i="1" dirty="0">
                <a:solidFill>
                  <a:srgbClr val="FF0000"/>
                </a:solidFill>
                <a:latin typeface="Times New Roman" panose="02020603050405020304" pitchFamily="18" charset="0"/>
                <a:cs typeface="Times New Roman" panose="02020603050405020304" pitchFamily="18" charset="0"/>
              </a:rPr>
              <a:t>Literature Survey/Existing System</a:t>
            </a:r>
            <a:br>
              <a:rPr lang="en-US" sz="4400" b="1" i="1" dirty="0">
                <a:solidFill>
                  <a:srgbClr val="FF0000"/>
                </a:solidFill>
                <a:latin typeface="Times New Roman" panose="02020603050405020304" pitchFamily="18" charset="0"/>
                <a:cs typeface="Times New Roman" panose="02020603050405020304" pitchFamily="18" charset="0"/>
              </a:rPr>
            </a:br>
            <a:endParaRPr lang="en-IN" b="1" i="1" dirty="0">
              <a:latin typeface="Times New Roman" panose="02020603050405020304" pitchFamily="18" charset="0"/>
              <a:cs typeface="Times New Roman" panose="02020603050405020304" pitchFamily="18" charset="0"/>
            </a:endParaRPr>
          </a:p>
        </p:txBody>
      </p:sp>
      <p:graphicFrame>
        <p:nvGraphicFramePr>
          <p:cNvPr id="12" name="Content Placeholder 11">
            <a:extLst>
              <a:ext uri="{FF2B5EF4-FFF2-40B4-BE49-F238E27FC236}">
                <a16:creationId xmlns:a16="http://schemas.microsoft.com/office/drawing/2014/main" id="{676FAF3B-F534-176E-6C11-5736176A11BB}"/>
              </a:ext>
            </a:extLst>
          </p:cNvPr>
          <p:cNvGraphicFramePr>
            <a:graphicFrameLocks noGrp="1"/>
          </p:cNvGraphicFramePr>
          <p:nvPr>
            <p:ph idx="1"/>
            <p:extLst>
              <p:ext uri="{D42A27DB-BD31-4B8C-83A1-F6EECF244321}">
                <p14:modId xmlns:p14="http://schemas.microsoft.com/office/powerpoint/2010/main" val="2004581825"/>
              </p:ext>
            </p:extLst>
          </p:nvPr>
        </p:nvGraphicFramePr>
        <p:xfrm>
          <a:off x="335360" y="1700808"/>
          <a:ext cx="11521280" cy="493776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087742061"/>
                    </a:ext>
                  </a:extLst>
                </a:gridCol>
                <a:gridCol w="1097615">
                  <a:extLst>
                    <a:ext uri="{9D8B030D-6E8A-4147-A177-3AD203B41FA5}">
                      <a16:colId xmlns:a16="http://schemas.microsoft.com/office/drawing/2014/main" val="4035573503"/>
                    </a:ext>
                  </a:extLst>
                </a:gridCol>
                <a:gridCol w="2474088">
                  <a:extLst>
                    <a:ext uri="{9D8B030D-6E8A-4147-A177-3AD203B41FA5}">
                      <a16:colId xmlns:a16="http://schemas.microsoft.com/office/drawing/2014/main" val="1731938168"/>
                    </a:ext>
                  </a:extLst>
                </a:gridCol>
                <a:gridCol w="2474088">
                  <a:extLst>
                    <a:ext uri="{9D8B030D-6E8A-4147-A177-3AD203B41FA5}">
                      <a16:colId xmlns:a16="http://schemas.microsoft.com/office/drawing/2014/main" val="1304002562"/>
                    </a:ext>
                  </a:extLst>
                </a:gridCol>
                <a:gridCol w="3171233">
                  <a:extLst>
                    <a:ext uri="{9D8B030D-6E8A-4147-A177-3AD203B41FA5}">
                      <a16:colId xmlns:a16="http://schemas.microsoft.com/office/drawing/2014/main" val="2881697885"/>
                    </a:ext>
                  </a:extLst>
                </a:gridCol>
              </a:tblGrid>
              <a:tr h="123711">
                <a:tc>
                  <a:txBody>
                    <a:bodyPr/>
                    <a:lstStyle/>
                    <a:p>
                      <a:r>
                        <a:rPr lang="en-IN" sz="1600" dirty="0">
                          <a:latin typeface="Times New Roman" panose="02020603050405020304" pitchFamily="18" charset="0"/>
                          <a:cs typeface="Times New Roman" panose="02020603050405020304" pitchFamily="18" charset="0"/>
                        </a:rPr>
                        <a:t>Title &amp; Author Name</a:t>
                      </a:r>
                    </a:p>
                  </a:txBody>
                  <a:tcPr/>
                </a:tc>
                <a:tc>
                  <a:txBody>
                    <a:bodyPr/>
                    <a:lstStyle/>
                    <a:p>
                      <a:r>
                        <a:rPr lang="en-IN" sz="1600" dirty="0">
                          <a:latin typeface="Times New Roman" panose="02020603050405020304" pitchFamily="18" charset="0"/>
                          <a:cs typeface="Times New Roman" panose="02020603050405020304" pitchFamily="18" charset="0"/>
                        </a:rPr>
                        <a:t>Year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CONFERENCE NAME</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METHODOLOGY USED</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DRAWBACKS</a:t>
                      </a: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926523"/>
                  </a:ext>
                </a:extLst>
              </a:tr>
              <a:tr h="370840">
                <a:tc>
                  <a:txBody>
                    <a:bodyPr/>
                    <a:lstStyle/>
                    <a:p>
                      <a:r>
                        <a:rPr lang="en-US" sz="1400" dirty="0">
                          <a:latin typeface="Times New Roman" panose="02020603050405020304" pitchFamily="18" charset="0"/>
                          <a:cs typeface="Times New Roman" panose="02020603050405020304" pitchFamily="18" charset="0"/>
                        </a:rPr>
                        <a:t>OS Agents: Using AI Techniques in the Operating System Environment</a:t>
                      </a:r>
                    </a:p>
                    <a:p>
                      <a:endParaRPr lang="en-US"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Oren Etzioni</a:t>
                      </a:r>
                    </a:p>
                    <a:p>
                      <a:r>
                        <a:rPr lang="en-IN" sz="1400" b="1" dirty="0">
                          <a:latin typeface="Times New Roman" panose="02020603050405020304" pitchFamily="18" charset="0"/>
                          <a:cs typeface="Times New Roman" panose="02020603050405020304" pitchFamily="18" charset="0"/>
                        </a:rPr>
                        <a:t>Henry M. Levy</a:t>
                      </a:r>
                    </a:p>
                    <a:p>
                      <a:r>
                        <a:rPr lang="en-IN" sz="1400" b="1" dirty="0">
                          <a:latin typeface="Times New Roman" panose="02020603050405020304" pitchFamily="18" charset="0"/>
                          <a:cs typeface="Times New Roman" panose="02020603050405020304" pitchFamily="18" charset="0"/>
                        </a:rPr>
                        <a:t>Robert B. Segal</a:t>
                      </a:r>
                    </a:p>
                    <a:p>
                      <a:r>
                        <a:rPr lang="en-IN" sz="1400" b="1" dirty="0">
                          <a:latin typeface="Times New Roman" panose="02020603050405020304" pitchFamily="18" charset="0"/>
                          <a:cs typeface="Times New Roman" panose="02020603050405020304" pitchFamily="18" charset="0"/>
                        </a:rPr>
                        <a:t>Charles A. </a:t>
                      </a:r>
                      <a:r>
                        <a:rPr lang="en-IN" sz="1400" b="1" dirty="0" err="1">
                          <a:latin typeface="Times New Roman" panose="02020603050405020304" pitchFamily="18" charset="0"/>
                          <a:cs typeface="Times New Roman" panose="02020603050405020304" pitchFamily="18" charset="0"/>
                        </a:rPr>
                        <a:t>Thekkath</a:t>
                      </a:r>
                      <a:endParaRPr lang="en-US" sz="1400" b="1"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1993</a:t>
                      </a:r>
                    </a:p>
                  </a:txBody>
                  <a:tcPr/>
                </a:tc>
                <a:tc>
                  <a:txBody>
                    <a:bodyPr/>
                    <a:lstStyle/>
                    <a:p>
                      <a:r>
                        <a:rPr lang="en-US" sz="1400" dirty="0">
                          <a:latin typeface="Times New Roman" panose="02020603050405020304" pitchFamily="18" charset="0"/>
                          <a:cs typeface="Times New Roman" panose="02020603050405020304" pitchFamily="18" charset="0"/>
                        </a:rPr>
                        <a:t>Technical Report UW-CSE-93-04-04, University of Washington</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Goal-Oriented Interface</a:t>
                      </a:r>
                      <a:r>
                        <a:rPr lang="en-US" sz="1400" dirty="0">
                          <a:latin typeface="Times New Roman" panose="02020603050405020304" pitchFamily="18" charset="0"/>
                          <a:cs typeface="Times New Roman" panose="02020603050405020304" pitchFamily="18" charset="0"/>
                        </a:rPr>
                        <a:t>: Users specify goals instead of detailed steps, leaving execution to the OS agent.</a:t>
                      </a:r>
                    </a:p>
                    <a:p>
                      <a:r>
                        <a:rPr lang="en-US" sz="1400" b="1" dirty="0">
                          <a:latin typeface="Times New Roman" panose="02020603050405020304" pitchFamily="18" charset="0"/>
                          <a:cs typeface="Times New Roman" panose="02020603050405020304" pitchFamily="18" charset="0"/>
                        </a:rPr>
                        <a:t>Dynamic Planning</a:t>
                      </a:r>
                      <a:r>
                        <a:rPr lang="en-US" sz="1400" dirty="0">
                          <a:latin typeface="Times New Roman" panose="02020603050405020304" pitchFamily="18" charset="0"/>
                          <a:cs typeface="Times New Roman" panose="02020603050405020304" pitchFamily="18" charset="0"/>
                        </a:rPr>
                        <a:t>: AI dynamically generates command sequences based on goals and system states.</a:t>
                      </a:r>
                    </a:p>
                    <a:p>
                      <a:r>
                        <a:rPr lang="en-US" sz="1400" b="1" dirty="0">
                          <a:latin typeface="Times New Roman" panose="02020603050405020304" pitchFamily="18" charset="0"/>
                          <a:cs typeface="Times New Roman" panose="02020603050405020304" pitchFamily="18" charset="0"/>
                        </a:rPr>
                        <a:t>Learning and Adaptation</a:t>
                      </a:r>
                      <a:r>
                        <a:rPr lang="en-US" sz="1400" dirty="0">
                          <a:latin typeface="Times New Roman" panose="02020603050405020304" pitchFamily="18" charset="0"/>
                          <a:cs typeface="Times New Roman" panose="02020603050405020304" pitchFamily="18" charset="0"/>
                        </a:rPr>
                        <a:t>: Machine learning personalizes and improves agent behavior over time.</a:t>
                      </a:r>
                    </a:p>
                    <a:p>
                      <a:r>
                        <a:rPr lang="en-US" sz="1400" b="1" dirty="0">
                          <a:latin typeface="Times New Roman" panose="02020603050405020304" pitchFamily="18" charset="0"/>
                          <a:cs typeface="Times New Roman" panose="02020603050405020304" pitchFamily="18" charset="0"/>
                        </a:rPr>
                        <a:t>Core Modules</a:t>
                      </a:r>
                      <a:r>
                        <a:rPr lang="en-US" sz="1400" dirty="0">
                          <a:latin typeface="Times New Roman" panose="02020603050405020304" pitchFamily="18" charset="0"/>
                          <a:cs typeface="Times New Roman" panose="02020603050405020304" pitchFamily="18" charset="0"/>
                        </a:rPr>
                        <a:t>: Modular design splits functionality across goal management, planning, and execution.</a:t>
                      </a:r>
                    </a:p>
                    <a:p>
                      <a:r>
                        <a:rPr lang="en-US" sz="1400" b="1" dirty="0">
                          <a:latin typeface="Times New Roman" panose="02020603050405020304" pitchFamily="18" charset="0"/>
                          <a:cs typeface="Times New Roman" panose="02020603050405020304" pitchFamily="18" charset="0"/>
                        </a:rPr>
                        <a:t>Distributed Environment</a:t>
                      </a:r>
                      <a:r>
                        <a:rPr lang="en-US" sz="1400" dirty="0">
                          <a:latin typeface="Times New Roman" panose="02020603050405020304" pitchFamily="18" charset="0"/>
                          <a:cs typeface="Times New Roman" panose="02020603050405020304" pitchFamily="18" charset="0"/>
                        </a:rPr>
                        <a:t>: Implemented for operation across distributed and heterogeneous Unix systems.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Ambiguity in User Requests</a:t>
                      </a:r>
                      <a:r>
                        <a:rPr lang="en-US" sz="1400" dirty="0">
                          <a:latin typeface="Times New Roman" panose="02020603050405020304" pitchFamily="18" charset="0"/>
                          <a:cs typeface="Times New Roman" panose="02020603050405020304" pitchFamily="18" charset="0"/>
                        </a:rPr>
                        <a:t>: High-level goals can be unclear, leading to potential misinterpretation.</a:t>
                      </a:r>
                    </a:p>
                    <a:p>
                      <a:r>
                        <a:rPr lang="en-US" sz="1400" b="1" dirty="0">
                          <a:latin typeface="Times New Roman" panose="02020603050405020304" pitchFamily="18" charset="0"/>
                          <a:cs typeface="Times New Roman" panose="02020603050405020304" pitchFamily="18" charset="0"/>
                        </a:rPr>
                        <a:t>Complexity of Planning</a:t>
                      </a:r>
                      <a:r>
                        <a:rPr lang="en-US" sz="1400" dirty="0">
                          <a:latin typeface="Times New Roman" panose="02020603050405020304" pitchFamily="18" charset="0"/>
                          <a:cs typeface="Times New Roman" panose="02020603050405020304" pitchFamily="18" charset="0"/>
                        </a:rPr>
                        <a:t>: Dynamic planning is computationally intensive for large system states.</a:t>
                      </a:r>
                    </a:p>
                    <a:p>
                      <a:r>
                        <a:rPr lang="en-US" sz="1400" b="1" dirty="0">
                          <a:latin typeface="Times New Roman" panose="02020603050405020304" pitchFamily="18" charset="0"/>
                          <a:cs typeface="Times New Roman" panose="02020603050405020304" pitchFamily="18" charset="0"/>
                        </a:rPr>
                        <a:t>Limited by Knowledge Base</a:t>
                      </a:r>
                      <a:r>
                        <a:rPr lang="en-US" sz="1400" dirty="0">
                          <a:latin typeface="Times New Roman" panose="02020603050405020304" pitchFamily="18" charset="0"/>
                          <a:cs typeface="Times New Roman" panose="02020603050405020304" pitchFamily="18" charset="0"/>
                        </a:rPr>
                        <a:t>: Effectiveness depends on the accuracy and scope of the knowledge base.</a:t>
                      </a:r>
                    </a:p>
                    <a:p>
                      <a:r>
                        <a:rPr lang="en-US" sz="1400" b="1" dirty="0">
                          <a:latin typeface="Times New Roman" panose="02020603050405020304" pitchFamily="18" charset="0"/>
                          <a:cs typeface="Times New Roman" panose="02020603050405020304" pitchFamily="18" charset="0"/>
                        </a:rPr>
                        <a:t>Dependency on AI Techniques</a:t>
                      </a:r>
                      <a:r>
                        <a:rPr lang="en-US" sz="1400" dirty="0">
                          <a:latin typeface="Times New Roman" panose="02020603050405020304" pitchFamily="18" charset="0"/>
                          <a:cs typeface="Times New Roman" panose="02020603050405020304" pitchFamily="18" charset="0"/>
                        </a:rPr>
                        <a:t>: Relies on the quality of AI algorithms for efficient operation.</a:t>
                      </a:r>
                    </a:p>
                    <a:p>
                      <a:r>
                        <a:rPr lang="en-US" sz="1400" b="1" dirty="0">
                          <a:latin typeface="Times New Roman" panose="02020603050405020304" pitchFamily="18" charset="0"/>
                          <a:cs typeface="Times New Roman" panose="02020603050405020304" pitchFamily="18" charset="0"/>
                        </a:rPr>
                        <a:t>System Integration Challenges</a:t>
                      </a:r>
                      <a:r>
                        <a:rPr lang="en-US" sz="1400" dirty="0">
                          <a:latin typeface="Times New Roman" panose="02020603050405020304" pitchFamily="18" charset="0"/>
                          <a:cs typeface="Times New Roman" panose="02020603050405020304" pitchFamily="18" charset="0"/>
                        </a:rPr>
                        <a:t>: Requires intrusive OS modifications for event notifications and hooks.</a:t>
                      </a:r>
                    </a:p>
                    <a:p>
                      <a:r>
                        <a:rPr lang="en-US" sz="1400" b="1" dirty="0">
                          <a:latin typeface="Times New Roman" panose="02020603050405020304" pitchFamily="18" charset="0"/>
                          <a:cs typeface="Times New Roman" panose="02020603050405020304" pitchFamily="18" charset="0"/>
                        </a:rPr>
                        <a:t>Performance Overheads</a:t>
                      </a:r>
                      <a:r>
                        <a:rPr lang="en-US" sz="1400" dirty="0">
                          <a:latin typeface="Times New Roman" panose="02020603050405020304" pitchFamily="18" charset="0"/>
                          <a:cs typeface="Times New Roman" panose="02020603050405020304" pitchFamily="18" charset="0"/>
                        </a:rPr>
                        <a:t>: AI-based planning introduces delays compared to manual scripting or commands.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0105012"/>
                  </a:ext>
                </a:extLst>
              </a:tr>
            </a:tbl>
          </a:graphicData>
        </a:graphic>
      </p:graphicFrame>
      <p:sp>
        <p:nvSpPr>
          <p:cNvPr id="3" name="Rectangle 2">
            <a:extLst>
              <a:ext uri="{FF2B5EF4-FFF2-40B4-BE49-F238E27FC236}">
                <a16:creationId xmlns:a16="http://schemas.microsoft.com/office/drawing/2014/main" id="{2B3159C1-8FBE-1C06-1F3A-32E3253B248F}"/>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2321902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E1C4E-96DF-D75F-9972-07E64AEDD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39193-FE2D-64D1-43F6-4D8B50DD9240}"/>
              </a:ext>
            </a:extLst>
          </p:cNvPr>
          <p:cNvSpPr>
            <a:spLocks noGrp="1"/>
          </p:cNvSpPr>
          <p:nvPr>
            <p:ph type="title"/>
          </p:nvPr>
        </p:nvSpPr>
        <p:spPr>
          <a:xfrm>
            <a:off x="-24680" y="1196752"/>
            <a:ext cx="10515600" cy="853976"/>
          </a:xfrm>
        </p:spPr>
        <p:txBody>
          <a:bodyPr>
            <a:normAutofit fontScale="90000"/>
          </a:bodyPr>
          <a:lstStyle/>
          <a:p>
            <a:pPr algn="r"/>
            <a:r>
              <a:rPr lang="en-US" sz="2700" b="1" i="1" dirty="0">
                <a:solidFill>
                  <a:srgbClr val="FF0000"/>
                </a:solidFill>
                <a:latin typeface="Times New Roman" panose="02020603050405020304" pitchFamily="18" charset="0"/>
                <a:cs typeface="Times New Roman" panose="02020603050405020304" pitchFamily="18" charset="0"/>
              </a:rPr>
              <a:t>Literature Survey/Existing System</a:t>
            </a:r>
            <a:br>
              <a:rPr lang="en-US" sz="4400" b="1" i="1" dirty="0">
                <a:solidFill>
                  <a:srgbClr val="FF0000"/>
                </a:solidFill>
                <a:latin typeface="Times New Roman" panose="02020603050405020304" pitchFamily="18" charset="0"/>
                <a:cs typeface="Times New Roman" panose="02020603050405020304" pitchFamily="18" charset="0"/>
              </a:rPr>
            </a:br>
            <a:endParaRPr lang="en-IN" b="1" i="1" dirty="0">
              <a:latin typeface="Times New Roman" panose="02020603050405020304" pitchFamily="18" charset="0"/>
              <a:cs typeface="Times New Roman" panose="02020603050405020304" pitchFamily="18" charset="0"/>
            </a:endParaRPr>
          </a:p>
        </p:txBody>
      </p:sp>
      <p:graphicFrame>
        <p:nvGraphicFramePr>
          <p:cNvPr id="12" name="Content Placeholder 11">
            <a:extLst>
              <a:ext uri="{FF2B5EF4-FFF2-40B4-BE49-F238E27FC236}">
                <a16:creationId xmlns:a16="http://schemas.microsoft.com/office/drawing/2014/main" id="{1C24079D-400A-EF0C-6AA3-773CEF59B654}"/>
              </a:ext>
            </a:extLst>
          </p:cNvPr>
          <p:cNvGraphicFramePr>
            <a:graphicFrameLocks noGrp="1"/>
          </p:cNvGraphicFramePr>
          <p:nvPr>
            <p:ph idx="1"/>
            <p:extLst>
              <p:ext uri="{D42A27DB-BD31-4B8C-83A1-F6EECF244321}">
                <p14:modId xmlns:p14="http://schemas.microsoft.com/office/powerpoint/2010/main" val="2075622024"/>
              </p:ext>
            </p:extLst>
          </p:nvPr>
        </p:nvGraphicFramePr>
        <p:xfrm>
          <a:off x="335360" y="1662256"/>
          <a:ext cx="11521280" cy="515112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087742061"/>
                    </a:ext>
                  </a:extLst>
                </a:gridCol>
                <a:gridCol w="1097615">
                  <a:extLst>
                    <a:ext uri="{9D8B030D-6E8A-4147-A177-3AD203B41FA5}">
                      <a16:colId xmlns:a16="http://schemas.microsoft.com/office/drawing/2014/main" val="4035573503"/>
                    </a:ext>
                  </a:extLst>
                </a:gridCol>
                <a:gridCol w="2474088">
                  <a:extLst>
                    <a:ext uri="{9D8B030D-6E8A-4147-A177-3AD203B41FA5}">
                      <a16:colId xmlns:a16="http://schemas.microsoft.com/office/drawing/2014/main" val="1731938168"/>
                    </a:ext>
                  </a:extLst>
                </a:gridCol>
                <a:gridCol w="2474088">
                  <a:extLst>
                    <a:ext uri="{9D8B030D-6E8A-4147-A177-3AD203B41FA5}">
                      <a16:colId xmlns:a16="http://schemas.microsoft.com/office/drawing/2014/main" val="1304002562"/>
                    </a:ext>
                  </a:extLst>
                </a:gridCol>
                <a:gridCol w="3171233">
                  <a:extLst>
                    <a:ext uri="{9D8B030D-6E8A-4147-A177-3AD203B41FA5}">
                      <a16:colId xmlns:a16="http://schemas.microsoft.com/office/drawing/2014/main" val="2881697885"/>
                    </a:ext>
                  </a:extLst>
                </a:gridCol>
              </a:tblGrid>
              <a:tr h="123711">
                <a:tc>
                  <a:txBody>
                    <a:bodyPr/>
                    <a:lstStyle/>
                    <a:p>
                      <a:r>
                        <a:rPr lang="en-IN" sz="1600" dirty="0">
                          <a:latin typeface="Times New Roman" panose="02020603050405020304" pitchFamily="18" charset="0"/>
                          <a:cs typeface="Times New Roman" panose="02020603050405020304" pitchFamily="18" charset="0"/>
                        </a:rPr>
                        <a:t>Title &amp; Author Name</a:t>
                      </a:r>
                    </a:p>
                  </a:txBody>
                  <a:tcPr/>
                </a:tc>
                <a:tc>
                  <a:txBody>
                    <a:bodyPr/>
                    <a:lstStyle/>
                    <a:p>
                      <a:r>
                        <a:rPr lang="en-IN" sz="1600" dirty="0">
                          <a:latin typeface="Times New Roman" panose="02020603050405020304" pitchFamily="18" charset="0"/>
                          <a:cs typeface="Times New Roman" panose="02020603050405020304" pitchFamily="18" charset="0"/>
                        </a:rPr>
                        <a:t>Year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CONFERENCE NAME</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METHODOLOGY USED</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DRAWBACKS</a:t>
                      </a: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926523"/>
                  </a:ext>
                </a:extLst>
              </a:tr>
              <a:tr h="370840">
                <a:tc>
                  <a:txBody>
                    <a:bodyPr/>
                    <a:lstStyle/>
                    <a:p>
                      <a:r>
                        <a:rPr lang="en-US" sz="1400" dirty="0">
                          <a:latin typeface="Times New Roman" panose="02020603050405020304" pitchFamily="18" charset="0"/>
                          <a:cs typeface="Times New Roman" panose="02020603050405020304" pitchFamily="18" charset="0"/>
                        </a:rPr>
                        <a:t>Application of Expert Systems in Quality Management</a:t>
                      </a:r>
                    </a:p>
                    <a:p>
                      <a:endParaRPr lang="en-US"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Egor S. </a:t>
                      </a:r>
                      <a:r>
                        <a:rPr lang="en-IN" sz="1400" b="1" dirty="0" err="1">
                          <a:latin typeface="Times New Roman" panose="02020603050405020304" pitchFamily="18" charset="0"/>
                          <a:cs typeface="Times New Roman" panose="02020603050405020304" pitchFamily="18" charset="0"/>
                        </a:rPr>
                        <a:t>Mandrakov</a:t>
                      </a:r>
                      <a:r>
                        <a:rPr lang="en-IN" sz="1400" b="1" dirty="0">
                          <a:latin typeface="Times New Roman" panose="02020603050405020304" pitchFamily="18" charset="0"/>
                          <a:cs typeface="Times New Roman" panose="02020603050405020304" pitchFamily="18" charset="0"/>
                        </a:rPr>
                        <a:t>, Victor A. Vasiliev, Diana A. </a:t>
                      </a:r>
                      <a:r>
                        <a:rPr lang="en-IN" sz="1400" b="1" dirty="0" err="1">
                          <a:latin typeface="Times New Roman" panose="02020603050405020304" pitchFamily="18" charset="0"/>
                          <a:cs typeface="Times New Roman" panose="02020603050405020304" pitchFamily="18" charset="0"/>
                        </a:rPr>
                        <a:t>Dudina</a:t>
                      </a:r>
                      <a:endParaRPr lang="en-US" sz="1400" b="1"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2021</a:t>
                      </a:r>
                    </a:p>
                  </a:txBody>
                  <a:tcPr/>
                </a:tc>
                <a:tc>
                  <a:txBody>
                    <a:bodyPr/>
                    <a:lstStyle/>
                    <a:p>
                      <a:r>
                        <a:rPr lang="en-IN" sz="1400" dirty="0">
                          <a:latin typeface="Times New Roman" panose="02020603050405020304" pitchFamily="18" charset="0"/>
                          <a:cs typeface="Times New Roman" panose="02020603050405020304" pitchFamily="18" charset="0"/>
                        </a:rPr>
                        <a:t>International Conference on Quality Management, Transport and Information Security, Information Technologies (IT&amp;QM&amp;IS)</a:t>
                      </a:r>
                    </a:p>
                  </a:txBody>
                  <a:tcPr/>
                </a:tc>
                <a:tc>
                  <a:txBody>
                    <a:bodyPr/>
                    <a:lstStyle/>
                    <a:p>
                      <a:r>
                        <a:rPr lang="en-US" sz="1400" b="1" dirty="0">
                          <a:latin typeface="Times New Roman" panose="02020603050405020304" pitchFamily="18" charset="0"/>
                          <a:cs typeface="Times New Roman" panose="02020603050405020304" pitchFamily="18" charset="0"/>
                        </a:rPr>
                        <a:t>Expert Systems</a:t>
                      </a:r>
                      <a:r>
                        <a:rPr lang="en-US" sz="1400" dirty="0">
                          <a:latin typeface="Times New Roman" panose="02020603050405020304" pitchFamily="18" charset="0"/>
                          <a:cs typeface="Times New Roman" panose="02020603050405020304" pitchFamily="18" charset="0"/>
                        </a:rPr>
                        <a:t>: Utilizing knowledge bases, inference engines, and interfaces for problem-solving in quality management.</a:t>
                      </a:r>
                    </a:p>
                    <a:p>
                      <a:r>
                        <a:rPr lang="en-US" sz="1400" b="1" dirty="0">
                          <a:latin typeface="Times New Roman" panose="02020603050405020304" pitchFamily="18" charset="0"/>
                          <a:cs typeface="Times New Roman" panose="02020603050405020304" pitchFamily="18" charset="0"/>
                        </a:rPr>
                        <a:t>Knowledge Bases</a:t>
                      </a:r>
                      <a:r>
                        <a:rPr lang="en-US" sz="1400" dirty="0">
                          <a:latin typeface="Times New Roman" panose="02020603050405020304" pitchFamily="18" charset="0"/>
                          <a:cs typeface="Times New Roman" panose="02020603050405020304" pitchFamily="18" charset="0"/>
                        </a:rPr>
                        <a:t>: Categorizing and organizing rules and data for decision-making.</a:t>
                      </a:r>
                    </a:p>
                    <a:p>
                      <a:r>
                        <a:rPr lang="en-US" sz="1400" b="1" dirty="0">
                          <a:latin typeface="Times New Roman" panose="02020603050405020304" pitchFamily="18" charset="0"/>
                          <a:cs typeface="Times New Roman" panose="02020603050405020304" pitchFamily="18" charset="0"/>
                        </a:rPr>
                        <a:t>Inference Engines</a:t>
                      </a:r>
                      <a:r>
                        <a:rPr lang="en-US" sz="1400" dirty="0">
                          <a:latin typeface="Times New Roman" panose="02020603050405020304" pitchFamily="18" charset="0"/>
                          <a:cs typeface="Times New Roman" panose="02020603050405020304" pitchFamily="18" charset="0"/>
                        </a:rPr>
                        <a:t>: Applying rules to data for generating solutions.</a:t>
                      </a:r>
                    </a:p>
                    <a:p>
                      <a:r>
                        <a:rPr lang="en-US" sz="1400" b="1" dirty="0">
                          <a:latin typeface="Times New Roman" panose="02020603050405020304" pitchFamily="18" charset="0"/>
                          <a:cs typeface="Times New Roman" panose="02020603050405020304" pitchFamily="18" charset="0"/>
                        </a:rPr>
                        <a:t>Learning Components</a:t>
                      </a:r>
                      <a:r>
                        <a:rPr lang="en-US" sz="1400" dirty="0">
                          <a:latin typeface="Times New Roman" panose="02020603050405020304" pitchFamily="18" charset="0"/>
                          <a:cs typeface="Times New Roman" panose="02020603050405020304" pitchFamily="18" charset="0"/>
                        </a:rPr>
                        <a:t>: Enhancing knowledge base through experience and additional input from experts.</a:t>
                      </a:r>
                    </a:p>
                    <a:p>
                      <a:r>
                        <a:rPr lang="en-US" sz="1400" b="1" dirty="0">
                          <a:latin typeface="Times New Roman" panose="02020603050405020304" pitchFamily="18" charset="0"/>
                          <a:cs typeface="Times New Roman" panose="02020603050405020304" pitchFamily="18" charset="0"/>
                        </a:rPr>
                        <a:t>Explanatory Components</a:t>
                      </a:r>
                      <a:r>
                        <a:rPr lang="en-US" sz="1400" dirty="0">
                          <a:latin typeface="Times New Roman" panose="02020603050405020304" pitchFamily="18" charset="0"/>
                          <a:cs typeface="Times New Roman" panose="02020603050405020304" pitchFamily="18" charset="0"/>
                        </a:rPr>
                        <a:t>: Providing detailed reasoning for decisions to ensure transparency and trust.</a:t>
                      </a: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Interface Limitations</a:t>
                      </a:r>
                      <a:r>
                        <a:rPr lang="en-US" sz="1400" dirty="0">
                          <a:latin typeface="Times New Roman" panose="02020603050405020304" pitchFamily="18" charset="0"/>
                          <a:cs typeface="Times New Roman" panose="02020603050405020304" pitchFamily="18" charset="0"/>
                        </a:rPr>
                        <a:t>: Early expert systems suffered from user-unfriendly interfaces, reducing accessibility.</a:t>
                      </a:r>
                    </a:p>
                    <a:p>
                      <a:r>
                        <a:rPr lang="en-US" sz="1400" b="1" dirty="0">
                          <a:latin typeface="Times New Roman" panose="02020603050405020304" pitchFamily="18" charset="0"/>
                          <a:cs typeface="Times New Roman" panose="02020603050405020304" pitchFamily="18" charset="0"/>
                        </a:rPr>
                        <a:t>Knowledge Base Complexity</a:t>
                      </a:r>
                      <a:r>
                        <a:rPr lang="en-US" sz="1400" dirty="0">
                          <a:latin typeface="Times New Roman" panose="02020603050405020304" pitchFamily="18" charset="0"/>
                          <a:cs typeface="Times New Roman" panose="02020603050405020304" pitchFamily="18" charset="0"/>
                        </a:rPr>
                        <a:t>: Developing and maintaining a comprehensive and accurate knowledge base is challenging.</a:t>
                      </a:r>
                    </a:p>
                    <a:p>
                      <a:r>
                        <a:rPr lang="en-US" sz="1400" b="1" dirty="0">
                          <a:latin typeface="Times New Roman" panose="02020603050405020304" pitchFamily="18" charset="0"/>
                          <a:cs typeface="Times New Roman" panose="02020603050405020304" pitchFamily="18" charset="0"/>
                        </a:rPr>
                        <a:t>Dependence on Experts</a:t>
                      </a:r>
                      <a:r>
                        <a:rPr lang="en-US" sz="1400" dirty="0">
                          <a:latin typeface="Times New Roman" panose="02020603050405020304" pitchFamily="18" charset="0"/>
                          <a:cs typeface="Times New Roman" panose="02020603050405020304" pitchFamily="18" charset="0"/>
                        </a:rPr>
                        <a:t>: Initial setup requires significant input from human experts, which may limit scalability.</a:t>
                      </a:r>
                    </a:p>
                    <a:p>
                      <a:r>
                        <a:rPr lang="en-US" sz="1400" b="1" dirty="0">
                          <a:latin typeface="Times New Roman" panose="02020603050405020304" pitchFamily="18" charset="0"/>
                          <a:cs typeface="Times New Roman" panose="02020603050405020304" pitchFamily="18" charset="0"/>
                        </a:rPr>
                        <a:t>Error Sensitivity</a:t>
                      </a:r>
                      <a:r>
                        <a:rPr lang="en-US" sz="1400" dirty="0">
                          <a:latin typeface="Times New Roman" panose="02020603050405020304" pitchFamily="18" charset="0"/>
                          <a:cs typeface="Times New Roman" panose="02020603050405020304" pitchFamily="18" charset="0"/>
                        </a:rPr>
                        <a:t>: Incorrect rules or relationships in the knowledge base can compromise the system's functionality.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0105012"/>
                  </a:ext>
                </a:extLst>
              </a:tr>
            </a:tbl>
          </a:graphicData>
        </a:graphic>
      </p:graphicFrame>
      <p:sp>
        <p:nvSpPr>
          <p:cNvPr id="3" name="Rectangle 2">
            <a:extLst>
              <a:ext uri="{FF2B5EF4-FFF2-40B4-BE49-F238E27FC236}">
                <a16:creationId xmlns:a16="http://schemas.microsoft.com/office/drawing/2014/main" id="{1C485AEB-B8E3-5E07-8FA7-9A51ECB20FB4}"/>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1157116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51274-F506-76AE-057F-0B18ECF32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2A8CF-C0F8-8C84-F184-F64DB3540995}"/>
              </a:ext>
            </a:extLst>
          </p:cNvPr>
          <p:cNvSpPr>
            <a:spLocks noGrp="1"/>
          </p:cNvSpPr>
          <p:nvPr>
            <p:ph type="title"/>
          </p:nvPr>
        </p:nvSpPr>
        <p:spPr>
          <a:xfrm>
            <a:off x="-24680" y="1196752"/>
            <a:ext cx="10515600" cy="853976"/>
          </a:xfrm>
        </p:spPr>
        <p:txBody>
          <a:bodyPr>
            <a:normAutofit fontScale="90000"/>
          </a:bodyPr>
          <a:lstStyle/>
          <a:p>
            <a:pPr algn="r"/>
            <a:r>
              <a:rPr lang="en-US" sz="2700" b="1" i="1" dirty="0">
                <a:solidFill>
                  <a:srgbClr val="FF0000"/>
                </a:solidFill>
                <a:latin typeface="Times New Roman" panose="02020603050405020304" pitchFamily="18" charset="0"/>
                <a:cs typeface="Times New Roman" panose="02020603050405020304" pitchFamily="18" charset="0"/>
              </a:rPr>
              <a:t>Literature Survey/Existing System</a:t>
            </a:r>
            <a:br>
              <a:rPr lang="en-US" sz="4400" b="1" i="1" dirty="0">
                <a:solidFill>
                  <a:srgbClr val="FF0000"/>
                </a:solidFill>
                <a:latin typeface="Times New Roman" panose="02020603050405020304" pitchFamily="18" charset="0"/>
                <a:cs typeface="Times New Roman" panose="02020603050405020304" pitchFamily="18" charset="0"/>
              </a:rPr>
            </a:br>
            <a:endParaRPr lang="en-IN" b="1" i="1" dirty="0">
              <a:latin typeface="Times New Roman" panose="02020603050405020304" pitchFamily="18" charset="0"/>
              <a:cs typeface="Times New Roman" panose="02020603050405020304" pitchFamily="18" charset="0"/>
            </a:endParaRPr>
          </a:p>
        </p:txBody>
      </p:sp>
      <p:graphicFrame>
        <p:nvGraphicFramePr>
          <p:cNvPr id="12" name="Content Placeholder 11">
            <a:extLst>
              <a:ext uri="{FF2B5EF4-FFF2-40B4-BE49-F238E27FC236}">
                <a16:creationId xmlns:a16="http://schemas.microsoft.com/office/drawing/2014/main" id="{F55D9256-8833-6FC0-89BB-D2A7D2218EB9}"/>
              </a:ext>
            </a:extLst>
          </p:cNvPr>
          <p:cNvGraphicFramePr>
            <a:graphicFrameLocks noGrp="1"/>
          </p:cNvGraphicFramePr>
          <p:nvPr>
            <p:ph idx="1"/>
            <p:extLst>
              <p:ext uri="{D42A27DB-BD31-4B8C-83A1-F6EECF244321}">
                <p14:modId xmlns:p14="http://schemas.microsoft.com/office/powerpoint/2010/main" val="1319538482"/>
              </p:ext>
            </p:extLst>
          </p:nvPr>
        </p:nvGraphicFramePr>
        <p:xfrm>
          <a:off x="335360" y="1662256"/>
          <a:ext cx="11521280" cy="493776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087742061"/>
                    </a:ext>
                  </a:extLst>
                </a:gridCol>
                <a:gridCol w="1097615">
                  <a:extLst>
                    <a:ext uri="{9D8B030D-6E8A-4147-A177-3AD203B41FA5}">
                      <a16:colId xmlns:a16="http://schemas.microsoft.com/office/drawing/2014/main" val="4035573503"/>
                    </a:ext>
                  </a:extLst>
                </a:gridCol>
                <a:gridCol w="2286761">
                  <a:extLst>
                    <a:ext uri="{9D8B030D-6E8A-4147-A177-3AD203B41FA5}">
                      <a16:colId xmlns:a16="http://schemas.microsoft.com/office/drawing/2014/main" val="1731938168"/>
                    </a:ext>
                  </a:extLst>
                </a:gridCol>
                <a:gridCol w="2880320">
                  <a:extLst>
                    <a:ext uri="{9D8B030D-6E8A-4147-A177-3AD203B41FA5}">
                      <a16:colId xmlns:a16="http://schemas.microsoft.com/office/drawing/2014/main" val="1304002562"/>
                    </a:ext>
                  </a:extLst>
                </a:gridCol>
                <a:gridCol w="2952328">
                  <a:extLst>
                    <a:ext uri="{9D8B030D-6E8A-4147-A177-3AD203B41FA5}">
                      <a16:colId xmlns:a16="http://schemas.microsoft.com/office/drawing/2014/main" val="2881697885"/>
                    </a:ext>
                  </a:extLst>
                </a:gridCol>
              </a:tblGrid>
              <a:tr h="123711">
                <a:tc>
                  <a:txBody>
                    <a:bodyPr/>
                    <a:lstStyle/>
                    <a:p>
                      <a:r>
                        <a:rPr lang="en-IN" sz="1600" dirty="0">
                          <a:latin typeface="Times New Roman" panose="02020603050405020304" pitchFamily="18" charset="0"/>
                          <a:cs typeface="Times New Roman" panose="02020603050405020304" pitchFamily="18" charset="0"/>
                        </a:rPr>
                        <a:t>Title &amp; Author Name</a:t>
                      </a:r>
                    </a:p>
                  </a:txBody>
                  <a:tcPr/>
                </a:tc>
                <a:tc>
                  <a:txBody>
                    <a:bodyPr/>
                    <a:lstStyle/>
                    <a:p>
                      <a:r>
                        <a:rPr lang="en-IN" sz="1600" dirty="0">
                          <a:latin typeface="Times New Roman" panose="02020603050405020304" pitchFamily="18" charset="0"/>
                          <a:cs typeface="Times New Roman" panose="02020603050405020304" pitchFamily="18" charset="0"/>
                        </a:rPr>
                        <a:t>Year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CONFERENCE NAME</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METHODOLOGY USED</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DRAWBACKS</a:t>
                      </a: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926523"/>
                  </a:ext>
                </a:extLst>
              </a:tr>
              <a:tr h="370840">
                <a:tc>
                  <a:txBody>
                    <a:bodyPr/>
                    <a:lstStyle/>
                    <a:p>
                      <a:r>
                        <a:rPr lang="en-US" sz="1400" dirty="0">
                          <a:latin typeface="Times New Roman" panose="02020603050405020304" pitchFamily="18" charset="0"/>
                          <a:cs typeface="Times New Roman" panose="02020603050405020304" pitchFamily="18" charset="0"/>
                        </a:rPr>
                        <a:t>A Methodology for Soft Errors Detection and Automatic Recovery</a:t>
                      </a:r>
                    </a:p>
                    <a:p>
                      <a:endParaRPr lang="en-US"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Diego </a:t>
                      </a:r>
                      <a:r>
                        <a:rPr lang="en-IN" sz="1400" b="1" dirty="0" err="1">
                          <a:latin typeface="Times New Roman" panose="02020603050405020304" pitchFamily="18" charset="0"/>
                          <a:cs typeface="Times New Roman" panose="02020603050405020304" pitchFamily="18" charset="0"/>
                        </a:rPr>
                        <a:t>Montezanti</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A. De Giusti</a:t>
                      </a:r>
                    </a:p>
                    <a:p>
                      <a:r>
                        <a:rPr lang="en-IN" sz="1400" b="1" dirty="0">
                          <a:latin typeface="Times New Roman" panose="02020603050405020304" pitchFamily="18" charset="0"/>
                          <a:cs typeface="Times New Roman" panose="02020603050405020304" pitchFamily="18" charset="0"/>
                        </a:rPr>
                        <a:t>M. </a:t>
                      </a:r>
                      <a:r>
                        <a:rPr lang="en-IN" sz="1400" b="1" dirty="0" err="1">
                          <a:latin typeface="Times New Roman" panose="02020603050405020304" pitchFamily="18" charset="0"/>
                          <a:cs typeface="Times New Roman" panose="02020603050405020304" pitchFamily="18" charset="0"/>
                        </a:rPr>
                        <a:t>Naiouf</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Jorge </a:t>
                      </a:r>
                      <a:r>
                        <a:rPr lang="en-IN" sz="1400" b="1" dirty="0" err="1">
                          <a:latin typeface="Times New Roman" panose="02020603050405020304" pitchFamily="18" charset="0"/>
                          <a:cs typeface="Times New Roman" panose="02020603050405020304" pitchFamily="18" charset="0"/>
                        </a:rPr>
                        <a:t>Villamayor</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Dolores </a:t>
                      </a:r>
                      <a:r>
                        <a:rPr lang="en-IN" sz="1400" b="1" dirty="0" err="1">
                          <a:latin typeface="Times New Roman" panose="02020603050405020304" pitchFamily="18" charset="0"/>
                          <a:cs typeface="Times New Roman" panose="02020603050405020304" pitchFamily="18" charset="0"/>
                        </a:rPr>
                        <a:t>Rexachs</a:t>
                      </a:r>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Emilio Luque</a:t>
                      </a:r>
                      <a:endParaRPr lang="en-US" sz="1400" b="1"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2017</a:t>
                      </a:r>
                    </a:p>
                  </a:txBody>
                  <a:tcPr/>
                </a:tc>
                <a:tc>
                  <a:txBody>
                    <a:bodyPr/>
                    <a:lstStyle/>
                    <a:p>
                      <a:r>
                        <a:rPr lang="en-US" sz="1400" dirty="0">
                          <a:latin typeface="Times New Roman" panose="02020603050405020304" pitchFamily="18" charset="0"/>
                          <a:cs typeface="Times New Roman" panose="02020603050405020304" pitchFamily="18" charset="0"/>
                        </a:rPr>
                        <a:t>International Conference on High Performance Computing &amp; Simulation (HPCS)</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400" b="1" dirty="0">
                          <a:latin typeface="Times New Roman" panose="02020603050405020304" pitchFamily="18" charset="0"/>
                          <a:cs typeface="Times New Roman" panose="02020603050405020304" pitchFamily="18" charset="0"/>
                        </a:rPr>
                        <a:t>Process Duplication</a:t>
                      </a:r>
                      <a:r>
                        <a:rPr lang="en-IN" sz="1400" dirty="0">
                          <a:latin typeface="Times New Roman" panose="02020603050405020304" pitchFamily="18" charset="0"/>
                          <a:cs typeface="Times New Roman" panose="02020603050405020304" pitchFamily="18" charset="0"/>
                        </a:rPr>
                        <a:t>: Leveraging multicores to duplicate application processes for detecting errors.</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Checkpointing Strategies</a:t>
                      </a:r>
                      <a:r>
                        <a:rPr lang="en-IN" sz="1400" dirty="0">
                          <a:latin typeface="Times New Roman" panose="02020603050405020304" pitchFamily="18" charset="0"/>
                          <a:cs typeface="Times New Roman" panose="02020603050405020304" pitchFamily="18" charset="0"/>
                        </a:rPr>
                        <a:t>:</a:t>
                      </a:r>
                    </a:p>
                    <a:p>
                      <a:r>
                        <a:rPr lang="en-IN" sz="1400" b="1" dirty="0">
                          <a:latin typeface="Times New Roman" panose="02020603050405020304" pitchFamily="18" charset="0"/>
                          <a:cs typeface="Times New Roman" panose="02020603050405020304" pitchFamily="18" charset="0"/>
                        </a:rPr>
                        <a:t>     System-Level Checkpoints</a:t>
                      </a:r>
                      <a:r>
                        <a:rPr lang="en-IN" sz="1400" dirty="0">
                          <a:latin typeface="Times New Roman" panose="02020603050405020304" pitchFamily="18" charset="0"/>
                          <a:cs typeface="Times New Roman" panose="02020603050405020304" pitchFamily="18" charset="0"/>
                        </a:rPr>
                        <a:t>: Multiple checkpoints used to recover from transient faults.</a:t>
                      </a:r>
                    </a:p>
                    <a:p>
                      <a:r>
                        <a:rPr lang="en-IN" sz="1400" b="1" dirty="0">
                          <a:latin typeface="Times New Roman" panose="02020603050405020304" pitchFamily="18" charset="0"/>
                          <a:cs typeface="Times New Roman" panose="02020603050405020304" pitchFamily="18" charset="0"/>
                        </a:rPr>
                        <a:t>     Application-Level Checkpoints</a:t>
                      </a:r>
                      <a:r>
                        <a:rPr lang="en-IN" sz="1400" dirty="0">
                          <a:latin typeface="Times New Roman" panose="02020603050405020304" pitchFamily="18" charset="0"/>
                          <a:cs typeface="Times New Roman" panose="02020603050405020304" pitchFamily="18" charset="0"/>
                        </a:rPr>
                        <a:t>: Single safe checkpoint for space and performance efficiency.</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Message Validation</a:t>
                      </a:r>
                      <a:r>
                        <a:rPr lang="en-IN" sz="1400" dirty="0">
                          <a:latin typeface="Times New Roman" panose="02020603050405020304" pitchFamily="18" charset="0"/>
                          <a:cs typeface="Times New Roman" panose="02020603050405020304" pitchFamily="18" charset="0"/>
                        </a:rPr>
                        <a:t>: Verifying message integrity during transmission in parallel processes.</a:t>
                      </a:r>
                    </a:p>
                    <a:p>
                      <a:endParaRPr lang="en-IN" sz="1400" b="1"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Error Notification and Recovery</a:t>
                      </a:r>
                      <a:r>
                        <a:rPr lang="en-IN" sz="1400" dirty="0">
                          <a:latin typeface="Times New Roman" panose="02020603050405020304" pitchFamily="18" charset="0"/>
                          <a:cs typeface="Times New Roman" panose="02020603050405020304" pitchFamily="18" charset="0"/>
                        </a:rPr>
                        <a:t>: Mechanisms to isolate errors, notify users, and ensure safe system stops or restarts.</a:t>
                      </a:r>
                    </a:p>
                  </a:txBody>
                  <a:tcPr/>
                </a:tc>
                <a:tc>
                  <a:txBody>
                    <a:bodyPr/>
                    <a:lstStyle/>
                    <a:p>
                      <a:r>
                        <a:rPr lang="en-US" sz="1400" b="1" dirty="0">
                          <a:latin typeface="Times New Roman" panose="02020603050405020304" pitchFamily="18" charset="0"/>
                          <a:cs typeface="Times New Roman" panose="02020603050405020304" pitchFamily="18" charset="0"/>
                        </a:rPr>
                        <a:t>High Resource Usage</a:t>
                      </a:r>
                      <a:r>
                        <a:rPr lang="en-US" sz="1400" dirty="0">
                          <a:latin typeface="Times New Roman" panose="02020603050405020304" pitchFamily="18" charset="0"/>
                          <a:cs typeface="Times New Roman" panose="02020603050405020304" pitchFamily="18" charset="0"/>
                        </a:rPr>
                        <a:t>: Process duplication and checkpointing consume significant computational resources and storage.</a:t>
                      </a:r>
                    </a:p>
                    <a:p>
                      <a:r>
                        <a:rPr lang="en-US" sz="1400" b="1" dirty="0">
                          <a:latin typeface="Times New Roman" panose="02020603050405020304" pitchFamily="18" charset="0"/>
                          <a:cs typeface="Times New Roman" panose="02020603050405020304" pitchFamily="18" charset="0"/>
                        </a:rPr>
                        <a:t>Scalability Issues</a:t>
                      </a:r>
                      <a:r>
                        <a:rPr lang="en-US" sz="1400" dirty="0">
                          <a:latin typeface="Times New Roman" panose="02020603050405020304" pitchFamily="18" charset="0"/>
                          <a:cs typeface="Times New Roman" panose="02020603050405020304" pitchFamily="18" charset="0"/>
                        </a:rPr>
                        <a:t>: System-level checkpointing is challenging to scale for exascale systems.</a:t>
                      </a:r>
                    </a:p>
                    <a:p>
                      <a:r>
                        <a:rPr lang="en-US" sz="1400" b="1" dirty="0">
                          <a:latin typeface="Times New Roman" panose="02020603050405020304" pitchFamily="18" charset="0"/>
                          <a:cs typeface="Times New Roman" panose="02020603050405020304" pitchFamily="18" charset="0"/>
                        </a:rPr>
                        <a:t>Latency</a:t>
                      </a:r>
                      <a:r>
                        <a:rPr lang="en-US" sz="1400" dirty="0">
                          <a:latin typeface="Times New Roman" panose="02020603050405020304" pitchFamily="18" charset="0"/>
                          <a:cs typeface="Times New Roman" panose="02020603050405020304" pitchFamily="18" charset="0"/>
                        </a:rPr>
                        <a:t>: Detection and recovery introduce execution delays, which can affect real-time applications.</a:t>
                      </a:r>
                    </a:p>
                    <a:p>
                      <a:r>
                        <a:rPr lang="en-US" sz="1400" b="1" dirty="0">
                          <a:latin typeface="Times New Roman" panose="02020603050405020304" pitchFamily="18" charset="0"/>
                          <a:cs typeface="Times New Roman" panose="02020603050405020304" pitchFamily="18" charset="0"/>
                        </a:rPr>
                        <a:t>Complexity</a:t>
                      </a:r>
                      <a:r>
                        <a:rPr lang="en-US" sz="1400" dirty="0">
                          <a:latin typeface="Times New Roman" panose="02020603050405020304" pitchFamily="18" charset="0"/>
                          <a:cs typeface="Times New Roman" panose="02020603050405020304" pitchFamily="18" charset="0"/>
                        </a:rPr>
                        <a:t>: Implementing application-level checkpoints requires detailed knowledge of the system's internal structure.</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0105012"/>
                  </a:ext>
                </a:extLst>
              </a:tr>
            </a:tbl>
          </a:graphicData>
        </a:graphic>
      </p:graphicFrame>
      <p:sp>
        <p:nvSpPr>
          <p:cNvPr id="3" name="Rectangle 2">
            <a:extLst>
              <a:ext uri="{FF2B5EF4-FFF2-40B4-BE49-F238E27FC236}">
                <a16:creationId xmlns:a16="http://schemas.microsoft.com/office/drawing/2014/main" id="{F67DCE78-FC6B-B461-55AD-122FE348BE09}"/>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2888890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8B479-620F-83C2-DECA-4C55E9361A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F90FF-CAF3-F7CA-2E6F-E0BE971CC4B3}"/>
              </a:ext>
            </a:extLst>
          </p:cNvPr>
          <p:cNvSpPr>
            <a:spLocks noGrp="1"/>
          </p:cNvSpPr>
          <p:nvPr>
            <p:ph type="title"/>
          </p:nvPr>
        </p:nvSpPr>
        <p:spPr>
          <a:xfrm>
            <a:off x="-24680" y="1196752"/>
            <a:ext cx="10515600" cy="853976"/>
          </a:xfrm>
        </p:spPr>
        <p:txBody>
          <a:bodyPr>
            <a:normAutofit fontScale="90000"/>
          </a:bodyPr>
          <a:lstStyle/>
          <a:p>
            <a:pPr algn="r"/>
            <a:r>
              <a:rPr lang="en-US" sz="2700" b="1" i="1" dirty="0">
                <a:solidFill>
                  <a:srgbClr val="FF0000"/>
                </a:solidFill>
                <a:latin typeface="Times New Roman" panose="02020603050405020304" pitchFamily="18" charset="0"/>
                <a:cs typeface="Times New Roman" panose="02020603050405020304" pitchFamily="18" charset="0"/>
              </a:rPr>
              <a:t>Literature Survey/Existing System</a:t>
            </a:r>
            <a:br>
              <a:rPr lang="en-US" sz="4400" b="1" i="1" dirty="0">
                <a:solidFill>
                  <a:srgbClr val="FF0000"/>
                </a:solidFill>
                <a:latin typeface="Times New Roman" panose="02020603050405020304" pitchFamily="18" charset="0"/>
                <a:cs typeface="Times New Roman" panose="02020603050405020304" pitchFamily="18" charset="0"/>
              </a:rPr>
            </a:br>
            <a:endParaRPr lang="en-IN" b="1" i="1" dirty="0">
              <a:latin typeface="Times New Roman" panose="02020603050405020304" pitchFamily="18" charset="0"/>
              <a:cs typeface="Times New Roman" panose="02020603050405020304" pitchFamily="18" charset="0"/>
            </a:endParaRPr>
          </a:p>
        </p:txBody>
      </p:sp>
      <p:graphicFrame>
        <p:nvGraphicFramePr>
          <p:cNvPr id="12" name="Content Placeholder 11">
            <a:extLst>
              <a:ext uri="{FF2B5EF4-FFF2-40B4-BE49-F238E27FC236}">
                <a16:creationId xmlns:a16="http://schemas.microsoft.com/office/drawing/2014/main" id="{BC05A1C8-BE9E-8164-10E8-9C673FD2BD6B}"/>
              </a:ext>
            </a:extLst>
          </p:cNvPr>
          <p:cNvGraphicFramePr>
            <a:graphicFrameLocks noGrp="1"/>
          </p:cNvGraphicFramePr>
          <p:nvPr>
            <p:ph idx="1"/>
            <p:extLst>
              <p:ext uri="{D42A27DB-BD31-4B8C-83A1-F6EECF244321}">
                <p14:modId xmlns:p14="http://schemas.microsoft.com/office/powerpoint/2010/main" val="3729789567"/>
              </p:ext>
            </p:extLst>
          </p:nvPr>
        </p:nvGraphicFramePr>
        <p:xfrm>
          <a:off x="335360" y="1825624"/>
          <a:ext cx="11521280" cy="4338659"/>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087742061"/>
                    </a:ext>
                  </a:extLst>
                </a:gridCol>
                <a:gridCol w="1097615">
                  <a:extLst>
                    <a:ext uri="{9D8B030D-6E8A-4147-A177-3AD203B41FA5}">
                      <a16:colId xmlns:a16="http://schemas.microsoft.com/office/drawing/2014/main" val="4035573503"/>
                    </a:ext>
                  </a:extLst>
                </a:gridCol>
                <a:gridCol w="2474088">
                  <a:extLst>
                    <a:ext uri="{9D8B030D-6E8A-4147-A177-3AD203B41FA5}">
                      <a16:colId xmlns:a16="http://schemas.microsoft.com/office/drawing/2014/main" val="1731938168"/>
                    </a:ext>
                  </a:extLst>
                </a:gridCol>
                <a:gridCol w="2474088">
                  <a:extLst>
                    <a:ext uri="{9D8B030D-6E8A-4147-A177-3AD203B41FA5}">
                      <a16:colId xmlns:a16="http://schemas.microsoft.com/office/drawing/2014/main" val="1304002562"/>
                    </a:ext>
                  </a:extLst>
                </a:gridCol>
                <a:gridCol w="3171233">
                  <a:extLst>
                    <a:ext uri="{9D8B030D-6E8A-4147-A177-3AD203B41FA5}">
                      <a16:colId xmlns:a16="http://schemas.microsoft.com/office/drawing/2014/main" val="2881697885"/>
                    </a:ext>
                  </a:extLst>
                </a:gridCol>
              </a:tblGrid>
              <a:tr h="896027">
                <a:tc>
                  <a:txBody>
                    <a:bodyPr/>
                    <a:lstStyle/>
                    <a:p>
                      <a:r>
                        <a:rPr lang="en-IN" sz="1600" dirty="0">
                          <a:latin typeface="Times New Roman" panose="02020603050405020304" pitchFamily="18" charset="0"/>
                          <a:cs typeface="Times New Roman" panose="02020603050405020304" pitchFamily="18" charset="0"/>
                        </a:rPr>
                        <a:t>Title &amp; Author Name</a:t>
                      </a:r>
                    </a:p>
                  </a:txBody>
                  <a:tcPr/>
                </a:tc>
                <a:tc>
                  <a:txBody>
                    <a:bodyPr/>
                    <a:lstStyle/>
                    <a:p>
                      <a:r>
                        <a:rPr lang="en-IN" sz="1600" dirty="0">
                          <a:latin typeface="Times New Roman" panose="02020603050405020304" pitchFamily="18" charset="0"/>
                          <a:cs typeface="Times New Roman" panose="02020603050405020304" pitchFamily="18" charset="0"/>
                        </a:rPr>
                        <a:t>Year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CONFERENCE NAME</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METHODOLOGY USED</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DRAWBACKS</a:t>
                      </a: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926523"/>
                  </a:ext>
                </a:extLst>
              </a:tr>
              <a:tr h="3442632">
                <a:tc>
                  <a:txBody>
                    <a:bodyPr/>
                    <a:lstStyle/>
                    <a:p>
                      <a:r>
                        <a:rPr lang="en-US" sz="1400" dirty="0">
                          <a:latin typeface="Times New Roman" panose="02020603050405020304" pitchFamily="18" charset="0"/>
                          <a:cs typeface="Times New Roman" panose="02020603050405020304" pitchFamily="18" charset="0"/>
                        </a:rPr>
                        <a:t>An Overview of Fault Tolerance Techniques for Real-Time Operating Systems</a:t>
                      </a:r>
                    </a:p>
                    <a:p>
                      <a:endParaRPr lang="en-US" sz="1400" b="1" dirty="0">
                        <a:latin typeface="Times New Roman" panose="02020603050405020304" pitchFamily="18" charset="0"/>
                        <a:cs typeface="Times New Roman" panose="02020603050405020304" pitchFamily="18" charset="0"/>
                      </a:endParaRPr>
                    </a:p>
                    <a:p>
                      <a:endParaRPr lang="en-US"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Reza </a:t>
                      </a:r>
                      <a:r>
                        <a:rPr lang="en-IN" sz="1400" dirty="0" err="1">
                          <a:latin typeface="Times New Roman" panose="02020603050405020304" pitchFamily="18" charset="0"/>
                          <a:cs typeface="Times New Roman" panose="02020603050405020304" pitchFamily="18" charset="0"/>
                        </a:rPr>
                        <a:t>Ramezani</a:t>
                      </a:r>
                      <a:r>
                        <a:rPr lang="en-IN" sz="1400" dirty="0">
                          <a:latin typeface="Times New Roman" panose="02020603050405020304" pitchFamily="18" charset="0"/>
                          <a:cs typeface="Times New Roman" panose="02020603050405020304" pitchFamily="18" charset="0"/>
                        </a:rPr>
                        <a:t>, Yasser </a:t>
                      </a:r>
                      <a:r>
                        <a:rPr lang="en-IN" sz="1400" dirty="0" err="1">
                          <a:latin typeface="Times New Roman" panose="02020603050405020304" pitchFamily="18" charset="0"/>
                          <a:cs typeface="Times New Roman" panose="02020603050405020304" pitchFamily="18" charset="0"/>
                        </a:rPr>
                        <a:t>Sedaghat</a:t>
                      </a:r>
                      <a:endParaRPr lang="en-US" sz="1400" b="1" dirty="0">
                        <a:latin typeface="Times New Roman" panose="02020603050405020304" pitchFamily="18" charset="0"/>
                        <a:cs typeface="Times New Roman" panose="02020603050405020304" pitchFamily="18" charset="0"/>
                      </a:endParaRPr>
                    </a:p>
                  </a:txBody>
                  <a:tcPr/>
                </a:tc>
                <a:tc>
                  <a:txBody>
                    <a:bodyPr/>
                    <a:lstStyle/>
                    <a:p>
                      <a:r>
                        <a:rPr lang="en-IN" sz="1400" dirty="0">
                          <a:latin typeface="Times New Roman" panose="02020603050405020304" pitchFamily="18" charset="0"/>
                          <a:cs typeface="Times New Roman" panose="02020603050405020304" pitchFamily="18" charset="0"/>
                        </a:rPr>
                        <a:t>2023</a:t>
                      </a:r>
                    </a:p>
                  </a:txBody>
                  <a:tcPr/>
                </a:tc>
                <a:tc>
                  <a:txBody>
                    <a:bodyPr/>
                    <a:lstStyle/>
                    <a:p>
                      <a:r>
                        <a:rPr lang="en-US" sz="1400" dirty="0">
                          <a:latin typeface="Times New Roman" panose="02020603050405020304" pitchFamily="18" charset="0"/>
                          <a:cs typeface="Times New Roman" panose="02020603050405020304" pitchFamily="18" charset="0"/>
                        </a:rPr>
                        <a:t>3rd International Conference on Computer and Knowledge Engineering (ICCKE 2013)</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400" b="1" dirty="0">
                          <a:latin typeface="Times New Roman" panose="02020603050405020304" pitchFamily="18" charset="0"/>
                          <a:cs typeface="Times New Roman" panose="02020603050405020304" pitchFamily="18" charset="0"/>
                        </a:rPr>
                        <a:t>Categorization</a:t>
                      </a:r>
                      <a:r>
                        <a:rPr lang="en-US" sz="1400" dirty="0">
                          <a:latin typeface="Times New Roman" panose="02020603050405020304" pitchFamily="18" charset="0"/>
                          <a:cs typeface="Times New Roman" panose="02020603050405020304" pitchFamily="18" charset="0"/>
                        </a:rPr>
                        <a:t>: Reviews fault-tolerance techniques for real-time OS (RTOS), including memory management, kernel considerations, and scheduling.</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Techniques</a:t>
                      </a:r>
                      <a:r>
                        <a:rPr lang="en-US" sz="1400" dirty="0">
                          <a:latin typeface="Times New Roman" panose="02020603050405020304" pitchFamily="18" charset="0"/>
                          <a:cs typeface="Times New Roman" panose="02020603050405020304" pitchFamily="18" charset="0"/>
                        </a:rPr>
                        <a:t>: Hardware and software redundancy, dynamic memory allocation, and active replication.</a:t>
                      </a:r>
                      <a:endParaRPr lang="en-IN" sz="14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High overhead from redundancy.</a:t>
                      </a:r>
                    </a:p>
                    <a:p>
                      <a:pPr marL="285750" indent="-285750">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Limited real-time predictability with complex error handling.</a:t>
                      </a:r>
                    </a:p>
                    <a:p>
                      <a:pPr marL="285750" indent="-285750">
                        <a:buFont typeface="Wingdings" panose="05000000000000000000" pitchFamily="2" charset="2"/>
                        <a:buChar char="§"/>
                      </a:pPr>
                      <a:r>
                        <a:rPr lang="en-US" sz="1400" dirty="0">
                          <a:latin typeface="Times New Roman" panose="02020603050405020304" pitchFamily="18" charset="0"/>
                          <a:cs typeface="Times New Roman" panose="02020603050405020304" pitchFamily="18" charset="0"/>
                        </a:rPr>
                        <a:t>Performance impact under heavy fault conditions.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0105012"/>
                  </a:ext>
                </a:extLst>
              </a:tr>
            </a:tbl>
          </a:graphicData>
        </a:graphic>
      </p:graphicFrame>
      <p:sp>
        <p:nvSpPr>
          <p:cNvPr id="3" name="Rectangle 2">
            <a:extLst>
              <a:ext uri="{FF2B5EF4-FFF2-40B4-BE49-F238E27FC236}">
                <a16:creationId xmlns:a16="http://schemas.microsoft.com/office/drawing/2014/main" id="{9C072872-2467-6142-7983-1062C01BDC09}"/>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8412177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42F46-4BD4-107A-E04D-1A65CD2FB8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12D3C-846B-0EEF-E4DE-15A6FBC0E4FF}"/>
              </a:ext>
            </a:extLst>
          </p:cNvPr>
          <p:cNvSpPr>
            <a:spLocks noGrp="1"/>
          </p:cNvSpPr>
          <p:nvPr>
            <p:ph type="title"/>
          </p:nvPr>
        </p:nvSpPr>
        <p:spPr>
          <a:xfrm>
            <a:off x="-24680" y="1196752"/>
            <a:ext cx="10515600" cy="853976"/>
          </a:xfrm>
        </p:spPr>
        <p:txBody>
          <a:bodyPr>
            <a:normAutofit fontScale="90000"/>
          </a:bodyPr>
          <a:lstStyle/>
          <a:p>
            <a:pPr algn="r"/>
            <a:r>
              <a:rPr lang="en-US" sz="2700" b="1" i="1" dirty="0">
                <a:solidFill>
                  <a:srgbClr val="FF0000"/>
                </a:solidFill>
                <a:latin typeface="Times New Roman" panose="02020603050405020304" pitchFamily="18" charset="0"/>
                <a:cs typeface="Times New Roman" panose="02020603050405020304" pitchFamily="18" charset="0"/>
              </a:rPr>
              <a:t>Literature Survey/Existing System</a:t>
            </a:r>
            <a:br>
              <a:rPr lang="en-US" sz="4400" b="1" i="1" dirty="0">
                <a:solidFill>
                  <a:srgbClr val="FF0000"/>
                </a:solidFill>
                <a:latin typeface="Times New Roman" panose="02020603050405020304" pitchFamily="18" charset="0"/>
                <a:cs typeface="Times New Roman" panose="02020603050405020304" pitchFamily="18" charset="0"/>
              </a:rPr>
            </a:br>
            <a:endParaRPr lang="en-IN" b="1" i="1" dirty="0">
              <a:latin typeface="Times New Roman" panose="02020603050405020304" pitchFamily="18" charset="0"/>
              <a:cs typeface="Times New Roman" panose="02020603050405020304" pitchFamily="18" charset="0"/>
            </a:endParaRPr>
          </a:p>
        </p:txBody>
      </p:sp>
      <p:graphicFrame>
        <p:nvGraphicFramePr>
          <p:cNvPr id="12" name="Content Placeholder 11">
            <a:extLst>
              <a:ext uri="{FF2B5EF4-FFF2-40B4-BE49-F238E27FC236}">
                <a16:creationId xmlns:a16="http://schemas.microsoft.com/office/drawing/2014/main" id="{A0813B04-43F4-E137-A598-765DE47D4F64}"/>
              </a:ext>
            </a:extLst>
          </p:cNvPr>
          <p:cNvGraphicFramePr>
            <a:graphicFrameLocks noGrp="1"/>
          </p:cNvGraphicFramePr>
          <p:nvPr>
            <p:ph idx="1"/>
            <p:extLst>
              <p:ext uri="{D42A27DB-BD31-4B8C-83A1-F6EECF244321}">
                <p14:modId xmlns:p14="http://schemas.microsoft.com/office/powerpoint/2010/main" val="2072881651"/>
              </p:ext>
            </p:extLst>
          </p:nvPr>
        </p:nvGraphicFramePr>
        <p:xfrm>
          <a:off x="335360" y="1700808"/>
          <a:ext cx="11521280" cy="4693920"/>
        </p:xfrm>
        <a:graphic>
          <a:graphicData uri="http://schemas.openxmlformats.org/drawingml/2006/table">
            <a:tbl>
              <a:tblPr firstRow="1" bandRow="1">
                <a:tableStyleId>{5C22544A-7EE6-4342-B048-85BDC9FD1C3A}</a:tableStyleId>
              </a:tblPr>
              <a:tblGrid>
                <a:gridCol w="2304256">
                  <a:extLst>
                    <a:ext uri="{9D8B030D-6E8A-4147-A177-3AD203B41FA5}">
                      <a16:colId xmlns:a16="http://schemas.microsoft.com/office/drawing/2014/main" val="3087742061"/>
                    </a:ext>
                  </a:extLst>
                </a:gridCol>
                <a:gridCol w="1097615">
                  <a:extLst>
                    <a:ext uri="{9D8B030D-6E8A-4147-A177-3AD203B41FA5}">
                      <a16:colId xmlns:a16="http://schemas.microsoft.com/office/drawing/2014/main" val="4035573503"/>
                    </a:ext>
                  </a:extLst>
                </a:gridCol>
                <a:gridCol w="2286761">
                  <a:extLst>
                    <a:ext uri="{9D8B030D-6E8A-4147-A177-3AD203B41FA5}">
                      <a16:colId xmlns:a16="http://schemas.microsoft.com/office/drawing/2014/main" val="1731938168"/>
                    </a:ext>
                  </a:extLst>
                </a:gridCol>
                <a:gridCol w="2880320">
                  <a:extLst>
                    <a:ext uri="{9D8B030D-6E8A-4147-A177-3AD203B41FA5}">
                      <a16:colId xmlns:a16="http://schemas.microsoft.com/office/drawing/2014/main" val="1304002562"/>
                    </a:ext>
                  </a:extLst>
                </a:gridCol>
                <a:gridCol w="2952328">
                  <a:extLst>
                    <a:ext uri="{9D8B030D-6E8A-4147-A177-3AD203B41FA5}">
                      <a16:colId xmlns:a16="http://schemas.microsoft.com/office/drawing/2014/main" val="2881697885"/>
                    </a:ext>
                  </a:extLst>
                </a:gridCol>
              </a:tblGrid>
              <a:tr h="123711">
                <a:tc>
                  <a:txBody>
                    <a:bodyPr/>
                    <a:lstStyle/>
                    <a:p>
                      <a:r>
                        <a:rPr lang="en-IN" sz="1600" dirty="0">
                          <a:latin typeface="Times New Roman" panose="02020603050405020304" pitchFamily="18" charset="0"/>
                          <a:cs typeface="Times New Roman" panose="02020603050405020304" pitchFamily="18" charset="0"/>
                        </a:rPr>
                        <a:t>Title &amp; Author Name</a:t>
                      </a:r>
                    </a:p>
                  </a:txBody>
                  <a:tcPr/>
                </a:tc>
                <a:tc>
                  <a:txBody>
                    <a:bodyPr/>
                    <a:lstStyle/>
                    <a:p>
                      <a:r>
                        <a:rPr lang="en-IN" sz="1600" dirty="0">
                          <a:latin typeface="Times New Roman" panose="02020603050405020304" pitchFamily="18" charset="0"/>
                          <a:cs typeface="Times New Roman" panose="02020603050405020304" pitchFamily="18" charset="0"/>
                        </a:rPr>
                        <a:t>Year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CONFERENCE NAME</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METHODOLOGY USED</a:t>
                      </a:r>
                    </a:p>
                    <a:p>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Times New Roman" panose="02020603050405020304" pitchFamily="18" charset="0"/>
                          <a:cs typeface="Times New Roman" panose="02020603050405020304" pitchFamily="18" charset="0"/>
                        </a:rPr>
                        <a:t>DRAWBACKS</a:t>
                      </a:r>
                    </a:p>
                    <a:p>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926523"/>
                  </a:ext>
                </a:extLst>
              </a:tr>
              <a:tr h="370840">
                <a:tc>
                  <a:txBody>
                    <a:bodyPr/>
                    <a:lstStyle/>
                    <a:p>
                      <a:r>
                        <a:rPr lang="en-US" sz="1200" dirty="0">
                          <a:latin typeface="Times New Roman" panose="02020603050405020304" pitchFamily="18" charset="0"/>
                          <a:cs typeface="Times New Roman" panose="02020603050405020304" pitchFamily="18" charset="0"/>
                        </a:rPr>
                        <a:t>Android API Malware Detection Based on Permission Using Machine Learning and Deep Learning Methods</a:t>
                      </a:r>
                    </a:p>
                    <a:p>
                      <a:endParaRPr lang="en-US" sz="1200" b="1" dirty="0">
                        <a:latin typeface="Times New Roman" panose="02020603050405020304" pitchFamily="18" charset="0"/>
                        <a:cs typeface="Times New Roman" panose="02020603050405020304" pitchFamily="18" charset="0"/>
                      </a:endParaRPr>
                    </a:p>
                    <a:p>
                      <a:r>
                        <a:rPr lang="en-US" sz="1200" b="1" i="0" dirty="0">
                          <a:solidFill>
                            <a:srgbClr val="222222"/>
                          </a:solidFill>
                          <a:effectLst/>
                          <a:latin typeface="Times New Roman" panose="02020603050405020304" pitchFamily="18" charset="0"/>
                          <a:cs typeface="Times New Roman" panose="02020603050405020304" pitchFamily="18" charset="0"/>
                        </a:rPr>
                        <a:t>Amri M.Z</a:t>
                      </a:r>
                    </a:p>
                    <a:p>
                      <a:r>
                        <a:rPr lang="en-US" sz="1200" b="1" i="0" dirty="0">
                          <a:solidFill>
                            <a:srgbClr val="222222"/>
                          </a:solidFill>
                          <a:effectLst/>
                          <a:latin typeface="Times New Roman" panose="02020603050405020304" pitchFamily="18" charset="0"/>
                          <a:cs typeface="Times New Roman" panose="02020603050405020304" pitchFamily="18" charset="0"/>
                        </a:rPr>
                        <a:t>Suryani V</a:t>
                      </a:r>
                      <a:endParaRPr lang="en-US" sz="1200" b="1" dirty="0">
                        <a:latin typeface="Times New Roman" panose="02020603050405020304" pitchFamily="18" charset="0"/>
                        <a:cs typeface="Times New Roman" panose="02020603050405020304" pitchFamily="18" charset="0"/>
                      </a:endParaRPr>
                    </a:p>
                  </a:txBody>
                  <a:tcPr/>
                </a:tc>
                <a:tc>
                  <a:txBody>
                    <a:bodyPr/>
                    <a:lstStyle/>
                    <a:p>
                      <a:r>
                        <a:rPr lang="en-IN" sz="1200" dirty="0">
                          <a:latin typeface="Times New Roman" panose="02020603050405020304" pitchFamily="18" charset="0"/>
                          <a:cs typeface="Times New Roman" panose="02020603050405020304" pitchFamily="18" charset="0"/>
                        </a:rPr>
                        <a:t>2024</a:t>
                      </a:r>
                    </a:p>
                  </a:txBody>
                  <a:tcPr/>
                </a:tc>
                <a:tc>
                  <a:txBody>
                    <a:bodyPr/>
                    <a:lstStyle/>
                    <a:p>
                      <a:r>
                        <a:rPr lang="en-US" sz="1200" dirty="0">
                          <a:latin typeface="Times New Roman" panose="02020603050405020304" pitchFamily="18" charset="0"/>
                          <a:cs typeface="Times New Roman" panose="02020603050405020304" pitchFamily="18" charset="0"/>
                        </a:rPr>
                        <a:t>2024 International Conference on Data Science and Its Applications (</a:t>
                      </a:r>
                      <a:r>
                        <a:rPr lang="en-US" sz="1200" dirty="0" err="1">
                          <a:latin typeface="Times New Roman" panose="02020603050405020304" pitchFamily="18" charset="0"/>
                          <a:cs typeface="Times New Roman" panose="02020603050405020304" pitchFamily="18" charset="0"/>
                        </a:rPr>
                        <a:t>ICoDSA</a:t>
                      </a:r>
                      <a:r>
                        <a:rPr lang="en-US" sz="1200" dirty="0">
                          <a:latin typeface="Times New Roman" panose="02020603050405020304" pitchFamily="18" charset="0"/>
                          <a:cs typeface="Times New Roman" panose="02020603050405020304" pitchFamily="18" charset="0"/>
                        </a:rPr>
                        <a:t>)</a:t>
                      </a:r>
                      <a:endParaRPr lang="en-IN" sz="1200" dirty="0">
                        <a:latin typeface="Times New Roman" panose="02020603050405020304" pitchFamily="18" charset="0"/>
                        <a:cs typeface="Times New Roman" panose="02020603050405020304" pitchFamily="18" charset="0"/>
                      </a:endParaRPr>
                    </a:p>
                  </a:txBody>
                  <a:tcPr/>
                </a:tc>
                <a:tc>
                  <a:txBody>
                    <a:bodyPr/>
                    <a:lstStyle/>
                    <a:p>
                      <a:r>
                        <a:rPr lang="en-IN" sz="1200" b="1" dirty="0">
                          <a:latin typeface="Times New Roman" panose="02020603050405020304" pitchFamily="18" charset="0"/>
                          <a:cs typeface="Times New Roman" panose="02020603050405020304" pitchFamily="18" charset="0"/>
                        </a:rPr>
                        <a:t>Classification Models</a:t>
                      </a:r>
                      <a:r>
                        <a:rPr lang="en-IN" sz="1200" dirty="0">
                          <a:latin typeface="Times New Roman" panose="02020603050405020304" pitchFamily="18" charset="0"/>
                          <a:cs typeface="Times New Roman" panose="02020603050405020304" pitchFamily="18" charset="0"/>
                        </a:rPr>
                        <a:t>:</a:t>
                      </a:r>
                    </a:p>
                    <a:p>
                      <a:r>
                        <a:rPr lang="en-IN" sz="1200" b="1" dirty="0">
                          <a:latin typeface="Times New Roman" panose="02020603050405020304" pitchFamily="18" charset="0"/>
                          <a:cs typeface="Times New Roman" panose="02020603050405020304" pitchFamily="18" charset="0"/>
                        </a:rPr>
                        <a:t>Support Vector Machine (SVM)</a:t>
                      </a:r>
                      <a:r>
                        <a:rPr lang="en-IN" sz="1200" dirty="0">
                          <a:latin typeface="Times New Roman" panose="02020603050405020304" pitchFamily="18" charset="0"/>
                          <a:cs typeface="Times New Roman" panose="02020603050405020304" pitchFamily="18" charset="0"/>
                        </a:rPr>
                        <a:t>: Linear kernel for maximum margin classification.</a:t>
                      </a:r>
                    </a:p>
                    <a:p>
                      <a:endParaRPr lang="en-IN" sz="1200"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Decision Tree (DT)</a:t>
                      </a:r>
                      <a:r>
                        <a:rPr lang="en-IN" sz="1200" dirty="0">
                          <a:latin typeface="Times New Roman" panose="02020603050405020304" pitchFamily="18" charset="0"/>
                          <a:cs typeface="Times New Roman" panose="02020603050405020304" pitchFamily="18" charset="0"/>
                        </a:rPr>
                        <a:t>: Limited to a three-level tree for avoiding overfitting.</a:t>
                      </a:r>
                    </a:p>
                    <a:p>
                      <a:endParaRPr lang="en-IN" sz="1200"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Artificial Neural Network (ANN)</a:t>
                      </a:r>
                      <a:r>
                        <a:rPr lang="en-IN" sz="1200" dirty="0">
                          <a:latin typeface="Times New Roman" panose="02020603050405020304" pitchFamily="18" charset="0"/>
                          <a:cs typeface="Times New Roman" panose="02020603050405020304" pitchFamily="18" charset="0"/>
                        </a:rPr>
                        <a:t>: Three-layer structure with </a:t>
                      </a:r>
                      <a:r>
                        <a:rPr lang="en-IN" sz="1200" dirty="0" err="1">
                          <a:latin typeface="Times New Roman" panose="02020603050405020304" pitchFamily="18" charset="0"/>
                          <a:cs typeface="Times New Roman" panose="02020603050405020304" pitchFamily="18" charset="0"/>
                        </a:rPr>
                        <a:t>ReLU</a:t>
                      </a:r>
                      <a:r>
                        <a:rPr lang="en-IN" sz="1200" dirty="0">
                          <a:latin typeface="Times New Roman" panose="02020603050405020304" pitchFamily="18" charset="0"/>
                          <a:cs typeface="Times New Roman" panose="02020603050405020304" pitchFamily="18" charset="0"/>
                        </a:rPr>
                        <a:t> activation in two layers and sigmoid activation in the final layer.</a:t>
                      </a:r>
                    </a:p>
                    <a:p>
                      <a:endParaRPr lang="en-IN" sz="1200"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Long Short-Term Memory (LSTM)</a:t>
                      </a:r>
                      <a:r>
                        <a:rPr lang="en-IN" sz="1200" dirty="0">
                          <a:latin typeface="Times New Roman" panose="02020603050405020304" pitchFamily="18" charset="0"/>
                          <a:cs typeface="Times New Roman" panose="02020603050405020304" pitchFamily="18" charset="0"/>
                        </a:rPr>
                        <a:t>: Used for sequence learning with a focus on long-term data dependencies.</a:t>
                      </a:r>
                    </a:p>
                    <a:p>
                      <a:endParaRPr lang="en-IN" sz="1200"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Evaluation Metrics</a:t>
                      </a:r>
                      <a:r>
                        <a:rPr lang="en-IN" sz="1200" dirty="0">
                          <a:latin typeface="Times New Roman" panose="02020603050405020304" pitchFamily="18" charset="0"/>
                          <a:cs typeface="Times New Roman" panose="02020603050405020304" pitchFamily="18" charset="0"/>
                        </a:rPr>
                        <a:t>: Accuracy, precision, recall, F1-score, and false alarm rate using a confusion matrix.</a:t>
                      </a:r>
                    </a:p>
                    <a:p>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200" b="1" dirty="0">
                          <a:latin typeface="Times New Roman" panose="02020603050405020304" pitchFamily="18" charset="0"/>
                          <a:cs typeface="Times New Roman" panose="02020603050405020304" pitchFamily="18" charset="0"/>
                        </a:rPr>
                        <a:t>Limited Context for LSTM</a:t>
                      </a:r>
                      <a:r>
                        <a:rPr lang="en-US" sz="1200" dirty="0">
                          <a:latin typeface="Times New Roman" panose="02020603050405020304" pitchFamily="18" charset="0"/>
                          <a:cs typeface="Times New Roman" panose="02020603050405020304" pitchFamily="18" charset="0"/>
                        </a:rPr>
                        <a:t>: While suitable for sequence learning, the LSTM results in higher false alarm rates compared to other methods.</a:t>
                      </a:r>
                    </a:p>
                    <a:p>
                      <a:r>
                        <a:rPr lang="en-US" sz="1200" b="1" dirty="0">
                          <a:latin typeface="Times New Roman" panose="02020603050405020304" pitchFamily="18" charset="0"/>
                          <a:cs typeface="Times New Roman" panose="02020603050405020304" pitchFamily="18" charset="0"/>
                        </a:rPr>
                        <a:t>Dataset Dependence</a:t>
                      </a:r>
                      <a:r>
                        <a:rPr lang="en-US" sz="1200" dirty="0">
                          <a:latin typeface="Times New Roman" panose="02020603050405020304" pitchFamily="18" charset="0"/>
                          <a:cs typeface="Times New Roman" panose="02020603050405020304" pitchFamily="18" charset="0"/>
                        </a:rPr>
                        <a:t>: Results are based on a single dataset, which may limit generalizability. </a:t>
                      </a:r>
                      <a:r>
                        <a:rPr lang="en-US" sz="1200" b="1" dirty="0">
                          <a:latin typeface="Times New Roman" panose="02020603050405020304" pitchFamily="18" charset="0"/>
                          <a:cs typeface="Times New Roman" panose="02020603050405020304" pitchFamily="18" charset="0"/>
                        </a:rPr>
                        <a:t>Fixed Parameterization</a:t>
                      </a:r>
                      <a:r>
                        <a:rPr lang="en-US" sz="1200" dirty="0">
                          <a:latin typeface="Times New Roman" panose="02020603050405020304" pitchFamily="18" charset="0"/>
                          <a:cs typeface="Times New Roman" panose="02020603050405020304" pitchFamily="18" charset="0"/>
                        </a:rPr>
                        <a:t>: Hyperparameter tuning was not discussed, which could affect model optimization and performance.</a:t>
                      </a:r>
                    </a:p>
                    <a:p>
                      <a:r>
                        <a:rPr lang="en-US" sz="1200" b="1" dirty="0">
                          <a:latin typeface="Times New Roman" panose="02020603050405020304" pitchFamily="18" charset="0"/>
                          <a:cs typeface="Times New Roman" panose="02020603050405020304" pitchFamily="18" charset="0"/>
                        </a:rPr>
                        <a:t>Focus on Permissions Only</a:t>
                      </a:r>
                      <a:r>
                        <a:rPr lang="en-US" sz="1200" dirty="0">
                          <a:latin typeface="Times New Roman" panose="02020603050405020304" pitchFamily="18" charset="0"/>
                          <a:cs typeface="Times New Roman" panose="02020603050405020304" pitchFamily="18" charset="0"/>
                        </a:rPr>
                        <a:t>: Other malware detection approaches, such as API behavior or network analysis, were not included.</a:t>
                      </a:r>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20105012"/>
                  </a:ext>
                </a:extLst>
              </a:tr>
            </a:tbl>
          </a:graphicData>
        </a:graphic>
      </p:graphicFrame>
      <p:sp>
        <p:nvSpPr>
          <p:cNvPr id="3" name="Rectangle 2">
            <a:extLst>
              <a:ext uri="{FF2B5EF4-FFF2-40B4-BE49-F238E27FC236}">
                <a16:creationId xmlns:a16="http://schemas.microsoft.com/office/drawing/2014/main" id="{CD54AF44-6188-4409-CA14-9EDDA852F567}"/>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Tree>
    <p:extLst>
      <p:ext uri="{BB962C8B-B14F-4D97-AF65-F5344CB8AC3E}">
        <p14:creationId xmlns:p14="http://schemas.microsoft.com/office/powerpoint/2010/main" val="3476591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latin typeface="Times New Roman" panose="02020603050405020304" pitchFamily="18" charset="0"/>
              <a:cs typeface="Times New Roman" panose="02020603050405020304" pitchFamily="18" charset="0"/>
            </a:endParaRPr>
          </a:p>
        </p:txBody>
      </p:sp>
      <p:sp>
        <p:nvSpPr>
          <p:cNvPr id="13" name="Text Box 34"/>
          <p:cNvSpPr txBox="1">
            <a:spLocks noChangeArrowheads="1"/>
          </p:cNvSpPr>
          <p:nvPr/>
        </p:nvSpPr>
        <p:spPr bwMode="auto">
          <a:xfrm>
            <a:off x="1905000" y="114300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b="1" i="1" dirty="0">
                <a:solidFill>
                  <a:srgbClr val="FF0000"/>
                </a:solidFill>
                <a:latin typeface="Times New Roman" panose="02020603050405020304" pitchFamily="18" charset="0"/>
                <a:cs typeface="Times New Roman" panose="02020603050405020304" pitchFamily="18" charset="0"/>
                <a:sym typeface="Trebuchet MS"/>
              </a:rPr>
              <a:t>Dataset Exploration</a:t>
            </a:r>
            <a:endParaRPr lang="en-US" sz="2400" b="1" i="1" dirty="0">
              <a:latin typeface="Times New Roman" panose="02020603050405020304" pitchFamily="18" charset="0"/>
              <a:cs typeface="Times New Roman" panose="02020603050405020304" pitchFamily="18" charset="0"/>
            </a:endParaRPr>
          </a:p>
        </p:txBody>
      </p:sp>
      <p:sp>
        <p:nvSpPr>
          <p:cNvPr id="6" name="Content Placeholder 2"/>
          <p:cNvSpPr txBox="1">
            <a:spLocks/>
          </p:cNvSpPr>
          <p:nvPr/>
        </p:nvSpPr>
        <p:spPr>
          <a:xfrm>
            <a:off x="767408" y="1752600"/>
            <a:ext cx="10585176" cy="4724400"/>
          </a:xfrm>
          <a:prstGeom prst="rect">
            <a:avLst/>
          </a:prstGeom>
        </p:spPr>
        <p:txBody>
          <a:bodyPr/>
          <a:lstStyle/>
          <a:p>
            <a:pPr marL="342900" indent="-342900" algn="just">
              <a:spcBef>
                <a:spcPts val="0"/>
              </a:spcBef>
              <a:spcAft>
                <a:spcPts val="0"/>
              </a:spcAft>
              <a:buFont typeface="Wingdings" panose="05000000000000000000" pitchFamily="2" charset="2"/>
              <a:buChar char="§"/>
            </a:pPr>
            <a:endParaRPr lang="en-US" sz="2000" dirty="0">
              <a:latin typeface="Times New Roman" panose="02020603050405020304" pitchFamily="18" charset="0"/>
              <a:ea typeface="Trebuchet MS"/>
              <a:cs typeface="Times New Roman" panose="02020603050405020304" pitchFamily="18" charset="0"/>
              <a:sym typeface="Trebuchet MS"/>
            </a:endParaRPr>
          </a:p>
          <a:p>
            <a:pPr algn="just">
              <a:spcBef>
                <a:spcPts val="0"/>
              </a:spcBef>
              <a:spcAft>
                <a:spcPts val="0"/>
              </a:spcAft>
            </a:pPr>
            <a:endParaRPr lang="en-US" sz="2000" dirty="0">
              <a:latin typeface="Times New Roman" panose="02020603050405020304" pitchFamily="18" charset="0"/>
              <a:ea typeface="Trebuchet MS"/>
              <a:cs typeface="Times New Roman" panose="02020603050405020304" pitchFamily="18" charset="0"/>
              <a:sym typeface="Trebuchet MS"/>
            </a:endParaRPr>
          </a:p>
          <a:p>
            <a:pPr marL="342900" indent="-342900" algn="just">
              <a:spcBef>
                <a:spcPts val="0"/>
              </a:spcBef>
              <a:spcAft>
                <a:spcPts val="0"/>
              </a:spcAft>
              <a:buFont typeface="Wingdings" panose="05000000000000000000" pitchFamily="2" charset="2"/>
              <a:buChar char="§"/>
            </a:pPr>
            <a:r>
              <a:rPr lang="en-US" sz="2000" b="1" i="1" dirty="0">
                <a:latin typeface="Times New Roman" panose="02020603050405020304" pitchFamily="18" charset="0"/>
                <a:ea typeface="Trebuchet MS"/>
                <a:cs typeface="Times New Roman" panose="02020603050405020304" pitchFamily="18" charset="0"/>
                <a:sym typeface="Trebuchet MS"/>
              </a:rPr>
              <a:t>Availability of dataset : </a:t>
            </a:r>
            <a:r>
              <a:rPr lang="en-US" sz="2000" dirty="0">
                <a:latin typeface="Times New Roman" panose="02020603050405020304" pitchFamily="18" charset="0"/>
                <a:ea typeface="Trebuchet MS"/>
                <a:cs typeface="Times New Roman" panose="02020603050405020304" pitchFamily="18" charset="0"/>
                <a:sym typeface="Trebuchet MS"/>
              </a:rPr>
              <a:t>There are available datasets on Internet platforms like Kaggle and etc. But we will be gathering data from our systems and combine them with existing dataset which is downloaded and extracted from our system.</a:t>
            </a:r>
          </a:p>
          <a:p>
            <a:pPr marL="342900" indent="-342900" algn="just">
              <a:spcBef>
                <a:spcPts val="0"/>
              </a:spcBef>
              <a:spcAft>
                <a:spcPts val="0"/>
              </a:spcAft>
              <a:buFont typeface="Wingdings" panose="05000000000000000000" pitchFamily="2" charset="2"/>
              <a:buChar char="§"/>
            </a:pPr>
            <a:endParaRPr lang="en-US" sz="2000" dirty="0">
              <a:latin typeface="Times New Roman" panose="02020603050405020304" pitchFamily="18" charset="0"/>
              <a:ea typeface="Trebuchet MS"/>
              <a:cs typeface="Times New Roman" panose="02020603050405020304" pitchFamily="18" charset="0"/>
              <a:sym typeface="Trebuchet MS"/>
            </a:endParaRPr>
          </a:p>
          <a:p>
            <a:pPr marL="342900" indent="-342900" algn="just">
              <a:spcBef>
                <a:spcPts val="0"/>
              </a:spcBef>
              <a:spcAft>
                <a:spcPts val="0"/>
              </a:spcAft>
              <a:buFont typeface="Wingdings" panose="05000000000000000000" pitchFamily="2" charset="2"/>
              <a:buChar char="§"/>
            </a:pPr>
            <a:r>
              <a:rPr lang="en-US" sz="2000" b="1" i="1" dirty="0">
                <a:latin typeface="Times New Roman" panose="02020603050405020304" pitchFamily="18" charset="0"/>
                <a:ea typeface="Trebuchet MS"/>
                <a:cs typeface="Times New Roman" panose="02020603050405020304" pitchFamily="18" charset="0"/>
                <a:sym typeface="Trebuchet MS"/>
              </a:rPr>
              <a:t>Source of dataset : </a:t>
            </a:r>
            <a:r>
              <a:rPr lang="en-US" sz="2000" dirty="0">
                <a:latin typeface="Times New Roman" panose="02020603050405020304" pitchFamily="18" charset="0"/>
                <a:ea typeface="Trebuchet MS"/>
                <a:cs typeface="Times New Roman" panose="02020603050405020304" pitchFamily="18" charset="0"/>
                <a:sym typeface="Trebuchet MS"/>
              </a:rPr>
              <a:t>Internet Sources ( Kaggle ) and our system data.</a:t>
            </a:r>
          </a:p>
          <a:p>
            <a:pPr marL="342900" indent="-342900" algn="just">
              <a:spcBef>
                <a:spcPts val="0"/>
              </a:spcBef>
              <a:spcAft>
                <a:spcPts val="0"/>
              </a:spcAft>
              <a:buFont typeface="Wingdings" panose="05000000000000000000" pitchFamily="2" charset="2"/>
              <a:buChar char="§"/>
            </a:pPr>
            <a:endParaRPr lang="en-US" sz="2000" dirty="0">
              <a:latin typeface="Times New Roman" panose="02020603050405020304" pitchFamily="18" charset="0"/>
              <a:ea typeface="Trebuchet MS"/>
              <a:cs typeface="Times New Roman" panose="02020603050405020304" pitchFamily="18" charset="0"/>
              <a:sym typeface="Trebuchet MS"/>
            </a:endParaRPr>
          </a:p>
          <a:p>
            <a:pPr marL="342900" indent="-342900" algn="just">
              <a:spcBef>
                <a:spcPts val="0"/>
              </a:spcBef>
              <a:spcAft>
                <a:spcPts val="0"/>
              </a:spcAft>
              <a:buFont typeface="Wingdings" panose="05000000000000000000" pitchFamily="2" charset="2"/>
              <a:buChar char="§"/>
            </a:pPr>
            <a:r>
              <a:rPr lang="en-US" sz="2000" b="1" i="1" dirty="0">
                <a:latin typeface="Times New Roman" panose="02020603050405020304" pitchFamily="18" charset="0"/>
                <a:ea typeface="Trebuchet MS"/>
                <a:cs typeface="Times New Roman" panose="02020603050405020304" pitchFamily="18" charset="0"/>
                <a:sym typeface="Trebuchet MS"/>
              </a:rPr>
              <a:t>Size of dataset : </a:t>
            </a:r>
            <a:r>
              <a:rPr lang="en-US" sz="2000" dirty="0">
                <a:latin typeface="Times New Roman" panose="02020603050405020304" pitchFamily="18" charset="0"/>
                <a:ea typeface="Trebuchet MS"/>
                <a:cs typeface="Times New Roman" panose="02020603050405020304" pitchFamily="18" charset="0"/>
                <a:sym typeface="Trebuchet MS"/>
              </a:rPr>
              <a:t>approx. 200k records of data can be even more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flipV="1">
            <a:off x="1828801" y="1617668"/>
            <a:ext cx="8839199" cy="45719"/>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387080" y="1140803"/>
            <a:ext cx="828092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b="1" i="1" dirty="0">
                <a:solidFill>
                  <a:srgbClr val="FF0000"/>
                </a:solidFill>
                <a:latin typeface="Times New Roman" panose="02020603050405020304" pitchFamily="18" charset="0"/>
                <a:cs typeface="Times New Roman" panose="02020603050405020304" pitchFamily="18" charset="0"/>
              </a:rPr>
              <a:t>Capstone (Phase-I , Phase-II and Phase III) Project Timeline</a:t>
            </a:r>
            <a:endParaRPr lang="en-US" sz="2400" b="1" i="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BB10B19-4157-41B3-85CA-452455B519DD}"/>
              </a:ext>
            </a:extLst>
          </p:cNvPr>
          <p:cNvSpPr txBox="1"/>
          <p:nvPr/>
        </p:nvSpPr>
        <p:spPr>
          <a:xfrm>
            <a:off x="1806150" y="1484784"/>
            <a:ext cx="8839199" cy="5558445"/>
          </a:xfrm>
          <a:prstGeom prst="rect">
            <a:avLst/>
          </a:prstGeom>
          <a:noFill/>
        </p:spPr>
        <p:txBody>
          <a:bodyPr wrap="square">
            <a:spAutoFit/>
          </a:bodyPr>
          <a:lstStyle/>
          <a:p>
            <a:pPr marL="285750" indent="-285750" algn="l">
              <a:buFont typeface="Wingdings" panose="05000000000000000000" pitchFamily="2" charset="2"/>
              <a:buChar char="§"/>
            </a:pPr>
            <a:endParaRPr lang="en-US" sz="1600" b="1" i="0" dirty="0">
              <a:effectLst/>
              <a:latin typeface="Times New Roman" panose="02020603050405020304" pitchFamily="18" charset="0"/>
              <a:cs typeface="Times New Roman" panose="02020603050405020304" pitchFamily="18" charset="0"/>
            </a:endParaRPr>
          </a:p>
          <a:p>
            <a:pPr algn="l"/>
            <a:endParaRPr lang="en-US" sz="1600" b="1" i="0" dirty="0">
              <a:effectLst/>
              <a:latin typeface="Times New Roman" panose="02020603050405020304" pitchFamily="18" charset="0"/>
              <a:cs typeface="Times New Roman" panose="02020603050405020304" pitchFamily="18" charset="0"/>
            </a:endParaRPr>
          </a:p>
          <a:p>
            <a:pPr marL="285750" indent="-285750" algn="l">
              <a:lnSpc>
                <a:spcPct val="150000"/>
              </a:lnSpc>
              <a:buFont typeface="Wingdings" panose="05000000000000000000" pitchFamily="2" charset="2"/>
              <a:buChar char="§"/>
            </a:pPr>
            <a:r>
              <a:rPr lang="en-US" sz="1600" b="1" i="0" dirty="0">
                <a:effectLst/>
                <a:latin typeface="Times New Roman" panose="02020603050405020304" pitchFamily="18" charset="0"/>
                <a:cs typeface="Times New Roman" panose="02020603050405020304" pitchFamily="18" charset="0"/>
              </a:rPr>
              <a:t>Capstone Phase-1 ( Semester 5 ):</a:t>
            </a:r>
            <a:br>
              <a:rPr lang="en-US" sz="1600" b="0" i="0" dirty="0">
                <a:effectLst/>
                <a:latin typeface="Times New Roman" panose="02020603050405020304" pitchFamily="18" charset="0"/>
                <a:cs typeface="Times New Roman" panose="02020603050405020304" pitchFamily="18" charset="0"/>
              </a:rPr>
            </a:br>
            <a:r>
              <a:rPr lang="en-US" sz="1600" b="0" i="0" dirty="0">
                <a:effectLst/>
                <a:latin typeface="Times New Roman" panose="02020603050405020304" pitchFamily="18" charset="0"/>
                <a:cs typeface="Times New Roman" panose="02020603050405020304" pitchFamily="18" charset="0"/>
              </a:rPr>
              <a:t>Deliverables: Background Study, Formulation the problem statement, Literature Survey</a:t>
            </a:r>
            <a:br>
              <a:rPr lang="en-US" sz="1600" b="0" i="0" dirty="0">
                <a:effectLst/>
                <a:latin typeface="Times New Roman" panose="02020603050405020304" pitchFamily="18" charset="0"/>
                <a:cs typeface="Times New Roman" panose="02020603050405020304" pitchFamily="18" charset="0"/>
              </a:rPr>
            </a:br>
            <a:endParaRPr lang="en-US" sz="1600" b="0" i="0" dirty="0">
              <a:effectLst/>
              <a:latin typeface="Times New Roman" panose="02020603050405020304" pitchFamily="18" charset="0"/>
              <a:cs typeface="Times New Roman" panose="02020603050405020304" pitchFamily="18" charset="0"/>
            </a:endParaRPr>
          </a:p>
          <a:p>
            <a:pPr marL="285750" indent="-285750" algn="l">
              <a:lnSpc>
                <a:spcPct val="150000"/>
              </a:lnSpc>
              <a:buFont typeface="Wingdings" panose="05000000000000000000" pitchFamily="2" charset="2"/>
              <a:buChar char="§"/>
            </a:pPr>
            <a:r>
              <a:rPr lang="en-US" sz="1600" b="1" i="0" dirty="0">
                <a:effectLst/>
                <a:latin typeface="Times New Roman" panose="02020603050405020304" pitchFamily="18" charset="0"/>
                <a:cs typeface="Times New Roman" panose="02020603050405020304" pitchFamily="18" charset="0"/>
              </a:rPr>
              <a:t>Capstone Phase-2 ( Semester 6 ):</a:t>
            </a:r>
            <a:br>
              <a:rPr lang="en-US" sz="1600" b="0" i="0" dirty="0">
                <a:effectLst/>
                <a:latin typeface="Times New Roman" panose="02020603050405020304" pitchFamily="18" charset="0"/>
                <a:cs typeface="Times New Roman" panose="02020603050405020304" pitchFamily="18" charset="0"/>
              </a:rPr>
            </a:br>
            <a:r>
              <a:rPr lang="en-US" sz="1600" b="0" i="0" dirty="0">
                <a:effectLst/>
                <a:latin typeface="Times New Roman" panose="02020603050405020304" pitchFamily="18" charset="0"/>
                <a:cs typeface="Times New Roman" panose="02020603050405020304" pitchFamily="18" charset="0"/>
              </a:rPr>
              <a:t>Deliverables: High Level Design, Part of Implementation.</a:t>
            </a:r>
            <a:br>
              <a:rPr lang="en-US" sz="1600" b="0" i="0" dirty="0">
                <a:effectLst/>
                <a:latin typeface="Times New Roman" panose="02020603050405020304" pitchFamily="18" charset="0"/>
                <a:cs typeface="Times New Roman" panose="02020603050405020304" pitchFamily="18" charset="0"/>
              </a:rPr>
            </a:br>
            <a:endParaRPr lang="en-US" sz="1600" b="0" i="0" dirty="0">
              <a:effectLst/>
              <a:latin typeface="Times New Roman" panose="02020603050405020304" pitchFamily="18" charset="0"/>
              <a:cs typeface="Times New Roman" panose="02020603050405020304" pitchFamily="18" charset="0"/>
            </a:endParaRPr>
          </a:p>
          <a:p>
            <a:pPr marL="285750" indent="-285750" algn="l">
              <a:lnSpc>
                <a:spcPct val="150000"/>
              </a:lnSpc>
              <a:buFont typeface="Wingdings" panose="05000000000000000000" pitchFamily="2" charset="2"/>
              <a:buChar char="§"/>
            </a:pPr>
            <a:r>
              <a:rPr lang="en-US" sz="1600" b="1" i="0" dirty="0">
                <a:effectLst/>
                <a:latin typeface="Times New Roman" panose="02020603050405020304" pitchFamily="18" charset="0"/>
                <a:cs typeface="Times New Roman" panose="02020603050405020304" pitchFamily="18" charset="0"/>
              </a:rPr>
              <a:t>Capstone Phase-3 ( Semester 7 ):</a:t>
            </a:r>
            <a:br>
              <a:rPr lang="en-US" sz="1600" b="0" i="0" dirty="0">
                <a:effectLst/>
                <a:latin typeface="Times New Roman" panose="02020603050405020304" pitchFamily="18" charset="0"/>
                <a:cs typeface="Times New Roman" panose="02020603050405020304" pitchFamily="18" charset="0"/>
              </a:rPr>
            </a:br>
            <a:r>
              <a:rPr lang="en-US" sz="1600" b="0" i="0" dirty="0">
                <a:effectLst/>
                <a:latin typeface="Times New Roman" panose="02020603050405020304" pitchFamily="18" charset="0"/>
                <a:cs typeface="Times New Roman" panose="02020603050405020304" pitchFamily="18" charset="0"/>
              </a:rPr>
              <a:t>Deliverables: Low level Design and Complete Implementation, Draft version of the paper for publishing.</a:t>
            </a:r>
            <a:br>
              <a:rPr lang="en-US" sz="1600" b="0" i="0" dirty="0">
                <a:effectLst/>
                <a:latin typeface="Times New Roman" panose="02020603050405020304" pitchFamily="18" charset="0"/>
                <a:cs typeface="Times New Roman" panose="02020603050405020304" pitchFamily="18" charset="0"/>
              </a:rPr>
            </a:br>
            <a:endParaRPr lang="en-US" sz="1600" b="0" i="0" dirty="0">
              <a:effectLst/>
              <a:latin typeface="Times New Roman" panose="02020603050405020304" pitchFamily="18" charset="0"/>
              <a:cs typeface="Times New Roman" panose="02020603050405020304" pitchFamily="18" charset="0"/>
            </a:endParaRPr>
          </a:p>
          <a:p>
            <a:pPr marL="285750" indent="-285750" algn="l">
              <a:lnSpc>
                <a:spcPct val="150000"/>
              </a:lnSpc>
              <a:buFont typeface="Wingdings" panose="05000000000000000000" pitchFamily="2" charset="2"/>
              <a:buChar char="§"/>
            </a:pPr>
            <a:r>
              <a:rPr lang="en-US" sz="1600" b="1" i="0" dirty="0">
                <a:effectLst/>
                <a:latin typeface="Times New Roman" panose="02020603050405020304" pitchFamily="18" charset="0"/>
                <a:cs typeface="Times New Roman" panose="02020603050405020304" pitchFamily="18" charset="0"/>
              </a:rPr>
              <a:t>Capstone Phase-4 ( Semester 8 ):</a:t>
            </a:r>
            <a:br>
              <a:rPr lang="en-US" sz="1600" b="0" i="0" dirty="0">
                <a:effectLst/>
                <a:latin typeface="Times New Roman" panose="02020603050405020304" pitchFamily="18" charset="0"/>
                <a:cs typeface="Times New Roman" panose="02020603050405020304" pitchFamily="18" charset="0"/>
              </a:rPr>
            </a:br>
            <a:r>
              <a:rPr lang="en-US" sz="1600" b="0" i="0" dirty="0">
                <a:effectLst/>
                <a:latin typeface="Times New Roman" panose="02020603050405020304" pitchFamily="18" charset="0"/>
                <a:cs typeface="Times New Roman" panose="02020603050405020304" pitchFamily="18" charset="0"/>
              </a:rPr>
              <a:t>Deliverables: Paper Publication in Scopus indexed journals/ Web of Science/ UGC Journal etc..</a:t>
            </a:r>
          </a:p>
          <a:p>
            <a:pPr marL="1077913" lvl="1" indent="-265113" algn="just" eaLnBrk="0" hangingPunct="0">
              <a:spcBef>
                <a:spcPts val="0"/>
              </a:spcBef>
              <a:spcAft>
                <a:spcPts val="0"/>
              </a:spcAft>
              <a:buFont typeface="Wingdings" pitchFamily="2" charset="2"/>
              <a:buChar char="§"/>
              <a:defRPr/>
            </a:pPr>
            <a:endParaRPr lang="en-IN" sz="1600" dirty="0">
              <a:solidFill>
                <a:srgbClr val="0033CC"/>
              </a:solidFill>
              <a:latin typeface="Trebuchet MS"/>
            </a:endParaRPr>
          </a:p>
          <a:p>
            <a:pPr marL="1077913" lvl="1" indent="-265113" algn="just" eaLnBrk="0" hangingPunct="0">
              <a:spcBef>
                <a:spcPct val="20000"/>
              </a:spcBef>
              <a:defRPr/>
            </a:pPr>
            <a:endParaRPr lang="en-IN" sz="1600" dirty="0">
              <a:solidFill>
                <a:srgbClr val="0000FF"/>
              </a:solidFill>
              <a:latin typeface="Trebuchet MS" pitchFamily="34" charset="0"/>
            </a:endParaRPr>
          </a:p>
        </p:txBody>
      </p:sp>
    </p:spTree>
    <p:extLst>
      <p:ext uri="{BB962C8B-B14F-4D97-AF65-F5344CB8AC3E}">
        <p14:creationId xmlns:p14="http://schemas.microsoft.com/office/powerpoint/2010/main" val="1007940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EBB10B19-4157-41B3-85CA-452455B519DD}"/>
              </a:ext>
            </a:extLst>
          </p:cNvPr>
          <p:cNvSpPr txBox="1"/>
          <p:nvPr/>
        </p:nvSpPr>
        <p:spPr>
          <a:xfrm>
            <a:off x="1991544" y="1603873"/>
            <a:ext cx="8839199" cy="4819781"/>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Phase-1: Background Study, Problem Formulation, Literature Survey (Semester 5)</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1-4</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Team formation and role allocation.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Identify areas of interest and domain selection.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initial brainstorming sessions to define a tentative problem statement.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2:</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a detailed background study.</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Collect data, identify gaps in existing solutions, and refine the problem statement.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3:</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an extensive literature survey (minimum 10-15 papers).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Analyze related work, existing methodologies, and tools.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4:</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Finalize the problem statement.</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the report containing the background study, refined problem statement, and literature survey.</a:t>
            </a:r>
          </a:p>
          <a:p>
            <a:pPr marL="342891" indent="12700" algn="just" eaLnBrk="0" hangingPunct="0">
              <a:spcBef>
                <a:spcPct val="20000"/>
              </a:spcBef>
              <a:defRPr/>
            </a:pPr>
            <a:endParaRPr lang="en-IN" sz="1600" kern="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9AD7-84B3-943C-397D-C4E88965161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34E9DBA-EFD3-BAFD-9867-56C66D917D85}"/>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55443B9B-D726-2565-2DBE-09DD54F2FD9D}"/>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3823FA27-ABF5-BB05-1474-EED392F9A528}"/>
              </a:ext>
            </a:extLst>
          </p:cNvPr>
          <p:cNvSpPr txBox="1"/>
          <p:nvPr/>
        </p:nvSpPr>
        <p:spPr>
          <a:xfrm>
            <a:off x="1991544" y="1611378"/>
            <a:ext cx="8839199" cy="3785652"/>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Phase-2: High-Level Design, Part of Implementation (Semester 6)</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5-8</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5:</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Define system requirements and specifications.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Develop high-level architecture (flowcharts, block diagrams, UML diagrams).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6:</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Select tools, frameworks, and platforms for implementation.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Start implementing critical modules (proof of concept).</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7:</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Conduct initial testing of implemented modules.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Review design and implementation progress.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8:</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a progress report with high-level design and partial implementation details.</a:t>
            </a:r>
          </a:p>
        </p:txBody>
      </p:sp>
    </p:spTree>
    <p:extLst>
      <p:ext uri="{BB962C8B-B14F-4D97-AF65-F5344CB8AC3E}">
        <p14:creationId xmlns:p14="http://schemas.microsoft.com/office/powerpoint/2010/main" val="2247523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B34A9-6121-C2C3-4E87-39CBCB95FB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3A637CD-F222-9357-0E2C-8D7F3DD26980}"/>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C63871AE-AA72-6BBC-FE27-90D3CD773844}"/>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Phase-III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A6285438-EC1E-4186-30EE-42132C8C7987}"/>
              </a:ext>
            </a:extLst>
          </p:cNvPr>
          <p:cNvSpPr txBox="1"/>
          <p:nvPr/>
        </p:nvSpPr>
        <p:spPr>
          <a:xfrm>
            <a:off x="1991544" y="1603873"/>
            <a:ext cx="8839199" cy="4031873"/>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Phase-3: Low-Level Design, Complete Implementation, Draft Paper (Semester 7)</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9-12</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9:</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Develop low-level designs (detailed workflows, module-level diagrams).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Begin integrating all system modules.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10:</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Complete system implementation.</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system-level testing and debugging.</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11:</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Analyze results and compare them with existing solutions.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Draft a research paper outlining the methodology, implementation, and results.</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12:</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a comprehensive report with low-level designs, full implementation, and the paper draft.</a:t>
            </a:r>
          </a:p>
        </p:txBody>
      </p:sp>
    </p:spTree>
    <p:extLst>
      <p:ext uri="{BB962C8B-B14F-4D97-AF65-F5344CB8AC3E}">
        <p14:creationId xmlns:p14="http://schemas.microsoft.com/office/powerpoint/2010/main" val="2050145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4A074-D1B0-AFC9-2302-90D07B92B5E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E07338-32E0-C2CE-301C-206B3E2C7A3A}"/>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a:extLst>
              <a:ext uri="{FF2B5EF4-FFF2-40B4-BE49-F238E27FC236}">
                <a16:creationId xmlns:a16="http://schemas.microsoft.com/office/drawing/2014/main" id="{CB275949-50A0-5AE2-8DF2-1EF55613BE8B}"/>
              </a:ext>
            </a:extLst>
          </p:cNvPr>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IN" sz="2400" b="1" i="1" dirty="0">
                <a:solidFill>
                  <a:srgbClr val="FF0000"/>
                </a:solidFill>
                <a:latin typeface="Times New Roman" panose="02020603050405020304" pitchFamily="18" charset="0"/>
                <a:cs typeface="Times New Roman" panose="02020603050405020304" pitchFamily="18" charset="0"/>
              </a:rPr>
              <a:t>Capstone Phase-IV timeline</a:t>
            </a:r>
            <a:endParaRPr lang="en-US" sz="2400" dirty="0">
              <a:solidFill>
                <a:srgbClr val="FF0000"/>
              </a:solidFill>
              <a:latin typeface="Trebuchet MS" pitchFamily="34" charset="0"/>
            </a:endParaRPr>
          </a:p>
        </p:txBody>
      </p:sp>
      <p:sp>
        <p:nvSpPr>
          <p:cNvPr id="5" name="TextBox 4">
            <a:extLst>
              <a:ext uri="{FF2B5EF4-FFF2-40B4-BE49-F238E27FC236}">
                <a16:creationId xmlns:a16="http://schemas.microsoft.com/office/drawing/2014/main" id="{713312D8-AF3C-6BB2-FBB6-86C91DB82A85}"/>
              </a:ext>
            </a:extLst>
          </p:cNvPr>
          <p:cNvSpPr txBox="1"/>
          <p:nvPr/>
        </p:nvSpPr>
        <p:spPr>
          <a:xfrm>
            <a:off x="2009329" y="1617668"/>
            <a:ext cx="8839199" cy="4031873"/>
          </a:xfrm>
          <a:prstGeom prst="rect">
            <a:avLst/>
          </a:prstGeom>
          <a:noFill/>
        </p:spPr>
        <p:txBody>
          <a:bodyPr wrap="square">
            <a:spAutoFit/>
          </a:bodyPr>
          <a:lstStyle/>
          <a:p>
            <a:endParaRPr lang="en-US" sz="1600" b="1"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Phase-4: Paper Publication (Semester 8)</a:t>
            </a:r>
          </a:p>
          <a:p>
            <a:r>
              <a:rPr lang="en-US" sz="1600" b="1" dirty="0">
                <a:latin typeface="Times New Roman" panose="02020603050405020304" pitchFamily="18" charset="0"/>
                <a:cs typeface="Times New Roman" panose="02020603050405020304" pitchFamily="18" charset="0"/>
              </a:rPr>
              <a:t>Duration:</a:t>
            </a:r>
            <a:r>
              <a:rPr lang="en-US" sz="1600" dirty="0">
                <a:latin typeface="Times New Roman" panose="02020603050405020304" pitchFamily="18" charset="0"/>
                <a:cs typeface="Times New Roman" panose="02020603050405020304" pitchFamily="18" charset="0"/>
              </a:rPr>
              <a:t> Months 13-16</a:t>
            </a:r>
          </a:p>
          <a:p>
            <a:endParaRPr lang="en-US" sz="16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13:</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Finalize the research paper (align with Scopus/Web of Science/UGC guidelines).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Perform a thorough review, incorporating mentor feedback.</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14:</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Submit the paper to selected journals or conferences.</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Begin preparing the final capstone project presentation.</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15:</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Await feedback from the journal. Address reviewer comments if required.</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Fine-tune the project report and presentation.</a:t>
            </a:r>
          </a:p>
          <a:p>
            <a:pPr marL="742950" lvl="1" indent="-285750">
              <a:buFont typeface="Wingdings" panose="05000000000000000000" pitchFamily="2" charset="2"/>
              <a:buChar char="§"/>
            </a:pPr>
            <a:r>
              <a:rPr lang="en-US" sz="1600" b="1" dirty="0">
                <a:latin typeface="Times New Roman" panose="02020603050405020304" pitchFamily="18" charset="0"/>
                <a:cs typeface="Times New Roman" panose="02020603050405020304" pitchFamily="18" charset="0"/>
              </a:rPr>
              <a:t>Month 16:</a:t>
            </a:r>
            <a:endParaRPr lang="en-US" sz="1600" dirty="0">
              <a:latin typeface="Times New Roman" panose="02020603050405020304" pitchFamily="18" charset="0"/>
              <a:cs typeface="Times New Roman" panose="02020603050405020304" pitchFamily="18" charset="0"/>
            </a:endParaRP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Publish the paper upon acceptance.</a:t>
            </a:r>
          </a:p>
          <a:p>
            <a:pPr marL="1200150" lvl="2" indent="-285750">
              <a:buFont typeface="Wingdings" panose="05000000000000000000" pitchFamily="2" charset="2"/>
              <a:buChar char="§"/>
            </a:pPr>
            <a:r>
              <a:rPr lang="en-US" sz="1600" dirty="0">
                <a:latin typeface="Times New Roman" panose="02020603050405020304" pitchFamily="18" charset="0"/>
                <a:cs typeface="Times New Roman" panose="02020603050405020304" pitchFamily="18" charset="0"/>
              </a:rPr>
              <a:t>Deliver the final project presentation and submit the complete documentation.</a:t>
            </a:r>
          </a:p>
        </p:txBody>
      </p:sp>
    </p:spTree>
    <p:extLst>
      <p:ext uri="{BB962C8B-B14F-4D97-AF65-F5344CB8AC3E}">
        <p14:creationId xmlns:p14="http://schemas.microsoft.com/office/powerpoint/2010/main" val="27302208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b="1" i="1" dirty="0">
                <a:solidFill>
                  <a:srgbClr val="FF0000"/>
                </a:solidFill>
                <a:latin typeface="Times New Roman" panose="02020603050405020304" pitchFamily="18" charset="0"/>
                <a:cs typeface="Times New Roman" panose="02020603050405020304" pitchFamily="18" charset="0"/>
              </a:rPr>
              <a:t>Conclusion</a:t>
            </a:r>
            <a:endParaRPr lang="en-US" sz="2400" b="1" i="1" dirty="0">
              <a:solidFill>
                <a:srgbClr val="FF00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E8F54B-B87A-F8B1-1EE0-31A7F1442B54}"/>
              </a:ext>
            </a:extLst>
          </p:cNvPr>
          <p:cNvSpPr txBox="1"/>
          <p:nvPr/>
        </p:nvSpPr>
        <p:spPr>
          <a:xfrm rot="10800000" flipV="1">
            <a:off x="623392" y="1887238"/>
            <a:ext cx="11017224" cy="4278094"/>
          </a:xfrm>
          <a:prstGeom prst="rect">
            <a:avLst/>
          </a:prstGeom>
          <a:noFill/>
        </p:spPr>
        <p:txBody>
          <a:bodyPr wrap="square">
            <a:spAutoFit/>
          </a:bodyPr>
          <a:lstStyle/>
          <a:p>
            <a:r>
              <a:rPr lang="en-US" sz="1700" b="1" dirty="0">
                <a:latin typeface="Times New Roman" panose="02020603050405020304" pitchFamily="18" charset="0"/>
                <a:cs typeface="Times New Roman" panose="02020603050405020304" pitchFamily="18" charset="0"/>
              </a:rPr>
              <a:t>Summing Up: </a:t>
            </a:r>
            <a:r>
              <a:rPr lang="en-US" sz="1700" dirty="0">
                <a:latin typeface="Times New Roman" panose="02020603050405020304" pitchFamily="18" charset="0"/>
                <a:cs typeface="Times New Roman" panose="02020603050405020304" pitchFamily="18" charset="0"/>
              </a:rPr>
              <a:t>The AVIOS project aims to redefine operating systems by integrating AI capabilities, focusing on smart security and dynamic memory allocation to enhance performance and user trust.</a:t>
            </a:r>
          </a:p>
          <a:p>
            <a:endParaRPr lang="en-US" sz="1700" dirty="0">
              <a:latin typeface="Times New Roman" panose="02020603050405020304" pitchFamily="18" charset="0"/>
              <a:cs typeface="Times New Roman" panose="02020603050405020304" pitchFamily="18" charset="0"/>
            </a:endParaRPr>
          </a:p>
          <a:p>
            <a:r>
              <a:rPr lang="en-US" sz="1700" b="1" dirty="0">
                <a:latin typeface="Times New Roman" panose="02020603050405020304" pitchFamily="18" charset="0"/>
                <a:cs typeface="Times New Roman" panose="02020603050405020304" pitchFamily="18" charset="0"/>
              </a:rPr>
              <a:t>Project Highlights:</a:t>
            </a:r>
            <a:endParaRPr lang="en-US" sz="17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Addresses key limitations of current OS designs with advanced threat detection and efficient memory management.</a:t>
            </a:r>
          </a:p>
          <a:p>
            <a:pPr marL="742950" lvl="1" indent="-285750">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Leverages the Linux kernel as a robust and scalable foundation for AI-driven security and resource optimization.</a:t>
            </a:r>
          </a:p>
          <a:p>
            <a:pPr marL="742950" lvl="1" indent="-285750">
              <a:buFont typeface="Wingdings" panose="05000000000000000000" pitchFamily="2" charset="2"/>
              <a:buChar char="§"/>
            </a:pPr>
            <a:endParaRPr lang="en-US" sz="1700" dirty="0">
              <a:latin typeface="Times New Roman" panose="02020603050405020304" pitchFamily="18" charset="0"/>
              <a:cs typeface="Times New Roman" panose="02020603050405020304" pitchFamily="18" charset="0"/>
            </a:endParaRPr>
          </a:p>
          <a:p>
            <a:r>
              <a:rPr lang="en-US" sz="1700" b="1" dirty="0">
                <a:latin typeface="Times New Roman" panose="02020603050405020304" pitchFamily="18" charset="0"/>
                <a:cs typeface="Times New Roman" panose="02020603050405020304" pitchFamily="18" charset="0"/>
              </a:rPr>
              <a:t>Future Prospects:</a:t>
            </a:r>
            <a:endParaRPr lang="en-US" sz="1700"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Potential to develop a custom AI-optimized kernel for better security and memory allocation.</a:t>
            </a:r>
          </a:p>
          <a:p>
            <a:pPr marL="742950" lvl="1" indent="-285750">
              <a:buFont typeface="Wingdings" panose="05000000000000000000" pitchFamily="2" charset="2"/>
              <a:buChar char="§"/>
            </a:pPr>
            <a:r>
              <a:rPr lang="en-US" sz="1700" dirty="0">
                <a:latin typeface="Times New Roman" panose="02020603050405020304" pitchFamily="18" charset="0"/>
                <a:cs typeface="Times New Roman" panose="02020603050405020304" pitchFamily="18" charset="0"/>
              </a:rPr>
              <a:t>Expand into features like real-time threat mitigation and adaptive resource scaling to ensure seamless operation.</a:t>
            </a:r>
          </a:p>
          <a:p>
            <a:endParaRPr lang="en-US" sz="1700" b="1" dirty="0">
              <a:latin typeface="Times New Roman" panose="02020603050405020304" pitchFamily="18" charset="0"/>
              <a:cs typeface="Times New Roman" panose="02020603050405020304" pitchFamily="18" charset="0"/>
            </a:endParaRPr>
          </a:p>
          <a:p>
            <a:r>
              <a:rPr lang="en-US" sz="1700" b="1" dirty="0">
                <a:latin typeface="Times New Roman" panose="02020603050405020304" pitchFamily="18" charset="0"/>
                <a:cs typeface="Times New Roman" panose="02020603050405020304" pitchFamily="18" charset="0"/>
              </a:rPr>
              <a:t>Team Commitment: </a:t>
            </a:r>
            <a:r>
              <a:rPr lang="en-US" sz="1700" dirty="0">
                <a:latin typeface="Times New Roman" panose="02020603050405020304" pitchFamily="18" charset="0"/>
                <a:cs typeface="Times New Roman" panose="02020603050405020304" pitchFamily="18" charset="0"/>
              </a:rPr>
              <a:t>The team is dedicated to overcoming challenges such as scalability, computational overhead, and real-time integration to deliver a secure and efficient system.</a:t>
            </a:r>
          </a:p>
          <a:p>
            <a:endParaRPr lang="en-US" sz="1700" b="1" dirty="0">
              <a:latin typeface="Times New Roman" panose="02020603050405020304" pitchFamily="18" charset="0"/>
              <a:cs typeface="Times New Roman" panose="02020603050405020304" pitchFamily="18" charset="0"/>
            </a:endParaRPr>
          </a:p>
          <a:p>
            <a:r>
              <a:rPr lang="en-US" sz="1700" b="1" dirty="0">
                <a:latin typeface="Times New Roman" panose="02020603050405020304" pitchFamily="18" charset="0"/>
                <a:cs typeface="Times New Roman" panose="02020603050405020304" pitchFamily="18" charset="0"/>
              </a:rPr>
              <a:t>Final Note: </a:t>
            </a:r>
            <a:r>
              <a:rPr lang="en-US" sz="1700" dirty="0">
                <a:latin typeface="Times New Roman" panose="02020603050405020304" pitchFamily="18" charset="0"/>
                <a:cs typeface="Times New Roman" panose="02020603050405020304" pitchFamily="18" charset="0"/>
              </a:rPr>
              <a:t>AVIOS marks a significant step towards intelligent and adaptive operating systems, emphasizing smarter security and resource management for next-generation computing.</a:t>
            </a:r>
          </a:p>
        </p:txBody>
      </p:sp>
    </p:spTree>
    <p:extLst>
      <p:ext uri="{BB962C8B-B14F-4D97-AF65-F5344CB8AC3E}">
        <p14:creationId xmlns:p14="http://schemas.microsoft.com/office/powerpoint/2010/main" val="2374062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b="1" i="1" dirty="0">
                <a:solidFill>
                  <a:srgbClr val="FF0000"/>
                </a:solidFill>
                <a:latin typeface="Times New Roman" panose="02020603050405020304" pitchFamily="18" charset="0"/>
                <a:cs typeface="Times New Roman" panose="02020603050405020304" pitchFamily="18" charset="0"/>
              </a:rPr>
              <a:t>References</a:t>
            </a:r>
          </a:p>
        </p:txBody>
      </p:sp>
      <p:sp>
        <p:nvSpPr>
          <p:cNvPr id="6" name="Content Placeholder 2"/>
          <p:cNvSpPr txBox="1">
            <a:spLocks/>
          </p:cNvSpPr>
          <p:nvPr/>
        </p:nvSpPr>
        <p:spPr>
          <a:xfrm>
            <a:off x="1828800" y="1828800"/>
            <a:ext cx="8458200" cy="4724400"/>
          </a:xfrm>
          <a:prstGeom prst="rect">
            <a:avLst/>
          </a:prstGeom>
        </p:spPr>
        <p:txBody>
          <a:bodyPr/>
          <a:lstStyle/>
          <a:p>
            <a:pPr marL="342900" indent="12700" algn="just" eaLnBrk="0" hangingPunct="0">
              <a:spcBef>
                <a:spcPct val="20000"/>
              </a:spcBef>
              <a:defRPr/>
            </a:pPr>
            <a:endParaRPr lang="en-IN" sz="2400" dirty="0">
              <a:solidFill>
                <a:srgbClr val="0000FF"/>
              </a:solidFill>
              <a:latin typeface="Trebuchet MS" pitchFamily="34" charset="0"/>
            </a:endParaRPr>
          </a:p>
        </p:txBody>
      </p:sp>
      <p:sp>
        <p:nvSpPr>
          <p:cNvPr id="4" name="TextBox 3">
            <a:extLst>
              <a:ext uri="{FF2B5EF4-FFF2-40B4-BE49-F238E27FC236}">
                <a16:creationId xmlns:a16="http://schemas.microsoft.com/office/drawing/2014/main" id="{95815ED1-633A-12BC-DB9A-B91E32D25F2F}"/>
              </a:ext>
            </a:extLst>
          </p:cNvPr>
          <p:cNvSpPr txBox="1"/>
          <p:nvPr/>
        </p:nvSpPr>
        <p:spPr>
          <a:xfrm>
            <a:off x="1199457" y="2204864"/>
            <a:ext cx="10369152" cy="3539430"/>
          </a:xfrm>
          <a:prstGeom prst="rect">
            <a:avLst/>
          </a:prstGeom>
          <a:noFill/>
        </p:spPr>
        <p:txBody>
          <a:bodyPr wrap="square" rtlCol="0">
            <a:spAutoFit/>
          </a:bodyPr>
          <a:lstStyle/>
          <a:p>
            <a:pPr marL="342900" indent="-342900">
              <a:buAutoNum type="arabicPeriod"/>
            </a:pPr>
            <a:r>
              <a:rPr lang="en-US" sz="1400" b="0" i="0" dirty="0">
                <a:solidFill>
                  <a:srgbClr val="222222"/>
                </a:solidFill>
                <a:effectLst/>
                <a:latin typeface="Times New Roman" panose="02020603050405020304" pitchFamily="18" charset="0"/>
                <a:cs typeface="Times New Roman" panose="02020603050405020304" pitchFamily="18" charset="0"/>
              </a:rPr>
              <a:t>Rahman, R., </a:t>
            </a:r>
            <a:r>
              <a:rPr lang="en-US" sz="1400" b="0" i="0" dirty="0" err="1">
                <a:solidFill>
                  <a:srgbClr val="222222"/>
                </a:solidFill>
                <a:effectLst/>
                <a:latin typeface="Times New Roman" panose="02020603050405020304" pitchFamily="18" charset="0"/>
                <a:cs typeface="Times New Roman" panose="02020603050405020304" pitchFamily="18" charset="0"/>
              </a:rPr>
              <a:t>Apriliyani</a:t>
            </a:r>
            <a:r>
              <a:rPr lang="en-US" sz="1400" b="0" i="0" dirty="0">
                <a:solidFill>
                  <a:srgbClr val="222222"/>
                </a:solidFill>
                <a:effectLst/>
                <a:latin typeface="Times New Roman" panose="02020603050405020304" pitchFamily="18" charset="0"/>
                <a:cs typeface="Times New Roman" panose="02020603050405020304" pitchFamily="18" charset="0"/>
              </a:rPr>
              <a:t>, A.W. and Ibrahim, S.N.A., 2024. Development of an Operating System Supporting Intelligent Predictions and Recommendations. </a:t>
            </a:r>
            <a:r>
              <a:rPr lang="en-US" sz="1400" b="0" i="1" dirty="0">
                <a:solidFill>
                  <a:srgbClr val="222222"/>
                </a:solidFill>
                <a:effectLst/>
                <a:latin typeface="Times New Roman" panose="02020603050405020304" pitchFamily="18" charset="0"/>
                <a:cs typeface="Times New Roman" panose="02020603050405020304" pitchFamily="18" charset="0"/>
              </a:rPr>
              <a:t>ITEJ (Information Technology Engineering Journals)</a:t>
            </a:r>
            <a:r>
              <a:rPr lang="en-US" sz="1400" b="0" i="0" dirty="0">
                <a:solidFill>
                  <a:srgbClr val="222222"/>
                </a:solidFill>
                <a:effectLst/>
                <a:latin typeface="Times New Roman" panose="02020603050405020304" pitchFamily="18" charset="0"/>
                <a:cs typeface="Times New Roman" panose="02020603050405020304" pitchFamily="18" charset="0"/>
              </a:rPr>
              <a:t>, </a:t>
            </a:r>
            <a:r>
              <a:rPr lang="en-US" sz="1400" b="0" i="1" dirty="0">
                <a:solidFill>
                  <a:srgbClr val="222222"/>
                </a:solidFill>
                <a:effectLst/>
                <a:latin typeface="Times New Roman" panose="02020603050405020304" pitchFamily="18" charset="0"/>
                <a:cs typeface="Times New Roman" panose="02020603050405020304" pitchFamily="18" charset="0"/>
              </a:rPr>
              <a:t>9</a:t>
            </a:r>
            <a:r>
              <a:rPr lang="en-US" sz="1400" b="0" i="0" dirty="0">
                <a:solidFill>
                  <a:srgbClr val="222222"/>
                </a:solidFill>
                <a:effectLst/>
                <a:latin typeface="Times New Roman" panose="02020603050405020304" pitchFamily="18" charset="0"/>
                <a:cs typeface="Times New Roman" panose="02020603050405020304" pitchFamily="18" charset="0"/>
              </a:rPr>
              <a:t>(1), pp.1-14.</a:t>
            </a:r>
          </a:p>
          <a:p>
            <a:pPr marL="342900" indent="-342900">
              <a:buAutoNum type="arabicPeriod"/>
            </a:pPr>
            <a:r>
              <a:rPr lang="en-IN" sz="1400" b="0" i="0" dirty="0">
                <a:solidFill>
                  <a:srgbClr val="222222"/>
                </a:solidFill>
                <a:effectLst/>
                <a:latin typeface="Times New Roman" panose="02020603050405020304" pitchFamily="18" charset="0"/>
                <a:cs typeface="Times New Roman" panose="02020603050405020304" pitchFamily="18" charset="0"/>
              </a:rPr>
              <a:t>Sumathi, S., </a:t>
            </a:r>
            <a:r>
              <a:rPr lang="en-IN" sz="1400" b="0" i="0" dirty="0" err="1">
                <a:solidFill>
                  <a:srgbClr val="222222"/>
                </a:solidFill>
                <a:effectLst/>
                <a:latin typeface="Times New Roman" panose="02020603050405020304" pitchFamily="18" charset="0"/>
                <a:cs typeface="Times New Roman" panose="02020603050405020304" pitchFamily="18" charset="0"/>
              </a:rPr>
              <a:t>Nivetha</a:t>
            </a:r>
            <a:r>
              <a:rPr lang="en-IN" sz="1400" b="0" i="0" dirty="0">
                <a:solidFill>
                  <a:srgbClr val="222222"/>
                </a:solidFill>
                <a:effectLst/>
                <a:latin typeface="Times New Roman" panose="02020603050405020304" pitchFamily="18" charset="0"/>
                <a:cs typeface="Times New Roman" panose="02020603050405020304" pitchFamily="18" charset="0"/>
              </a:rPr>
              <a:t>, N. and Jovita, J.P., 2023, August. Artificially Intelligent Operating System with Sapi5 Voice Recognition Engine. In </a:t>
            </a:r>
            <a:r>
              <a:rPr lang="en-IN" sz="1400" b="0" i="1" dirty="0">
                <a:solidFill>
                  <a:srgbClr val="222222"/>
                </a:solidFill>
                <a:effectLst/>
                <a:latin typeface="Times New Roman" panose="02020603050405020304" pitchFamily="18" charset="0"/>
                <a:cs typeface="Times New Roman" panose="02020603050405020304" pitchFamily="18" charset="0"/>
              </a:rPr>
              <a:t>2023 9th International Conference on Smart Computing and Communications (ICSCC)</a:t>
            </a:r>
            <a:r>
              <a:rPr lang="en-IN" sz="1400" b="0" i="0" dirty="0">
                <a:solidFill>
                  <a:srgbClr val="222222"/>
                </a:solidFill>
                <a:effectLst/>
                <a:latin typeface="Times New Roman" panose="02020603050405020304" pitchFamily="18" charset="0"/>
                <a:cs typeface="Times New Roman" panose="02020603050405020304" pitchFamily="18" charset="0"/>
              </a:rPr>
              <a:t> (pp. 477-481). IEEE.</a:t>
            </a:r>
          </a:p>
          <a:p>
            <a:pPr marL="342900" indent="-342900">
              <a:buAutoNum type="arabicPeriod"/>
            </a:pPr>
            <a:r>
              <a:rPr lang="en-IN" sz="1400" b="0" i="0" dirty="0" err="1">
                <a:solidFill>
                  <a:srgbClr val="222222"/>
                </a:solidFill>
                <a:effectLst/>
                <a:latin typeface="Times New Roman" panose="02020603050405020304" pitchFamily="18" charset="0"/>
                <a:cs typeface="Times New Roman" panose="02020603050405020304" pitchFamily="18" charset="0"/>
              </a:rPr>
              <a:t>Mandrakov</a:t>
            </a:r>
            <a:r>
              <a:rPr lang="en-IN" sz="1400" b="0" i="0" dirty="0">
                <a:solidFill>
                  <a:srgbClr val="222222"/>
                </a:solidFill>
                <a:effectLst/>
                <a:latin typeface="Times New Roman" panose="02020603050405020304" pitchFamily="18" charset="0"/>
                <a:cs typeface="Times New Roman" panose="02020603050405020304" pitchFamily="18" charset="0"/>
              </a:rPr>
              <a:t>, E.S., Vasiliev, V.A. and </a:t>
            </a:r>
            <a:r>
              <a:rPr lang="en-IN" sz="1400" b="0" i="0" dirty="0" err="1">
                <a:solidFill>
                  <a:srgbClr val="222222"/>
                </a:solidFill>
                <a:effectLst/>
                <a:latin typeface="Times New Roman" panose="02020603050405020304" pitchFamily="18" charset="0"/>
                <a:cs typeface="Times New Roman" panose="02020603050405020304" pitchFamily="18" charset="0"/>
              </a:rPr>
              <a:t>Dudina</a:t>
            </a:r>
            <a:r>
              <a:rPr lang="en-IN" sz="1400" b="0" i="0" dirty="0">
                <a:solidFill>
                  <a:srgbClr val="222222"/>
                </a:solidFill>
                <a:effectLst/>
                <a:latin typeface="Times New Roman" panose="02020603050405020304" pitchFamily="18" charset="0"/>
                <a:cs typeface="Times New Roman" panose="02020603050405020304" pitchFamily="18" charset="0"/>
              </a:rPr>
              <a:t>, D.A., 2021, September. Application of expert systems in quality management. In </a:t>
            </a:r>
            <a:r>
              <a:rPr lang="en-IN" sz="1400" b="0" i="1" dirty="0">
                <a:solidFill>
                  <a:srgbClr val="222222"/>
                </a:solidFill>
                <a:effectLst/>
                <a:latin typeface="Times New Roman" panose="02020603050405020304" pitchFamily="18" charset="0"/>
                <a:cs typeface="Times New Roman" panose="02020603050405020304" pitchFamily="18" charset="0"/>
              </a:rPr>
              <a:t>2021 International Conference on Quality Management, Transport and Information Security, Information Technologies (IT&amp;QM&amp;IS)</a:t>
            </a:r>
            <a:r>
              <a:rPr lang="en-IN" sz="1400" b="0" i="0" dirty="0">
                <a:solidFill>
                  <a:srgbClr val="222222"/>
                </a:solidFill>
                <a:effectLst/>
                <a:latin typeface="Times New Roman" panose="02020603050405020304" pitchFamily="18" charset="0"/>
                <a:cs typeface="Times New Roman" panose="02020603050405020304" pitchFamily="18" charset="0"/>
              </a:rPr>
              <a:t> (pp. 516-518). IEEE.</a:t>
            </a:r>
          </a:p>
          <a:p>
            <a:pPr marL="342900" indent="-342900">
              <a:buAutoNum type="arabicPeriod"/>
            </a:pPr>
            <a:r>
              <a:rPr lang="en-IN" sz="1400" b="0" i="0" dirty="0" err="1">
                <a:solidFill>
                  <a:srgbClr val="222222"/>
                </a:solidFill>
                <a:effectLst/>
                <a:latin typeface="Times New Roman" panose="02020603050405020304" pitchFamily="18" charset="0"/>
                <a:cs typeface="Times New Roman" panose="02020603050405020304" pitchFamily="18" charset="0"/>
              </a:rPr>
              <a:t>Montezanti</a:t>
            </a:r>
            <a:r>
              <a:rPr lang="en-IN" sz="1400" b="0" i="0" dirty="0">
                <a:solidFill>
                  <a:srgbClr val="222222"/>
                </a:solidFill>
                <a:effectLst/>
                <a:latin typeface="Times New Roman" panose="02020603050405020304" pitchFamily="18" charset="0"/>
                <a:cs typeface="Times New Roman" panose="02020603050405020304" pitchFamily="18" charset="0"/>
              </a:rPr>
              <a:t>, D., De Giusti, A., </a:t>
            </a:r>
            <a:r>
              <a:rPr lang="en-IN" sz="1400" b="0" i="0" dirty="0" err="1">
                <a:solidFill>
                  <a:srgbClr val="222222"/>
                </a:solidFill>
                <a:effectLst/>
                <a:latin typeface="Times New Roman" panose="02020603050405020304" pitchFamily="18" charset="0"/>
                <a:cs typeface="Times New Roman" panose="02020603050405020304" pitchFamily="18" charset="0"/>
              </a:rPr>
              <a:t>Naiouf</a:t>
            </a:r>
            <a:r>
              <a:rPr lang="en-IN" sz="1400" b="0" i="0" dirty="0">
                <a:solidFill>
                  <a:srgbClr val="222222"/>
                </a:solidFill>
                <a:effectLst/>
                <a:latin typeface="Times New Roman" panose="02020603050405020304" pitchFamily="18" charset="0"/>
                <a:cs typeface="Times New Roman" panose="02020603050405020304" pitchFamily="18" charset="0"/>
              </a:rPr>
              <a:t>, M., </a:t>
            </a:r>
            <a:r>
              <a:rPr lang="en-IN" sz="1400" b="0" i="0" dirty="0" err="1">
                <a:solidFill>
                  <a:srgbClr val="222222"/>
                </a:solidFill>
                <a:effectLst/>
                <a:latin typeface="Times New Roman" panose="02020603050405020304" pitchFamily="18" charset="0"/>
                <a:cs typeface="Times New Roman" panose="02020603050405020304" pitchFamily="18" charset="0"/>
              </a:rPr>
              <a:t>Villamayor</a:t>
            </a:r>
            <a:r>
              <a:rPr lang="en-IN" sz="1400" b="0" i="0" dirty="0">
                <a:solidFill>
                  <a:srgbClr val="222222"/>
                </a:solidFill>
                <a:effectLst/>
                <a:latin typeface="Times New Roman" panose="02020603050405020304" pitchFamily="18" charset="0"/>
                <a:cs typeface="Times New Roman" panose="02020603050405020304" pitchFamily="18" charset="0"/>
              </a:rPr>
              <a:t>, J., </a:t>
            </a:r>
            <a:r>
              <a:rPr lang="en-IN" sz="1400" b="0" i="0" dirty="0" err="1">
                <a:solidFill>
                  <a:srgbClr val="222222"/>
                </a:solidFill>
                <a:effectLst/>
                <a:latin typeface="Times New Roman" panose="02020603050405020304" pitchFamily="18" charset="0"/>
                <a:cs typeface="Times New Roman" panose="02020603050405020304" pitchFamily="18" charset="0"/>
              </a:rPr>
              <a:t>Rexachs</a:t>
            </a:r>
            <a:r>
              <a:rPr lang="en-IN" sz="1400" b="0" i="0" dirty="0">
                <a:solidFill>
                  <a:srgbClr val="222222"/>
                </a:solidFill>
                <a:effectLst/>
                <a:latin typeface="Times New Roman" panose="02020603050405020304" pitchFamily="18" charset="0"/>
                <a:cs typeface="Times New Roman" panose="02020603050405020304" pitchFamily="18" charset="0"/>
              </a:rPr>
              <a:t>, D. and Luque, E., 2017, July. A methodology for soft errors detection and automatic recovery. In </a:t>
            </a:r>
            <a:r>
              <a:rPr lang="en-IN" sz="1400" b="0" i="1" dirty="0">
                <a:solidFill>
                  <a:srgbClr val="222222"/>
                </a:solidFill>
                <a:effectLst/>
                <a:latin typeface="Times New Roman" panose="02020603050405020304" pitchFamily="18" charset="0"/>
                <a:cs typeface="Times New Roman" panose="02020603050405020304" pitchFamily="18" charset="0"/>
              </a:rPr>
              <a:t>2017 International Conference on High Performance Computing &amp; Simulation (HPCS)</a:t>
            </a:r>
            <a:r>
              <a:rPr lang="en-IN" sz="1400" b="0" i="0" dirty="0">
                <a:solidFill>
                  <a:srgbClr val="222222"/>
                </a:solidFill>
                <a:effectLst/>
                <a:latin typeface="Times New Roman" panose="02020603050405020304" pitchFamily="18" charset="0"/>
                <a:cs typeface="Times New Roman" panose="02020603050405020304" pitchFamily="18" charset="0"/>
              </a:rPr>
              <a:t> (pp. 434-441). IEEE.</a:t>
            </a:r>
          </a:p>
          <a:p>
            <a:pPr marL="342900" indent="-342900">
              <a:buAutoNum type="arabicPeriod"/>
            </a:pPr>
            <a:r>
              <a:rPr lang="en-US" sz="1400" b="0" i="0" dirty="0" err="1">
                <a:solidFill>
                  <a:srgbClr val="222222"/>
                </a:solidFill>
                <a:effectLst/>
                <a:latin typeface="Times New Roman" panose="02020603050405020304" pitchFamily="18" charset="0"/>
                <a:cs typeface="Times New Roman" panose="02020603050405020304" pitchFamily="18" charset="0"/>
              </a:rPr>
              <a:t>Ramezani</a:t>
            </a:r>
            <a:r>
              <a:rPr lang="en-US" sz="1400" b="0" i="0" dirty="0">
                <a:solidFill>
                  <a:srgbClr val="222222"/>
                </a:solidFill>
                <a:effectLst/>
                <a:latin typeface="Times New Roman" panose="02020603050405020304" pitchFamily="18" charset="0"/>
                <a:cs typeface="Times New Roman" panose="02020603050405020304" pitchFamily="18" charset="0"/>
              </a:rPr>
              <a:t>, R. and </a:t>
            </a:r>
            <a:r>
              <a:rPr lang="en-US" sz="1400" b="0" i="0" dirty="0" err="1">
                <a:solidFill>
                  <a:srgbClr val="222222"/>
                </a:solidFill>
                <a:effectLst/>
                <a:latin typeface="Times New Roman" panose="02020603050405020304" pitchFamily="18" charset="0"/>
                <a:cs typeface="Times New Roman" panose="02020603050405020304" pitchFamily="18" charset="0"/>
              </a:rPr>
              <a:t>Sedaghat</a:t>
            </a:r>
            <a:r>
              <a:rPr lang="en-US" sz="1400" b="0" i="0" dirty="0">
                <a:solidFill>
                  <a:srgbClr val="222222"/>
                </a:solidFill>
                <a:effectLst/>
                <a:latin typeface="Times New Roman" panose="02020603050405020304" pitchFamily="18" charset="0"/>
                <a:cs typeface="Times New Roman" panose="02020603050405020304" pitchFamily="18" charset="0"/>
              </a:rPr>
              <a:t>, Y., 2013. An overview of fault tolerance techniques for real-time operating systems. </a:t>
            </a:r>
            <a:r>
              <a:rPr lang="en-US" sz="1400" b="0" i="1" dirty="0">
                <a:solidFill>
                  <a:srgbClr val="222222"/>
                </a:solidFill>
                <a:effectLst/>
                <a:latin typeface="Times New Roman" panose="02020603050405020304" pitchFamily="18" charset="0"/>
                <a:cs typeface="Times New Roman" panose="02020603050405020304" pitchFamily="18" charset="0"/>
              </a:rPr>
              <a:t>ICCKE 2013</a:t>
            </a:r>
            <a:r>
              <a:rPr lang="en-US" sz="1400" b="0" i="0" dirty="0">
                <a:solidFill>
                  <a:srgbClr val="222222"/>
                </a:solidFill>
                <a:effectLst/>
                <a:latin typeface="Times New Roman" panose="02020603050405020304" pitchFamily="18" charset="0"/>
                <a:cs typeface="Times New Roman" panose="02020603050405020304" pitchFamily="18" charset="0"/>
              </a:rPr>
              <a:t>, pp.1-6.</a:t>
            </a:r>
          </a:p>
          <a:p>
            <a:pPr marL="342900" indent="-342900">
              <a:buAutoNum type="arabicPeriod"/>
            </a:pPr>
            <a:r>
              <a:rPr lang="en-US" sz="1400" b="0" i="0" dirty="0">
                <a:solidFill>
                  <a:srgbClr val="222222"/>
                </a:solidFill>
                <a:effectLst/>
                <a:latin typeface="Times New Roman" panose="02020603050405020304" pitchFamily="18" charset="0"/>
                <a:cs typeface="Times New Roman" panose="02020603050405020304" pitchFamily="18" charset="0"/>
              </a:rPr>
              <a:t>Amri, M.Z. and Suryani, V., 2024, July. Android API Malware Detection Based on Permission Using Machine Learning and Deep Learning Methods. In </a:t>
            </a:r>
            <a:r>
              <a:rPr lang="en-US" sz="1400" b="0" i="1" dirty="0">
                <a:solidFill>
                  <a:srgbClr val="222222"/>
                </a:solidFill>
                <a:effectLst/>
                <a:latin typeface="Times New Roman" panose="02020603050405020304" pitchFamily="18" charset="0"/>
                <a:cs typeface="Times New Roman" panose="02020603050405020304" pitchFamily="18" charset="0"/>
              </a:rPr>
              <a:t>2024 International Conference on Data Science and Its Applications (</a:t>
            </a:r>
            <a:r>
              <a:rPr lang="en-US" sz="1400" b="0" i="1" dirty="0" err="1">
                <a:solidFill>
                  <a:srgbClr val="222222"/>
                </a:solidFill>
                <a:effectLst/>
                <a:latin typeface="Times New Roman" panose="02020603050405020304" pitchFamily="18" charset="0"/>
                <a:cs typeface="Times New Roman" panose="02020603050405020304" pitchFamily="18" charset="0"/>
              </a:rPr>
              <a:t>ICoDSA</a:t>
            </a:r>
            <a:r>
              <a:rPr lang="en-US" sz="1400" b="0" i="1" dirty="0">
                <a:solidFill>
                  <a:srgbClr val="222222"/>
                </a:solidFill>
                <a:effectLst/>
                <a:latin typeface="Times New Roman" panose="02020603050405020304" pitchFamily="18" charset="0"/>
                <a:cs typeface="Times New Roman" panose="02020603050405020304" pitchFamily="18" charset="0"/>
              </a:rPr>
              <a:t>)</a:t>
            </a:r>
            <a:r>
              <a:rPr lang="en-US" sz="1400" b="0" i="0" dirty="0">
                <a:solidFill>
                  <a:srgbClr val="222222"/>
                </a:solidFill>
                <a:effectLst/>
                <a:latin typeface="Times New Roman" panose="02020603050405020304" pitchFamily="18" charset="0"/>
                <a:cs typeface="Times New Roman" panose="02020603050405020304" pitchFamily="18" charset="0"/>
              </a:rPr>
              <a:t> (pp. 146-149). IEEE.</a:t>
            </a:r>
          </a:p>
          <a:p>
            <a:pPr marL="342900" indent="-342900">
              <a:buAutoNum type="arabicPeriod"/>
            </a:pPr>
            <a:r>
              <a:rPr lang="en-US" sz="1400" b="0" i="0" dirty="0">
                <a:solidFill>
                  <a:srgbClr val="222222"/>
                </a:solidFill>
                <a:effectLst/>
                <a:latin typeface="Times New Roman" panose="02020603050405020304" pitchFamily="18" charset="0"/>
                <a:cs typeface="Times New Roman" panose="02020603050405020304" pitchFamily="18" charset="0"/>
              </a:rPr>
              <a:t>Vishwakarma, S., 2021, May. AI based OS. In </a:t>
            </a:r>
            <a:r>
              <a:rPr lang="en-US" sz="1400" b="0" i="1" dirty="0">
                <a:solidFill>
                  <a:srgbClr val="222222"/>
                </a:solidFill>
                <a:effectLst/>
                <a:latin typeface="Times New Roman" panose="02020603050405020304" pitchFamily="18" charset="0"/>
                <a:cs typeface="Times New Roman" panose="02020603050405020304" pitchFamily="18" charset="0"/>
              </a:rPr>
              <a:t>National Conference on “Unprecedented and Advanced Concepts of Computer Vision” NCUACC</a:t>
            </a:r>
            <a:r>
              <a:rPr lang="en-US" sz="1400" b="0" i="0" dirty="0">
                <a:solidFill>
                  <a:srgbClr val="222222"/>
                </a:solidFill>
                <a:effectLst/>
                <a:latin typeface="Times New Roman" panose="02020603050405020304" pitchFamily="18" charset="0"/>
                <a:cs typeface="Times New Roman" panose="02020603050405020304" pitchFamily="18" charset="0"/>
              </a:rPr>
              <a:t> (Vol. 11, No. 12).</a:t>
            </a:r>
            <a:endParaRPr lang="en-US" sz="1400" dirty="0">
              <a:solidFill>
                <a:srgbClr val="222222"/>
              </a:solidFill>
              <a:latin typeface="Times New Roman" panose="02020603050405020304" pitchFamily="18" charset="0"/>
              <a:cs typeface="Times New Roman" panose="02020603050405020304" pitchFamily="18" charset="0"/>
            </a:endParaRPr>
          </a:p>
          <a:p>
            <a:pPr marL="342900" indent="-342900">
              <a:buAutoNum type="arabicPeriod"/>
            </a:pPr>
            <a:r>
              <a:rPr lang="en-US" sz="1400" b="0" i="0" dirty="0">
                <a:solidFill>
                  <a:srgbClr val="222222"/>
                </a:solidFill>
                <a:effectLst/>
                <a:latin typeface="Times New Roman" panose="02020603050405020304" pitchFamily="18" charset="0"/>
                <a:cs typeface="Times New Roman" panose="02020603050405020304" pitchFamily="18" charset="0"/>
              </a:rPr>
              <a:t>Etzioni, O., Levy, H.M., Segal, R.B. and </a:t>
            </a:r>
            <a:r>
              <a:rPr lang="en-US" sz="1400" b="0" i="0" dirty="0" err="1">
                <a:solidFill>
                  <a:srgbClr val="222222"/>
                </a:solidFill>
                <a:effectLst/>
                <a:latin typeface="Times New Roman" panose="02020603050405020304" pitchFamily="18" charset="0"/>
                <a:cs typeface="Times New Roman" panose="02020603050405020304" pitchFamily="18" charset="0"/>
              </a:rPr>
              <a:t>Thekkath</a:t>
            </a:r>
            <a:r>
              <a:rPr lang="en-US" sz="1400" b="0" i="0" dirty="0">
                <a:solidFill>
                  <a:srgbClr val="222222"/>
                </a:solidFill>
                <a:effectLst/>
                <a:latin typeface="Times New Roman" panose="02020603050405020304" pitchFamily="18" charset="0"/>
                <a:cs typeface="Times New Roman" panose="02020603050405020304" pitchFamily="18" charset="0"/>
              </a:rPr>
              <a:t>, C.A., 1993. </a:t>
            </a:r>
            <a:r>
              <a:rPr lang="en-US" sz="1400" b="0" i="0" dirty="0" err="1">
                <a:solidFill>
                  <a:srgbClr val="222222"/>
                </a:solidFill>
                <a:effectLst/>
                <a:latin typeface="Times New Roman" panose="02020603050405020304" pitchFamily="18" charset="0"/>
                <a:cs typeface="Times New Roman" panose="02020603050405020304" pitchFamily="18" charset="0"/>
              </a:rPr>
              <a:t>Os</a:t>
            </a:r>
            <a:r>
              <a:rPr lang="en-US" sz="1400" b="0" i="0" dirty="0">
                <a:solidFill>
                  <a:srgbClr val="222222"/>
                </a:solidFill>
                <a:effectLst/>
                <a:latin typeface="Times New Roman" panose="02020603050405020304" pitchFamily="18" charset="0"/>
                <a:cs typeface="Times New Roman" panose="02020603050405020304" pitchFamily="18" charset="0"/>
              </a:rPr>
              <a:t> agents: Using ai techniques in the operating system environment. </a:t>
            </a:r>
            <a:r>
              <a:rPr lang="en-US" sz="1400" b="0" i="1" dirty="0">
                <a:solidFill>
                  <a:srgbClr val="222222"/>
                </a:solidFill>
                <a:effectLst/>
                <a:latin typeface="Times New Roman" panose="02020603050405020304" pitchFamily="18" charset="0"/>
                <a:cs typeface="Times New Roman" panose="02020603050405020304" pitchFamily="18" charset="0"/>
              </a:rPr>
              <a:t>Seattle, Washington, Tech. Rep. UW-CSE-93-04-04, University of Washington</a:t>
            </a:r>
            <a:r>
              <a:rPr lang="en-US" sz="1400" b="0" i="0" dirty="0">
                <a:solidFill>
                  <a:srgbClr val="222222"/>
                </a:solidFill>
                <a:effectLst/>
                <a:latin typeface="Times New Roman" panose="02020603050405020304" pitchFamily="18" charset="0"/>
                <a:cs typeface="Times New Roman" panose="02020603050405020304" pitchFamily="18" charset="0"/>
              </a:rPr>
              <a:t>.</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23587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719736" y="2828835"/>
            <a:ext cx="4348883" cy="1200329"/>
          </a:xfrm>
          <a:prstGeom prst="rect">
            <a:avLst/>
          </a:prstGeom>
        </p:spPr>
        <p:txBody>
          <a:bodyPr wrap="none">
            <a:spAutoFit/>
          </a:bodyPr>
          <a:lstStyle/>
          <a:p>
            <a:pPr algn="r"/>
            <a:r>
              <a:rPr lang="en-US" sz="7200" b="1" i="1" dirty="0">
                <a:solidFill>
                  <a:srgbClr val="FF0000"/>
                </a:solidFill>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718</TotalTime>
  <Words>3477</Words>
  <Application>Microsoft Office PowerPoint</Application>
  <PresentationFormat>Widescreen</PresentationFormat>
  <Paragraphs>387</Paragraphs>
  <Slides>27</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Times New Roman</vt:lpstr>
      <vt:lpstr>Trebuchet MS</vt:lpstr>
      <vt:lpstr>Wingdings</vt:lpstr>
      <vt:lpstr>Custom Design</vt:lpstr>
      <vt:lpstr>PowerPoint Presentation</vt:lpstr>
      <vt:lpstr>PowerPoint Presentation</vt:lpstr>
      <vt:lpstr>PowerPoint Presentation</vt:lpstr>
      <vt:lpstr>Motivation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Literature Survey/Existing System </vt:lpstr>
      <vt:lpstr>Literature Survey/Existing System </vt:lpstr>
      <vt:lpstr>Literature Survey/Existing System </vt:lpstr>
      <vt:lpstr>Literature Survey/Existing System </vt:lpstr>
      <vt:lpstr>Literature Survey/Existing System </vt:lpstr>
      <vt:lpstr>Literature Survey/Existing System </vt:lpstr>
      <vt:lpstr>Literature Survey/Existing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Prajval K</cp:lastModifiedBy>
  <cp:revision>92</cp:revision>
  <dcterms:created xsi:type="dcterms:W3CDTF">2020-11-22T08:14:37Z</dcterms:created>
  <dcterms:modified xsi:type="dcterms:W3CDTF">2024-12-03T11:18:23Z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