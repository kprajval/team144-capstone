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30"/>
  </p:notesMasterIdLst>
  <p:handoutMasterIdLst>
    <p:handoutMasterId r:id="rId31"/>
  </p:handoutMasterIdLst>
  <p:sldIdLst>
    <p:sldId id="611" r:id="rId2"/>
    <p:sldId id="592" r:id="rId3"/>
    <p:sldId id="535" r:id="rId4"/>
    <p:sldId id="593" r:id="rId5"/>
    <p:sldId id="594" r:id="rId6"/>
    <p:sldId id="557" r:id="rId7"/>
    <p:sldId id="573" r:id="rId8"/>
    <p:sldId id="602" r:id="rId9"/>
    <p:sldId id="601" r:id="rId10"/>
    <p:sldId id="562" r:id="rId11"/>
    <p:sldId id="603" r:id="rId12"/>
    <p:sldId id="563" r:id="rId13"/>
    <p:sldId id="571" r:id="rId14"/>
    <p:sldId id="566" r:id="rId15"/>
    <p:sldId id="604" r:id="rId16"/>
    <p:sldId id="605" r:id="rId17"/>
    <p:sldId id="567" r:id="rId18"/>
    <p:sldId id="610" r:id="rId19"/>
    <p:sldId id="607" r:id="rId20"/>
    <p:sldId id="564" r:id="rId21"/>
    <p:sldId id="609" r:id="rId22"/>
    <p:sldId id="597" r:id="rId23"/>
    <p:sldId id="598" r:id="rId24"/>
    <p:sldId id="599" r:id="rId25"/>
    <p:sldId id="600" r:id="rId26"/>
    <p:sldId id="596" r:id="rId27"/>
    <p:sldId id="552" r:id="rId28"/>
    <p:sldId id="595" r:id="rId29"/>
  </p:sldIdLst>
  <p:sldSz cx="12192000"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CC"/>
    <a:srgbClr val="FF0066"/>
    <a:srgbClr val="0000FF"/>
    <a:srgbClr val="33CC33"/>
    <a:srgbClr val="00FFFF"/>
    <a:srgbClr val="6600FF"/>
    <a:srgbClr val="CC66FF"/>
    <a:srgbClr val="62832D"/>
    <a:srgbClr val="0066FF"/>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37" autoAdjust="0"/>
    <p:restoredTop sz="86811" autoAdjust="0"/>
  </p:normalViewPr>
  <p:slideViewPr>
    <p:cSldViewPr>
      <p:cViewPr varScale="1">
        <p:scale>
          <a:sx n="82" d="100"/>
          <a:sy n="82" d="100"/>
        </p:scale>
        <p:origin x="710" y="72"/>
      </p:cViewPr>
      <p:guideLst>
        <p:guide orient="horz" pos="2160"/>
        <p:guide pos="3840"/>
      </p:guideLst>
    </p:cSldViewPr>
  </p:slideViewPr>
  <p:notesTextViewPr>
    <p:cViewPr>
      <p:scale>
        <a:sx n="100" d="100"/>
        <a:sy n="100" d="100"/>
      </p:scale>
      <p:origin x="0" y="0"/>
    </p:cViewPr>
  </p:notesTextViewPr>
  <p:sorterViewPr>
    <p:cViewPr>
      <p:scale>
        <a:sx n="90" d="100"/>
        <a:sy n="90" d="100"/>
      </p:scale>
      <p:origin x="0" y="130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26A7C97D-3554-44E0-8E72-665D45387ACC}" type="datetimeFigureOut">
              <a:rPr lang="en-US"/>
              <a:pPr>
                <a:defRPr/>
              </a:pPr>
              <a:t>3/1/2025</a:t>
            </a:fld>
            <a:endParaRPr lang="en-US"/>
          </a:p>
        </p:txBody>
      </p:sp>
      <p:sp>
        <p:nvSpPr>
          <p:cNvPr id="4" name="Footer Placeholder 3"/>
          <p:cNvSpPr>
            <a:spLocks noGrp="1"/>
          </p:cNvSpPr>
          <p:nvPr>
            <p:ph type="ftr" sz="quarter" idx="2"/>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1486DC43-659C-4A17-BDC0-5684401D4FAB}"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C973BE83-6A1D-4DA3-83D0-ED76C71EFE38}" type="datetimeFigureOut">
              <a:rPr lang="en-US"/>
              <a:pPr>
                <a:defRPr/>
              </a:pPr>
              <a:t>3/1/2025</a:t>
            </a:fld>
            <a:endParaRPr lang="en-US"/>
          </a:p>
        </p:txBody>
      </p:sp>
      <p:sp>
        <p:nvSpPr>
          <p:cNvPr id="4" name="Slide Image Placeholder 3"/>
          <p:cNvSpPr>
            <a:spLocks noGrp="1" noRot="1" noChangeAspect="1"/>
          </p:cNvSpPr>
          <p:nvPr>
            <p:ph type="sldImg" idx="2"/>
          </p:nvPr>
        </p:nvSpPr>
        <p:spPr>
          <a:xfrm>
            <a:off x="407988" y="696913"/>
            <a:ext cx="6196012" cy="34861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701848" y="4416426"/>
            <a:ext cx="5608320" cy="4183063"/>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01C81575-24DE-4F6C-A73E-0331B3B2E418}"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4</a:t>
            </a:fld>
            <a:endParaRPr lang="en-US"/>
          </a:p>
        </p:txBody>
      </p:sp>
    </p:spTree>
    <p:extLst>
      <p:ext uri="{BB962C8B-B14F-4D97-AF65-F5344CB8AC3E}">
        <p14:creationId xmlns:p14="http://schemas.microsoft.com/office/powerpoint/2010/main" val="41319660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5</a:t>
            </a:fld>
            <a:endParaRPr lang="en-US"/>
          </a:p>
        </p:txBody>
      </p:sp>
    </p:spTree>
    <p:extLst>
      <p:ext uri="{BB962C8B-B14F-4D97-AF65-F5344CB8AC3E}">
        <p14:creationId xmlns:p14="http://schemas.microsoft.com/office/powerpoint/2010/main" val="4131966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7</a:t>
            </a:fld>
            <a:endParaRPr lang="en-US"/>
          </a:p>
        </p:txBody>
      </p:sp>
    </p:spTree>
    <p:extLst>
      <p:ext uri="{BB962C8B-B14F-4D97-AF65-F5344CB8AC3E}">
        <p14:creationId xmlns:p14="http://schemas.microsoft.com/office/powerpoint/2010/main" val="40551259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2CE73-4A1D-B42F-D934-E3A8ECD5C5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303A73-D9EE-408B-27F1-5BEE6D10661A}"/>
              </a:ext>
            </a:extLst>
          </p:cNvPr>
          <p:cNvSpPr>
            <a:spLocks noGrp="1" noRot="1" noChangeAspect="1"/>
          </p:cNvSpPr>
          <p:nvPr>
            <p:ph type="sldImg"/>
          </p:nvPr>
        </p:nvSpPr>
        <p:spPr>
          <a:xfrm>
            <a:off x="407988" y="696913"/>
            <a:ext cx="6196012" cy="3486150"/>
          </a:xfrm>
        </p:spPr>
      </p:sp>
      <p:sp>
        <p:nvSpPr>
          <p:cNvPr id="3" name="Notes Placeholder 2">
            <a:extLst>
              <a:ext uri="{FF2B5EF4-FFF2-40B4-BE49-F238E27FC236}">
                <a16:creationId xmlns:a16="http://schemas.microsoft.com/office/drawing/2014/main" id="{CB482595-33F3-9767-3ED9-50ACFD9339EE}"/>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F6236387-16E8-485A-8C80-256CDD256DFD}"/>
              </a:ext>
            </a:extLst>
          </p:cNvPr>
          <p:cNvSpPr>
            <a:spLocks noGrp="1"/>
          </p:cNvSpPr>
          <p:nvPr>
            <p:ph type="sldNum" sz="quarter" idx="10"/>
          </p:nvPr>
        </p:nvSpPr>
        <p:spPr/>
        <p:txBody>
          <a:bodyPr/>
          <a:lstStyle/>
          <a:p>
            <a:pPr>
              <a:defRPr/>
            </a:pPr>
            <a:fld id="{01C81575-24DE-4F6C-A73E-0331B3B2E418}" type="slidenum">
              <a:rPr lang="en-US" smtClean="0"/>
              <a:pPr>
                <a:defRPr/>
              </a:pPr>
              <a:t>9</a:t>
            </a:fld>
            <a:endParaRPr lang="en-US"/>
          </a:p>
        </p:txBody>
      </p:sp>
    </p:spTree>
    <p:extLst>
      <p:ext uri="{BB962C8B-B14F-4D97-AF65-F5344CB8AC3E}">
        <p14:creationId xmlns:p14="http://schemas.microsoft.com/office/powerpoint/2010/main" val="11894059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4:notes"/>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3" name="Google Shape;43;p4: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5:notes"/>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0" name="Google Shape;50;p5: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4:notes"/>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3" name="Google Shape;43;p4: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945649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5:notes"/>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0" name="Google Shape;50;p5: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5:notes"/>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0" name="Google Shape;50;p5: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6: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 name="Google Shape;57;p6:notes"/>
          <p:cNvSpPr txBox="1">
            <a:spLocks noGrp="1"/>
          </p:cNvSpPr>
          <p:nvPr>
            <p:ph type="body" idx="1"/>
          </p:nvPr>
        </p:nvSpPr>
        <p:spPr>
          <a:xfrm>
            <a:off x="701848" y="4416426"/>
            <a:ext cx="5608320" cy="418306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 name="Google Shape;58;p6:notes"/>
          <p:cNvSpPr txBox="1">
            <a:spLocks noGrp="1"/>
          </p:cNvSpPr>
          <p:nvPr>
            <p:ph type="sldNum" idx="12"/>
          </p:nvPr>
        </p:nvSpPr>
        <p:spPr>
          <a:xfrm>
            <a:off x="3970135" y="8829675"/>
            <a:ext cx="3038648" cy="465138"/>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pPr marL="0" lvl="0" indent="0" algn="r" rtl="0">
                <a:lnSpc>
                  <a:spcPct val="100000"/>
                </a:lnSpc>
                <a:spcBef>
                  <a:spcPts val="0"/>
                </a:spcBef>
                <a:spcAft>
                  <a:spcPts val="0"/>
                </a:spcAft>
                <a:buSzPts val="1400"/>
                <a:buNone/>
              </a:pPr>
              <a:t>20</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27</a:t>
            </a:fld>
            <a:endParaRPr lang="en-US"/>
          </a:p>
        </p:txBody>
      </p:sp>
    </p:spTree>
    <p:extLst>
      <p:ext uri="{BB962C8B-B14F-4D97-AF65-F5344CB8AC3E}">
        <p14:creationId xmlns:p14="http://schemas.microsoft.com/office/powerpoint/2010/main" val="4174625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713C8-F183-1D43-AE77-BF9BD4D2AE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7AF752-0EC0-CF4D-965A-5129A91359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E32540-0688-DC4A-809A-52FB3313D316}"/>
              </a:ext>
            </a:extLst>
          </p:cNvPr>
          <p:cNvSpPr>
            <a:spLocks noGrp="1"/>
          </p:cNvSpPr>
          <p:nvPr>
            <p:ph type="dt" sz="half" idx="10"/>
          </p:nvPr>
        </p:nvSpPr>
        <p:spPr/>
        <p:txBody>
          <a:bodyPr/>
          <a:lstStyle/>
          <a:p>
            <a:fld id="{2D1A7037-0853-0447-B5BA-F1548123F733}" type="datetimeFigureOut">
              <a:rPr lang="en-US" smtClean="0"/>
              <a:pPr/>
              <a:t>3/1/2025</a:t>
            </a:fld>
            <a:endParaRPr lang="en-US"/>
          </a:p>
        </p:txBody>
      </p:sp>
      <p:sp>
        <p:nvSpPr>
          <p:cNvPr id="5" name="Footer Placeholder 4">
            <a:extLst>
              <a:ext uri="{FF2B5EF4-FFF2-40B4-BE49-F238E27FC236}">
                <a16:creationId xmlns:a16="http://schemas.microsoft.com/office/drawing/2014/main" id="{0F2CA43E-0611-D047-BC7B-31F920B659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6E4123-5713-BC41-BBD0-42ADF35D9634}"/>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192070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DED43-C903-1F44-A779-40DF9AEFDE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9975D8-34AD-544B-B0E2-83FA77D2FA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D24DD5-B8E0-534E-B68A-EF415575E505}"/>
              </a:ext>
            </a:extLst>
          </p:cNvPr>
          <p:cNvSpPr>
            <a:spLocks noGrp="1"/>
          </p:cNvSpPr>
          <p:nvPr>
            <p:ph type="dt" sz="half" idx="10"/>
          </p:nvPr>
        </p:nvSpPr>
        <p:spPr/>
        <p:txBody>
          <a:bodyPr/>
          <a:lstStyle/>
          <a:p>
            <a:fld id="{2D1A7037-0853-0447-B5BA-F1548123F733}" type="datetimeFigureOut">
              <a:rPr lang="en-US" smtClean="0"/>
              <a:pPr/>
              <a:t>3/1/2025</a:t>
            </a:fld>
            <a:endParaRPr lang="en-US"/>
          </a:p>
        </p:txBody>
      </p:sp>
      <p:sp>
        <p:nvSpPr>
          <p:cNvPr id="5" name="Footer Placeholder 4">
            <a:extLst>
              <a:ext uri="{FF2B5EF4-FFF2-40B4-BE49-F238E27FC236}">
                <a16:creationId xmlns:a16="http://schemas.microsoft.com/office/drawing/2014/main" id="{45096688-5BB1-5E48-BD14-BBC9FA67D4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DC407C-3003-DB44-98B5-0DEC6272B111}"/>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122916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5630D-09E2-0742-AED8-D3F732546C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5B2CD3-A564-8044-A4EC-7EBA262987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2A64EE-79C1-8B46-BA9C-199117C7B485}"/>
              </a:ext>
            </a:extLst>
          </p:cNvPr>
          <p:cNvSpPr>
            <a:spLocks noGrp="1"/>
          </p:cNvSpPr>
          <p:nvPr>
            <p:ph type="dt" sz="half" idx="10"/>
          </p:nvPr>
        </p:nvSpPr>
        <p:spPr/>
        <p:txBody>
          <a:bodyPr/>
          <a:lstStyle/>
          <a:p>
            <a:fld id="{2D1A7037-0853-0447-B5BA-F1548123F733}" type="datetimeFigureOut">
              <a:rPr lang="en-US" smtClean="0"/>
              <a:pPr/>
              <a:t>3/1/2025</a:t>
            </a:fld>
            <a:endParaRPr lang="en-US"/>
          </a:p>
        </p:txBody>
      </p:sp>
      <p:sp>
        <p:nvSpPr>
          <p:cNvPr id="5" name="Footer Placeholder 4">
            <a:extLst>
              <a:ext uri="{FF2B5EF4-FFF2-40B4-BE49-F238E27FC236}">
                <a16:creationId xmlns:a16="http://schemas.microsoft.com/office/drawing/2014/main" id="{A851AAB2-DA47-AE48-A088-6FC7C16945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48FF9C-19C9-FA46-8C21-74202499420D}"/>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171791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CBAF5-C913-024F-8BE6-64C58F9702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5E6DB7-D3D7-1443-A583-8730715E25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CEB82F-3E99-7441-9B06-6D7C2156AB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26D282-1572-D344-87D1-785DA8576020}"/>
              </a:ext>
            </a:extLst>
          </p:cNvPr>
          <p:cNvSpPr>
            <a:spLocks noGrp="1"/>
          </p:cNvSpPr>
          <p:nvPr>
            <p:ph type="dt" sz="half" idx="10"/>
          </p:nvPr>
        </p:nvSpPr>
        <p:spPr/>
        <p:txBody>
          <a:bodyPr/>
          <a:lstStyle/>
          <a:p>
            <a:fld id="{2D1A7037-0853-0447-B5BA-F1548123F733}" type="datetimeFigureOut">
              <a:rPr lang="en-US" smtClean="0"/>
              <a:pPr/>
              <a:t>3/1/2025</a:t>
            </a:fld>
            <a:endParaRPr lang="en-US"/>
          </a:p>
        </p:txBody>
      </p:sp>
      <p:sp>
        <p:nvSpPr>
          <p:cNvPr id="6" name="Footer Placeholder 5">
            <a:extLst>
              <a:ext uri="{FF2B5EF4-FFF2-40B4-BE49-F238E27FC236}">
                <a16:creationId xmlns:a16="http://schemas.microsoft.com/office/drawing/2014/main" id="{3723D760-065F-6442-AF7E-1A7AAFFCA9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BF4C15-EC3A-7E41-A2B3-D2AB7D70EB32}"/>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265704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2CC90-B8AE-8A46-A8A5-F7E8DA615EE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E152C5-AA77-4B47-965C-21A00C1EEC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466F8D-3502-5242-9160-E1CDE38E0A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754302-8F9A-5648-9C5E-6D037F1C75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9FC9CD-8823-F145-9952-EFBA9ACD2E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5EF4D9-655F-4842-A6B8-D44A050122B8}"/>
              </a:ext>
            </a:extLst>
          </p:cNvPr>
          <p:cNvSpPr>
            <a:spLocks noGrp="1"/>
          </p:cNvSpPr>
          <p:nvPr>
            <p:ph type="dt" sz="half" idx="10"/>
          </p:nvPr>
        </p:nvSpPr>
        <p:spPr/>
        <p:txBody>
          <a:bodyPr/>
          <a:lstStyle/>
          <a:p>
            <a:fld id="{2D1A7037-0853-0447-B5BA-F1548123F733}" type="datetimeFigureOut">
              <a:rPr lang="en-US" smtClean="0"/>
              <a:pPr/>
              <a:t>3/1/2025</a:t>
            </a:fld>
            <a:endParaRPr lang="en-US"/>
          </a:p>
        </p:txBody>
      </p:sp>
      <p:sp>
        <p:nvSpPr>
          <p:cNvPr id="8" name="Footer Placeholder 7">
            <a:extLst>
              <a:ext uri="{FF2B5EF4-FFF2-40B4-BE49-F238E27FC236}">
                <a16:creationId xmlns:a16="http://schemas.microsoft.com/office/drawing/2014/main" id="{08E68A74-725F-8F40-8F80-E96287703E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D868FA-8565-A740-9B9C-B3CD6AB33570}"/>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1827854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DFCE3-1C1E-7448-AF7E-5E46BB1408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19D5C9-50F6-8546-8D8C-AFACC1BC1B4F}"/>
              </a:ext>
            </a:extLst>
          </p:cNvPr>
          <p:cNvSpPr>
            <a:spLocks noGrp="1"/>
          </p:cNvSpPr>
          <p:nvPr>
            <p:ph type="dt" sz="half" idx="10"/>
          </p:nvPr>
        </p:nvSpPr>
        <p:spPr/>
        <p:txBody>
          <a:bodyPr/>
          <a:lstStyle/>
          <a:p>
            <a:fld id="{2D1A7037-0853-0447-B5BA-F1548123F733}" type="datetimeFigureOut">
              <a:rPr lang="en-US" smtClean="0"/>
              <a:pPr/>
              <a:t>3/1/2025</a:t>
            </a:fld>
            <a:endParaRPr lang="en-US"/>
          </a:p>
        </p:txBody>
      </p:sp>
      <p:sp>
        <p:nvSpPr>
          <p:cNvPr id="4" name="Footer Placeholder 3">
            <a:extLst>
              <a:ext uri="{FF2B5EF4-FFF2-40B4-BE49-F238E27FC236}">
                <a16:creationId xmlns:a16="http://schemas.microsoft.com/office/drawing/2014/main" id="{1DEA0D0C-FCAF-4F4C-AAF5-C9B78C03C4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568836A-EEA3-7347-A63C-8E66DF7B3451}"/>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602287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7A43C1-2303-5A41-B234-90D15E2A4B17}"/>
              </a:ext>
            </a:extLst>
          </p:cNvPr>
          <p:cNvSpPr>
            <a:spLocks noGrp="1"/>
          </p:cNvSpPr>
          <p:nvPr>
            <p:ph type="dt" sz="half" idx="10"/>
          </p:nvPr>
        </p:nvSpPr>
        <p:spPr/>
        <p:txBody>
          <a:bodyPr/>
          <a:lstStyle/>
          <a:p>
            <a:fld id="{2D1A7037-0853-0447-B5BA-F1548123F733}" type="datetimeFigureOut">
              <a:rPr lang="en-US" smtClean="0"/>
              <a:pPr/>
              <a:t>3/1/2025</a:t>
            </a:fld>
            <a:endParaRPr lang="en-US"/>
          </a:p>
        </p:txBody>
      </p:sp>
      <p:sp>
        <p:nvSpPr>
          <p:cNvPr id="3" name="Footer Placeholder 2">
            <a:extLst>
              <a:ext uri="{FF2B5EF4-FFF2-40B4-BE49-F238E27FC236}">
                <a16:creationId xmlns:a16="http://schemas.microsoft.com/office/drawing/2014/main" id="{9EA77971-B281-6149-9884-0E9C45F816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1D0F6F3-1061-E842-B540-6BD0D6CB8D59}"/>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873732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B970D-13D5-B346-968D-400B0BCCF6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19FFE0-37CD-7644-A007-76E5304F12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210BE7-EA92-B44F-9EEC-94E6F6955C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B6D810-D2A1-B549-A5BC-25CCA5CDCD3C}"/>
              </a:ext>
            </a:extLst>
          </p:cNvPr>
          <p:cNvSpPr>
            <a:spLocks noGrp="1"/>
          </p:cNvSpPr>
          <p:nvPr>
            <p:ph type="dt" sz="half" idx="10"/>
          </p:nvPr>
        </p:nvSpPr>
        <p:spPr/>
        <p:txBody>
          <a:bodyPr/>
          <a:lstStyle/>
          <a:p>
            <a:fld id="{2D1A7037-0853-0447-B5BA-F1548123F733}" type="datetimeFigureOut">
              <a:rPr lang="en-US" smtClean="0"/>
              <a:pPr/>
              <a:t>3/1/2025</a:t>
            </a:fld>
            <a:endParaRPr lang="en-US"/>
          </a:p>
        </p:txBody>
      </p:sp>
      <p:sp>
        <p:nvSpPr>
          <p:cNvPr id="6" name="Footer Placeholder 5">
            <a:extLst>
              <a:ext uri="{FF2B5EF4-FFF2-40B4-BE49-F238E27FC236}">
                <a16:creationId xmlns:a16="http://schemas.microsoft.com/office/drawing/2014/main" id="{6AD872D2-2005-3043-A02D-3E2DB9334E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F9F01D-1164-4249-AD67-1D51D33C01DC}"/>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580386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D3B30-2A71-A043-9BD7-3B8C66BF74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32B08A9-6B45-4340-8859-996D9B9490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6B1F4B2-96C1-614B-9110-8D1AEE080D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7DF3EB-6252-5845-AE7D-FB94ECF9F136}"/>
              </a:ext>
            </a:extLst>
          </p:cNvPr>
          <p:cNvSpPr>
            <a:spLocks noGrp="1"/>
          </p:cNvSpPr>
          <p:nvPr>
            <p:ph type="dt" sz="half" idx="10"/>
          </p:nvPr>
        </p:nvSpPr>
        <p:spPr/>
        <p:txBody>
          <a:bodyPr/>
          <a:lstStyle/>
          <a:p>
            <a:fld id="{2D1A7037-0853-0447-B5BA-F1548123F733}" type="datetimeFigureOut">
              <a:rPr lang="en-US" smtClean="0"/>
              <a:pPr/>
              <a:t>3/1/2025</a:t>
            </a:fld>
            <a:endParaRPr lang="en-US"/>
          </a:p>
        </p:txBody>
      </p:sp>
      <p:sp>
        <p:nvSpPr>
          <p:cNvPr id="6" name="Footer Placeholder 5">
            <a:extLst>
              <a:ext uri="{FF2B5EF4-FFF2-40B4-BE49-F238E27FC236}">
                <a16:creationId xmlns:a16="http://schemas.microsoft.com/office/drawing/2014/main" id="{D2D65DB7-EFE7-7446-8DEC-69F1FB47AE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A0E09F-0F32-5644-881A-A61CD82461E5}"/>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504594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6E61B7-8DCD-1544-BC5D-B4592F60C6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AB61D9-7FB3-1343-9555-936FC6036D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C2A79E-2DF5-4E41-BDCF-90E9D26B7E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1A7037-0853-0447-B5BA-F1548123F733}" type="datetimeFigureOut">
              <a:rPr lang="en-US" smtClean="0"/>
              <a:pPr/>
              <a:t>3/1/2025</a:t>
            </a:fld>
            <a:endParaRPr lang="en-US"/>
          </a:p>
        </p:txBody>
      </p:sp>
      <p:sp>
        <p:nvSpPr>
          <p:cNvPr id="5" name="Footer Placeholder 4">
            <a:extLst>
              <a:ext uri="{FF2B5EF4-FFF2-40B4-BE49-F238E27FC236}">
                <a16:creationId xmlns:a16="http://schemas.microsoft.com/office/drawing/2014/main" id="{556D5DC5-E1CB-B84F-BCAB-EB319B3718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9712A2C-5C91-4B43-A114-209348A10C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2F0E29-F314-934F-92DB-8EEB8DA68833}" type="slidenum">
              <a:rPr lang="en-US" smtClean="0"/>
              <a:pPr/>
              <a:t>‹#›</a:t>
            </a:fld>
            <a:endParaRPr lang="en-US"/>
          </a:p>
        </p:txBody>
      </p:sp>
      <p:pic>
        <p:nvPicPr>
          <p:cNvPr id="10" name="Picture 2" descr="PESSAT - All India Online Entrance Exam for Admission to PES University">
            <a:extLst>
              <a:ext uri="{FF2B5EF4-FFF2-40B4-BE49-F238E27FC236}">
                <a16:creationId xmlns:a16="http://schemas.microsoft.com/office/drawing/2014/main" id="{A3B97CAD-824E-EAC1-FC41-3EEEC584AA9C}"/>
              </a:ext>
            </a:extLst>
          </p:cNvPr>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10167336" y="264409"/>
            <a:ext cx="1162050" cy="53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2383200"/>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6D360C-2F49-C263-63DA-93E077F0890F}"/>
              </a:ext>
            </a:extLst>
          </p:cNvPr>
          <p:cNvPicPr>
            <a:picLocks noChangeAspect="1"/>
          </p:cNvPicPr>
          <p:nvPr/>
        </p:nvPicPr>
        <p:blipFill>
          <a:blip r:embed="rId2"/>
          <a:stretch>
            <a:fillRect/>
          </a:stretch>
        </p:blipFill>
        <p:spPr>
          <a:xfrm>
            <a:off x="0" y="1150534"/>
            <a:ext cx="12192000" cy="4556931"/>
          </a:xfrm>
          <a:prstGeom prst="rect">
            <a:avLst/>
          </a:prstGeom>
        </p:spPr>
      </p:pic>
    </p:spTree>
    <p:extLst>
      <p:ext uri="{BB962C8B-B14F-4D97-AF65-F5344CB8AC3E}">
        <p14:creationId xmlns:p14="http://schemas.microsoft.com/office/powerpoint/2010/main" val="2980604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6;p3"/>
          <p:cNvSpPr txBox="1"/>
          <p:nvPr/>
        </p:nvSpPr>
        <p:spPr>
          <a:xfrm>
            <a:off x="0" y="4323472"/>
            <a:ext cx="12192000" cy="2534527"/>
          </a:xfrm>
          <a:prstGeom prst="rect">
            <a:avLst/>
          </a:prstGeom>
          <a:noFill/>
          <a:ln>
            <a:noFill/>
          </a:ln>
        </p:spPr>
        <p:txBody>
          <a:bodyPr spcFirstLastPara="1" wrap="square" lIns="91425" tIns="45700" rIns="91425" bIns="45700" anchor="t" anchorCtr="0">
            <a:noAutofit/>
          </a:bodyPr>
          <a:lstStyle/>
          <a:p>
            <a:pPr>
              <a:spcBef>
                <a:spcPts val="0"/>
              </a:spcBef>
              <a:spcAft>
                <a:spcPts val="0"/>
              </a:spcAft>
            </a:pPr>
            <a:endParaRPr sz="2400" dirty="0">
              <a:solidFill>
                <a:srgbClr val="0033CC"/>
              </a:solidFill>
              <a:latin typeface="Trebuchet MS"/>
              <a:ea typeface="Trebuchet MS"/>
              <a:cs typeface="Trebuchet MS"/>
              <a:sym typeface="Trebuchet MS"/>
            </a:endParaRPr>
          </a:p>
        </p:txBody>
      </p:sp>
      <p:sp>
        <p:nvSpPr>
          <p:cNvPr id="6" name="TextBox 5">
            <a:extLst>
              <a:ext uri="{FF2B5EF4-FFF2-40B4-BE49-F238E27FC236}">
                <a16:creationId xmlns:a16="http://schemas.microsoft.com/office/drawing/2014/main" id="{79CFA518-D372-62E3-1BFC-9EE1EB0AA9EE}"/>
              </a:ext>
            </a:extLst>
          </p:cNvPr>
          <p:cNvSpPr txBox="1"/>
          <p:nvPr/>
        </p:nvSpPr>
        <p:spPr>
          <a:xfrm>
            <a:off x="479376" y="1455162"/>
            <a:ext cx="10873208" cy="4278094"/>
          </a:xfrm>
          <a:prstGeom prst="rect">
            <a:avLst/>
          </a:prstGeom>
          <a:noFill/>
        </p:spPr>
        <p:txBody>
          <a:bodyPr wrap="square">
            <a:spAutoFit/>
          </a:bodyPr>
          <a:lstStyle/>
          <a:p>
            <a:pPr algn="ctr"/>
            <a:r>
              <a:rPr lang="en-IN" sz="3600" b="1" dirty="0">
                <a:solidFill>
                  <a:srgbClr val="FF0000"/>
                </a:solidFill>
                <a:latin typeface="Times New Roman" panose="02020603050405020304" pitchFamily="18" charset="0"/>
                <a:cs typeface="Times New Roman" panose="02020603050405020304" pitchFamily="18" charset="0"/>
              </a:rPr>
              <a:t>UE22CS320A</a:t>
            </a:r>
            <a:r>
              <a:rPr lang="en-IN" sz="3600" dirty="0">
                <a:latin typeface="Times New Roman" panose="02020603050405020304" pitchFamily="18" charset="0"/>
                <a:cs typeface="Times New Roman" panose="02020603050405020304" pitchFamily="18" charset="0"/>
              </a:rPr>
              <a:t> </a:t>
            </a:r>
            <a:r>
              <a:rPr lang="en-IN" sz="3600" b="1" dirty="0">
                <a:solidFill>
                  <a:srgbClr val="FF0000"/>
                </a:solidFill>
                <a:latin typeface="Times New Roman" panose="02020603050405020304" pitchFamily="18" charset="0"/>
                <a:cs typeface="Times New Roman" panose="02020603050405020304" pitchFamily="18" charset="0"/>
              </a:rPr>
              <a:t>– Project Phase – 2</a:t>
            </a:r>
          </a:p>
          <a:p>
            <a:pPr algn="ctr"/>
            <a:r>
              <a:rPr lang="en-US" sz="3600" dirty="0">
                <a:solidFill>
                  <a:srgbClr val="FF0000"/>
                </a:solidFill>
                <a:latin typeface="Times New Roman" panose="02020603050405020304" pitchFamily="18" charset="0"/>
                <a:cs typeface="Times New Roman" panose="02020603050405020304" pitchFamily="18" charset="0"/>
              </a:rPr>
              <a:t>Capstone Project –Phase 2 –review 1</a:t>
            </a:r>
            <a:endParaRPr lang="en-US" sz="3200" dirty="0">
              <a:solidFill>
                <a:srgbClr val="FF0000"/>
              </a:solidFill>
              <a:latin typeface="Times New Roman" panose="02020603050405020304" pitchFamily="18" charset="0"/>
              <a:cs typeface="Times New Roman" panose="02020603050405020304" pitchFamily="18" charset="0"/>
            </a:endParaRPr>
          </a:p>
          <a:p>
            <a:pPr algn="ctr"/>
            <a:endParaRPr lang="en-IN" sz="3600" b="1" dirty="0">
              <a:solidFill>
                <a:srgbClr val="FF0000"/>
              </a:solidFill>
              <a:latin typeface="Times New Roman" panose="02020603050405020304" pitchFamily="18" charset="0"/>
              <a:cs typeface="Times New Roman" panose="02020603050405020304" pitchFamily="18" charset="0"/>
            </a:endParaRPr>
          </a:p>
          <a:p>
            <a:pPr lvl="2"/>
            <a:r>
              <a:rPr lang="en-IN" sz="2000" b="1" i="1" dirty="0">
                <a:latin typeface="Times New Roman" panose="02020603050405020304" pitchFamily="18" charset="0"/>
                <a:cs typeface="Times New Roman" panose="02020603050405020304" pitchFamily="18" charset="0"/>
              </a:rPr>
              <a:t>PROJECT TITLE	</a:t>
            </a:r>
            <a:r>
              <a:rPr lang="en-IN" sz="2000" b="1" dirty="0">
                <a:latin typeface="Times New Roman" panose="02020603050405020304" pitchFamily="18" charset="0"/>
                <a:cs typeface="Times New Roman" panose="02020603050405020304" pitchFamily="18" charset="0"/>
              </a:rPr>
              <a:t>:  </a:t>
            </a:r>
            <a:r>
              <a:rPr lang="en-IN" sz="2000" b="1" i="1" dirty="0">
                <a:latin typeface="Times New Roman" panose="02020603050405020304" pitchFamily="18" charset="0"/>
                <a:cs typeface="Times New Roman" panose="02020603050405020304" pitchFamily="18" charset="0"/>
              </a:rPr>
              <a:t> AVIOS – A</a:t>
            </a:r>
            <a:r>
              <a:rPr lang="en-IN" sz="2000" i="1" dirty="0">
                <a:latin typeface="Times New Roman" panose="02020603050405020304" pitchFamily="18" charset="0"/>
                <a:cs typeface="Times New Roman" panose="02020603050405020304" pitchFamily="18" charset="0"/>
              </a:rPr>
              <a:t>daptive</a:t>
            </a:r>
            <a:r>
              <a:rPr lang="en-IN" sz="2000" b="1" i="1" dirty="0">
                <a:latin typeface="Times New Roman" panose="02020603050405020304" pitchFamily="18" charset="0"/>
                <a:cs typeface="Times New Roman" panose="02020603050405020304" pitchFamily="18" charset="0"/>
              </a:rPr>
              <a:t> V</a:t>
            </a:r>
            <a:r>
              <a:rPr lang="en-IN" sz="2000" i="1" dirty="0">
                <a:latin typeface="Times New Roman" panose="02020603050405020304" pitchFamily="18" charset="0"/>
                <a:cs typeface="Times New Roman" panose="02020603050405020304" pitchFamily="18" charset="0"/>
              </a:rPr>
              <a:t>igilant</a:t>
            </a:r>
            <a:r>
              <a:rPr lang="en-IN" sz="2000" b="1" i="1" dirty="0">
                <a:latin typeface="Times New Roman" panose="02020603050405020304" pitchFamily="18" charset="0"/>
                <a:cs typeface="Times New Roman" panose="02020603050405020304" pitchFamily="18" charset="0"/>
              </a:rPr>
              <a:t> I</a:t>
            </a:r>
            <a:r>
              <a:rPr lang="en-IN" sz="2000" i="1" dirty="0">
                <a:latin typeface="Times New Roman" panose="02020603050405020304" pitchFamily="18" charset="0"/>
                <a:cs typeface="Times New Roman" panose="02020603050405020304" pitchFamily="18" charset="0"/>
              </a:rPr>
              <a:t>ntelligent</a:t>
            </a:r>
            <a:r>
              <a:rPr lang="en-IN" sz="2000" b="1" i="1" dirty="0">
                <a:latin typeface="Times New Roman" panose="02020603050405020304" pitchFamily="18" charset="0"/>
                <a:cs typeface="Times New Roman" panose="02020603050405020304" pitchFamily="18" charset="0"/>
              </a:rPr>
              <a:t> O</a:t>
            </a:r>
            <a:r>
              <a:rPr lang="en-IN" sz="2000" i="1" dirty="0">
                <a:latin typeface="Times New Roman" panose="02020603050405020304" pitchFamily="18" charset="0"/>
                <a:cs typeface="Times New Roman" panose="02020603050405020304" pitchFamily="18" charset="0"/>
              </a:rPr>
              <a:t>perating</a:t>
            </a:r>
            <a:r>
              <a:rPr lang="en-IN" sz="2000" b="1" i="1" dirty="0">
                <a:latin typeface="Times New Roman" panose="02020603050405020304" pitchFamily="18" charset="0"/>
                <a:cs typeface="Times New Roman" panose="02020603050405020304" pitchFamily="18" charset="0"/>
              </a:rPr>
              <a:t> S</a:t>
            </a:r>
            <a:r>
              <a:rPr lang="en-IN" sz="2000" i="1" dirty="0">
                <a:latin typeface="Times New Roman" panose="02020603050405020304" pitchFamily="18" charset="0"/>
                <a:cs typeface="Times New Roman" panose="02020603050405020304" pitchFamily="18" charset="0"/>
              </a:rPr>
              <a:t>ystem</a:t>
            </a:r>
          </a:p>
          <a:p>
            <a:pPr lvl="2"/>
            <a:r>
              <a:rPr lang="en-IN" sz="2000" b="1" i="1" dirty="0">
                <a:latin typeface="Times New Roman" panose="02020603050405020304" pitchFamily="18" charset="0"/>
                <a:cs typeface="Times New Roman" panose="02020603050405020304" pitchFamily="18" charset="0"/>
              </a:rPr>
              <a:t>PROJECT ID		</a:t>
            </a:r>
            <a:r>
              <a:rPr lang="en-IN" sz="2000" b="1" dirty="0">
                <a:latin typeface="Times New Roman" panose="02020603050405020304" pitchFamily="18" charset="0"/>
                <a:cs typeface="Times New Roman" panose="02020603050405020304" pitchFamily="18" charset="0"/>
              </a:rPr>
              <a:t>:   </a:t>
            </a:r>
            <a:r>
              <a:rPr lang="en-IN" sz="2000" b="1" i="1" dirty="0">
                <a:latin typeface="Times New Roman" panose="02020603050405020304" pitchFamily="18" charset="0"/>
                <a:cs typeface="Times New Roman" panose="02020603050405020304" pitchFamily="18" charset="0"/>
              </a:rPr>
              <a:t>Team 144</a:t>
            </a:r>
            <a:endParaRPr lang="en-IN" sz="2000" b="1" dirty="0">
              <a:latin typeface="Times New Roman" panose="02020603050405020304" pitchFamily="18" charset="0"/>
              <a:cs typeface="Times New Roman" panose="02020603050405020304" pitchFamily="18" charset="0"/>
            </a:endParaRPr>
          </a:p>
          <a:p>
            <a:pPr lvl="2"/>
            <a:r>
              <a:rPr lang="en-IN" sz="2000" b="1" i="1" dirty="0">
                <a:latin typeface="Times New Roman" panose="02020603050405020304" pitchFamily="18" charset="0"/>
                <a:cs typeface="Times New Roman" panose="02020603050405020304" pitchFamily="18" charset="0"/>
              </a:rPr>
              <a:t>PROJECT GUIDE	</a:t>
            </a:r>
            <a:r>
              <a:rPr lang="en-IN" sz="2000" b="1" dirty="0">
                <a:latin typeface="Times New Roman" panose="02020603050405020304" pitchFamily="18" charset="0"/>
                <a:cs typeface="Times New Roman" panose="02020603050405020304" pitchFamily="18" charset="0"/>
              </a:rPr>
              <a:t>: </a:t>
            </a:r>
            <a:r>
              <a:rPr lang="en-IN" sz="2000" b="1" i="1" dirty="0">
                <a:latin typeface="Times New Roman" panose="02020603050405020304" pitchFamily="18" charset="0"/>
                <a:cs typeface="Times New Roman" panose="02020603050405020304" pitchFamily="18" charset="0"/>
              </a:rPr>
              <a:t>  Prof. Swetha Patil</a:t>
            </a:r>
          </a:p>
          <a:p>
            <a:pPr lvl="2"/>
            <a:endParaRPr lang="en-IN" sz="2000" b="1" i="1" dirty="0">
              <a:latin typeface="Times New Roman" panose="02020603050405020304" pitchFamily="18" charset="0"/>
              <a:cs typeface="Times New Roman" panose="02020603050405020304" pitchFamily="18" charset="0"/>
            </a:endParaRPr>
          </a:p>
          <a:p>
            <a:pPr lvl="2"/>
            <a:r>
              <a:rPr lang="en-IN" sz="2000" b="1" i="1" dirty="0">
                <a:latin typeface="Times New Roman" panose="02020603050405020304" pitchFamily="18" charset="0"/>
                <a:cs typeface="Times New Roman" panose="02020603050405020304" pitchFamily="18" charset="0"/>
              </a:rPr>
              <a:t>PROJECT TEAM</a:t>
            </a:r>
          </a:p>
          <a:p>
            <a:pPr marL="1828800" lvl="3" indent="-457200">
              <a:buFont typeface="+mj-lt"/>
              <a:buAutoNum type="arabicPeriod"/>
            </a:pPr>
            <a:r>
              <a:rPr lang="en-IN" sz="1600" b="1" i="1" dirty="0" err="1">
                <a:latin typeface="Times New Roman" panose="02020603050405020304" pitchFamily="18" charset="0"/>
                <a:cs typeface="Times New Roman" panose="02020603050405020304" pitchFamily="18" charset="0"/>
              </a:rPr>
              <a:t>Kurumeti</a:t>
            </a:r>
            <a:r>
              <a:rPr lang="en-IN" sz="1600" b="1" i="1" dirty="0">
                <a:latin typeface="Times New Roman" panose="02020603050405020304" pitchFamily="18" charset="0"/>
                <a:cs typeface="Times New Roman" panose="02020603050405020304" pitchFamily="18" charset="0"/>
              </a:rPr>
              <a:t> Prajval ( PES2UG22CS274 )</a:t>
            </a:r>
          </a:p>
          <a:p>
            <a:pPr marL="1828800" lvl="3" indent="-457200">
              <a:buFont typeface="+mj-lt"/>
              <a:buAutoNum type="arabicPeriod"/>
            </a:pPr>
            <a:r>
              <a:rPr lang="en-IN" sz="1600" b="1" i="1" dirty="0">
                <a:latin typeface="Times New Roman" panose="02020603050405020304" pitchFamily="18" charset="0"/>
                <a:cs typeface="Times New Roman" panose="02020603050405020304" pitchFamily="18" charset="0"/>
              </a:rPr>
              <a:t>Manoj Kumar KS ( PES2UG22CS302 )</a:t>
            </a:r>
          </a:p>
          <a:p>
            <a:pPr marL="1828800" lvl="3" indent="-457200">
              <a:buFont typeface="+mj-lt"/>
              <a:buAutoNum type="arabicPeriod"/>
            </a:pPr>
            <a:r>
              <a:rPr lang="en-IN" sz="1600" b="1" i="1" dirty="0" err="1">
                <a:latin typeface="Times New Roman" panose="02020603050405020304" pitchFamily="18" charset="0"/>
                <a:cs typeface="Times New Roman" panose="02020603050405020304" pitchFamily="18" charset="0"/>
              </a:rPr>
              <a:t>Dhanushree</a:t>
            </a:r>
            <a:r>
              <a:rPr lang="en-IN" sz="1600" b="1" i="1" dirty="0">
                <a:latin typeface="Times New Roman" panose="02020603050405020304" pitchFamily="18" charset="0"/>
                <a:cs typeface="Times New Roman" panose="02020603050405020304" pitchFamily="18" charset="0"/>
              </a:rPr>
              <a:t> K ( PES2UG22CS176 )</a:t>
            </a:r>
          </a:p>
          <a:p>
            <a:pPr marL="1828800" lvl="3" indent="-457200">
              <a:buFont typeface="+mj-lt"/>
              <a:buAutoNum type="arabicPeriod"/>
            </a:pPr>
            <a:r>
              <a:rPr lang="en-IN" sz="1600" b="1" i="1" dirty="0" err="1">
                <a:latin typeface="Times New Roman" panose="02020603050405020304" pitchFamily="18" charset="0"/>
                <a:cs typeface="Times New Roman" panose="02020603050405020304" pitchFamily="18" charset="0"/>
              </a:rPr>
              <a:t>Nagaratna</a:t>
            </a:r>
            <a:r>
              <a:rPr lang="en-IN" sz="1600" b="1" i="1" dirty="0">
                <a:latin typeface="Times New Roman" panose="02020603050405020304" pitchFamily="18" charset="0"/>
                <a:cs typeface="Times New Roman" panose="02020603050405020304" pitchFamily="18" charset="0"/>
              </a:rPr>
              <a:t> ( PES2UG22CS331 )</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1343472" y="1772816"/>
            <a:ext cx="8077200" cy="4724400"/>
          </a:xfrm>
          <a:prstGeom prst="rect">
            <a:avLst/>
          </a:prstGeom>
        </p:spPr>
        <p:txBody>
          <a:bodyPr/>
          <a:lstStyle/>
          <a:p>
            <a:pPr marL="685791" indent="-342900" algn="just" eaLnBrk="0" hangingPunct="0">
              <a:spcBef>
                <a:spcPct val="20000"/>
              </a:spcBef>
              <a:buFont typeface="Arial" panose="020B0604020202020204" pitchFamily="34" charset="0"/>
              <a:buChar char="•"/>
              <a:defRPr/>
            </a:pPr>
            <a:r>
              <a:rPr lang="en-IN" sz="2200" kern="0" dirty="0">
                <a:latin typeface="Times New Roman" panose="02020603050405020304" pitchFamily="18" charset="0"/>
                <a:cs typeface="Times New Roman" panose="02020603050405020304" pitchFamily="18" charset="0"/>
              </a:rPr>
              <a:t>Problem Statement</a:t>
            </a:r>
          </a:p>
          <a:p>
            <a:pPr marL="685791" indent="-342900" algn="just" eaLnBrk="0" hangingPunct="0">
              <a:spcBef>
                <a:spcPct val="20000"/>
              </a:spcBef>
              <a:buFont typeface="Arial" panose="020B0604020202020204" pitchFamily="34" charset="0"/>
              <a:buChar char="•"/>
              <a:defRPr/>
            </a:pPr>
            <a:r>
              <a:rPr lang="en-US" sz="2200" kern="0" dirty="0">
                <a:latin typeface="Times New Roman" panose="02020603050405020304" pitchFamily="18" charset="0"/>
                <a:cs typeface="Times New Roman" panose="02020603050405020304" pitchFamily="18" charset="0"/>
              </a:rPr>
              <a:t>Abstract and Scope</a:t>
            </a:r>
          </a:p>
          <a:p>
            <a:pPr marL="685791" indent="-342900" algn="just" eaLnBrk="0" hangingPunct="0">
              <a:spcBef>
                <a:spcPct val="20000"/>
              </a:spcBef>
              <a:buFont typeface="Arial" panose="020B0604020202020204" pitchFamily="34" charset="0"/>
              <a:buChar char="•"/>
              <a:defRPr/>
            </a:pPr>
            <a:r>
              <a:rPr lang="en-US" sz="2200" kern="0" dirty="0">
                <a:latin typeface="Times New Roman" panose="02020603050405020304" pitchFamily="18" charset="0"/>
                <a:cs typeface="Times New Roman" panose="02020603050405020304" pitchFamily="18" charset="0"/>
              </a:rPr>
              <a:t>Suggestions from Phase-1</a:t>
            </a:r>
          </a:p>
          <a:p>
            <a:pPr marL="685791" indent="-342900" algn="just" eaLnBrk="0" hangingPunct="0">
              <a:spcBef>
                <a:spcPct val="20000"/>
              </a:spcBef>
              <a:buFont typeface="Arial" panose="020B0604020202020204" pitchFamily="34" charset="0"/>
              <a:buChar char="•"/>
              <a:defRPr/>
            </a:pPr>
            <a:r>
              <a:rPr lang="en-US" sz="2200" kern="0" dirty="0">
                <a:latin typeface="Times New Roman" panose="02020603050405020304" pitchFamily="18" charset="0"/>
                <a:cs typeface="Times New Roman" panose="02020603050405020304" pitchFamily="18" charset="0"/>
              </a:rPr>
              <a:t>Requirements Specification</a:t>
            </a:r>
          </a:p>
          <a:p>
            <a:pPr marL="685791" indent="-342900" algn="just" eaLnBrk="0" hangingPunct="0">
              <a:spcBef>
                <a:spcPct val="20000"/>
              </a:spcBef>
              <a:buFont typeface="Arial" panose="020B0604020202020204" pitchFamily="34" charset="0"/>
              <a:buChar char="•"/>
              <a:defRPr/>
            </a:pPr>
            <a:r>
              <a:rPr lang="en-US" sz="2200" kern="0" dirty="0">
                <a:latin typeface="Times New Roman" panose="02020603050405020304" pitchFamily="18" charset="0"/>
                <a:cs typeface="Times New Roman" panose="02020603050405020304" pitchFamily="18" charset="0"/>
                <a:sym typeface="Trebuchet MS"/>
              </a:rPr>
              <a:t>Design Approach </a:t>
            </a:r>
          </a:p>
          <a:p>
            <a:pPr marL="685791" indent="-342900" algn="just" eaLnBrk="0" hangingPunct="0">
              <a:spcBef>
                <a:spcPct val="20000"/>
              </a:spcBef>
              <a:buFont typeface="Arial" panose="020B0604020202020204" pitchFamily="34" charset="0"/>
              <a:buChar char="•"/>
              <a:defRPr/>
            </a:pPr>
            <a:r>
              <a:rPr lang="en-US" sz="2200" kern="0" dirty="0">
                <a:latin typeface="Times New Roman" panose="02020603050405020304" pitchFamily="18" charset="0"/>
                <a:cs typeface="Times New Roman" panose="02020603050405020304" pitchFamily="18" charset="0"/>
                <a:sym typeface="Trebuchet MS"/>
              </a:rPr>
              <a:t>Design Constraints, Assumptions &amp; Dependencies</a:t>
            </a:r>
          </a:p>
          <a:p>
            <a:pPr marL="685791" indent="-342900" algn="just" eaLnBrk="0" hangingPunct="0">
              <a:spcBef>
                <a:spcPct val="20000"/>
              </a:spcBef>
              <a:buFont typeface="Arial" panose="020B0604020202020204" pitchFamily="34" charset="0"/>
              <a:buChar char="•"/>
              <a:defRPr/>
            </a:pPr>
            <a:r>
              <a:rPr lang="en-US" sz="2200" kern="0" dirty="0">
                <a:latin typeface="Times New Roman" panose="02020603050405020304" pitchFamily="18" charset="0"/>
                <a:cs typeface="Times New Roman" panose="02020603050405020304" pitchFamily="18" charset="0"/>
                <a:sym typeface="Trebuchet MS"/>
              </a:rPr>
              <a:t>Proposed System / Approach</a:t>
            </a:r>
          </a:p>
          <a:p>
            <a:pPr marL="685791" indent="-342900" algn="just" eaLnBrk="0" hangingPunct="0">
              <a:spcBef>
                <a:spcPct val="20000"/>
              </a:spcBef>
              <a:buFont typeface="Arial" panose="020B0604020202020204" pitchFamily="34" charset="0"/>
              <a:buChar char="•"/>
              <a:defRPr/>
            </a:pPr>
            <a:r>
              <a:rPr lang="en-US" sz="2200" kern="0" dirty="0">
                <a:latin typeface="Times New Roman" panose="02020603050405020304" pitchFamily="18" charset="0"/>
                <a:cs typeface="Times New Roman" panose="02020603050405020304" pitchFamily="18" charset="0"/>
                <a:sym typeface="Trebuchet MS"/>
              </a:rPr>
              <a:t>Architecture</a:t>
            </a:r>
          </a:p>
          <a:p>
            <a:pPr marL="685791" indent="-342900" algn="just" eaLnBrk="0" hangingPunct="0">
              <a:spcBef>
                <a:spcPct val="20000"/>
              </a:spcBef>
              <a:buFont typeface="Arial" panose="020B0604020202020204" pitchFamily="34" charset="0"/>
              <a:buChar char="•"/>
              <a:defRPr/>
            </a:pPr>
            <a:r>
              <a:rPr lang="en-US" sz="2200" kern="0" dirty="0">
                <a:latin typeface="Times New Roman" panose="02020603050405020304" pitchFamily="18" charset="0"/>
                <a:cs typeface="Times New Roman" panose="02020603050405020304" pitchFamily="18" charset="0"/>
                <a:sym typeface="Trebuchet MS"/>
              </a:rPr>
              <a:t>Design Description</a:t>
            </a:r>
          </a:p>
          <a:p>
            <a:pPr marL="685791" indent="-342900" algn="just" eaLnBrk="0" hangingPunct="0">
              <a:spcBef>
                <a:spcPct val="20000"/>
              </a:spcBef>
              <a:buFont typeface="Arial" panose="020B0604020202020204" pitchFamily="34" charset="0"/>
              <a:buChar char="•"/>
              <a:defRPr/>
            </a:pPr>
            <a:r>
              <a:rPr lang="en-US" sz="2200" kern="0" dirty="0">
                <a:latin typeface="Times New Roman" panose="02020603050405020304" pitchFamily="18" charset="0"/>
                <a:cs typeface="Times New Roman" panose="02020603050405020304" pitchFamily="18" charset="0"/>
                <a:sym typeface="Trebuchet MS"/>
              </a:rPr>
              <a:t>Project Progress</a:t>
            </a:r>
          </a:p>
          <a:p>
            <a:pPr marL="685791" indent="-342900" algn="just" eaLnBrk="0" hangingPunct="0">
              <a:spcBef>
                <a:spcPct val="20000"/>
              </a:spcBef>
              <a:buFont typeface="Arial" panose="020B0604020202020204" pitchFamily="34" charset="0"/>
              <a:buChar char="•"/>
              <a:defRPr/>
            </a:pPr>
            <a:r>
              <a:rPr lang="en-US" sz="2200" kern="0" dirty="0">
                <a:latin typeface="Times New Roman" panose="02020603050405020304" pitchFamily="18" charset="0"/>
                <a:cs typeface="Times New Roman" panose="02020603050405020304" pitchFamily="18" charset="0"/>
                <a:sym typeface="Trebuchet MS"/>
              </a:rPr>
              <a:t>References</a:t>
            </a:r>
            <a:endParaRPr lang="en-US" sz="2200" kern="0" dirty="0">
              <a:latin typeface="Times New Roman" panose="02020603050405020304" pitchFamily="18" charset="0"/>
              <a:cs typeface="Times New Roman" panose="02020603050405020304" pitchFamily="18" charset="0"/>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Agenda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609600" y="1268760"/>
            <a:ext cx="10972800" cy="4896544"/>
          </a:xfrm>
          <a:prstGeom prst="rect">
            <a:avLst/>
          </a:prstGeom>
        </p:spPr>
        <p:txBody>
          <a:bodyPr/>
          <a:lstStyle/>
          <a:p>
            <a:pPr marL="342891" algn="ctr" eaLnBrk="0" hangingPunct="0">
              <a:lnSpc>
                <a:spcPct val="300000"/>
              </a:lnSpc>
              <a:spcBef>
                <a:spcPts val="0"/>
              </a:spcBef>
              <a:spcAft>
                <a:spcPts val="0"/>
              </a:spcAft>
              <a:defRPr/>
            </a:pPr>
            <a:r>
              <a:rPr lang="en-IN" sz="2400" b="1" dirty="0">
                <a:latin typeface="Times New Roman" panose="02020603050405020304" pitchFamily="18" charset="0"/>
                <a:cs typeface="Times New Roman" panose="02020603050405020304" pitchFamily="18" charset="0"/>
              </a:rPr>
              <a:t>Artificial Intelligence based Task Scheduling</a:t>
            </a:r>
          </a:p>
          <a:p>
            <a:r>
              <a:rPr lang="en-US" dirty="0">
                <a:latin typeface="Times New Roman" panose="02020603050405020304" pitchFamily="18" charset="0"/>
                <a:cs typeface="Times New Roman" panose="02020603050405020304" pitchFamily="18" charset="0"/>
              </a:rPr>
              <a:t>Modern operating systems handle diverse workloads, from real-time tasks to background processes, but traditional schedulers like Linux CFS rely on static heuristics, leading to inefficient CPU allocation, higher latency, and increased power consumption. Existing solutions lack adaptability, failing to dynamically optimize resource allocation based on real-time system demands.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AVIOS – Adaptive Vigilant Intelligent Operating System aims to bridge this gap by integrating AI into scheduling. By analyzing process behavior, predicting optimal CPU time (</a:t>
            </a:r>
            <a:r>
              <a:rPr lang="en-US" dirty="0" err="1">
                <a:latin typeface="Times New Roman" panose="02020603050405020304" pitchFamily="18" charset="0"/>
                <a:cs typeface="Times New Roman" panose="02020603050405020304" pitchFamily="18" charset="0"/>
              </a:rPr>
              <a:t>vruntime</a:t>
            </a:r>
            <a:r>
              <a:rPr lang="en-US" dirty="0">
                <a:latin typeface="Times New Roman" panose="02020603050405020304" pitchFamily="18" charset="0"/>
                <a:cs typeface="Times New Roman" panose="02020603050405020304" pitchFamily="18" charset="0"/>
              </a:rPr>
              <a:t>), and modifying scheduling policies dynamically, AVIOS ensures: Faster execution for critical tasks , Optimized CPU utilization and </a:t>
            </a:r>
          </a:p>
          <a:p>
            <a:r>
              <a:rPr lang="en-US" dirty="0">
                <a:latin typeface="Times New Roman" panose="02020603050405020304" pitchFamily="18" charset="0"/>
                <a:cs typeface="Times New Roman" panose="02020603050405020304" pitchFamily="18" charset="0"/>
              </a:rPr>
              <a:t>Energy-efficient workload management.</a:t>
            </a:r>
          </a:p>
          <a:p>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By embedding AI-driven task scheduling into the Linux kernel, AVIOS enhances system responsiveness and performance, making OS scheduling truly adaptive and intelligent.</a:t>
            </a:r>
          </a:p>
          <a:p>
            <a:endParaRPr lang="en-US" dirty="0">
              <a:latin typeface="Times New Roman" panose="02020603050405020304" pitchFamily="18" charset="0"/>
              <a:cs typeface="Times New Roman" panose="02020603050405020304" pitchFamily="18" charset="0"/>
            </a:endParaRPr>
          </a:p>
        </p:txBody>
      </p:sp>
      <p:sp>
        <p:nvSpPr>
          <p:cNvPr id="14" name="Text Box 34"/>
          <p:cNvSpPr txBox="1">
            <a:spLocks noChangeArrowheads="1"/>
          </p:cNvSpPr>
          <p:nvPr/>
        </p:nvSpPr>
        <p:spPr bwMode="auto">
          <a:xfrm>
            <a:off x="4191000" y="1138535"/>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IN" sz="2400" b="1" i="1" dirty="0">
                <a:solidFill>
                  <a:srgbClr val="FF0000"/>
                </a:solidFill>
                <a:latin typeface="Times New Roman" panose="02020603050405020304" pitchFamily="18" charset="0"/>
                <a:cs typeface="Times New Roman" panose="02020603050405020304" pitchFamily="18" charset="0"/>
              </a:rPr>
              <a:t>Problem Statement</a:t>
            </a:r>
            <a:endParaRPr lang="en-US" sz="2400" b="1" i="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814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10" name="Content Placeholder 2"/>
          <p:cNvSpPr txBox="1">
            <a:spLocks/>
          </p:cNvSpPr>
          <p:nvPr/>
        </p:nvSpPr>
        <p:spPr>
          <a:xfrm>
            <a:off x="1199456" y="1953345"/>
            <a:ext cx="8935144" cy="4447455"/>
          </a:xfrm>
          <a:prstGeom prst="rect">
            <a:avLst/>
          </a:prstGeom>
        </p:spPr>
        <p:txBody>
          <a:bodyPr/>
          <a:lstStyle/>
          <a:p>
            <a:pPr marL="342891" algn="just" eaLnBrk="0" hangingPunct="0">
              <a:spcBef>
                <a:spcPct val="20000"/>
              </a:spcBef>
              <a:defRPr/>
            </a:pPr>
            <a:endParaRPr lang="en-IN" sz="2400" kern="0" dirty="0">
              <a:solidFill>
                <a:srgbClr val="0000FF"/>
              </a:solidFill>
              <a:latin typeface="Times New Roman" panose="02020603050405020304" pitchFamily="18" charset="0"/>
              <a:cs typeface="Times New Roman" panose="02020603050405020304" pitchFamily="18" charset="0"/>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Abstract and Scope</a:t>
            </a:r>
          </a:p>
        </p:txBody>
      </p:sp>
      <p:sp>
        <p:nvSpPr>
          <p:cNvPr id="6" name="Text Placeholder 5">
            <a:extLst>
              <a:ext uri="{FF2B5EF4-FFF2-40B4-BE49-F238E27FC236}">
                <a16:creationId xmlns:a16="http://schemas.microsoft.com/office/drawing/2014/main" id="{696B3B7D-F24B-732D-B41D-8672E5E21DE1}"/>
              </a:ext>
            </a:extLst>
          </p:cNvPr>
          <p:cNvSpPr>
            <a:spLocks noGrp="1"/>
          </p:cNvSpPr>
          <p:nvPr>
            <p:ph type="body" idx="1"/>
          </p:nvPr>
        </p:nvSpPr>
        <p:spPr>
          <a:xfrm>
            <a:off x="831850" y="2042820"/>
            <a:ext cx="10515600" cy="4815179"/>
          </a:xfrm>
        </p:spPr>
        <p:txBody>
          <a:bodyPr>
            <a:normAutofit fontScale="47500" lnSpcReduction="20000"/>
          </a:bodyPr>
          <a:lstStyle/>
          <a:p>
            <a:pPr>
              <a:lnSpc>
                <a:spcPct val="120000"/>
              </a:lnSpc>
            </a:pPr>
            <a:r>
              <a:rPr lang="en-IN" sz="4400" b="1" i="1" dirty="0">
                <a:solidFill>
                  <a:schemeClr val="tx1"/>
                </a:solidFill>
                <a:latin typeface="Times New Roman" panose="02020603050405020304" pitchFamily="18" charset="0"/>
                <a:cs typeface="Times New Roman" panose="02020603050405020304" pitchFamily="18" charset="0"/>
              </a:rPr>
              <a:t>Abstract :</a:t>
            </a:r>
            <a:r>
              <a:rPr lang="en-IN" sz="4400" b="1" i="1" dirty="0">
                <a:latin typeface="Times New Roman" panose="02020603050405020304" pitchFamily="18" charset="0"/>
                <a:cs typeface="Times New Roman" panose="02020603050405020304" pitchFamily="18" charset="0"/>
              </a:rPr>
              <a:t> </a:t>
            </a:r>
          </a:p>
          <a:p>
            <a:pPr>
              <a:lnSpc>
                <a:spcPct val="120000"/>
              </a:lnSpc>
            </a:pPr>
            <a:r>
              <a:rPr lang="en-IN" sz="3600" b="1" i="1" dirty="0">
                <a:latin typeface="Times New Roman" panose="02020603050405020304" pitchFamily="18" charset="0"/>
                <a:cs typeface="Times New Roman" panose="02020603050405020304" pitchFamily="18" charset="0"/>
              </a:rPr>
              <a:t>                  </a:t>
            </a:r>
            <a:r>
              <a:rPr lang="en-IN" sz="3600" dirty="0">
                <a:solidFill>
                  <a:schemeClr val="tx1"/>
                </a:solidFill>
                <a:latin typeface="Times New Roman" panose="02020603050405020304" pitchFamily="18" charset="0"/>
                <a:cs typeface="Times New Roman" panose="02020603050405020304" pitchFamily="18" charset="0"/>
              </a:rPr>
              <a:t>AVIOS – Adaptive Vigilant Intelligent Operating System introduces AI-powered task scheduling in the Linux kernel to dynamically allocate CPU resources based on real-time process behaviour. By leveraging machine learning models in user space to predict optimal time slices (</a:t>
            </a:r>
            <a:r>
              <a:rPr lang="en-IN" sz="3600" dirty="0" err="1">
                <a:solidFill>
                  <a:schemeClr val="tx1"/>
                </a:solidFill>
                <a:latin typeface="Times New Roman" panose="02020603050405020304" pitchFamily="18" charset="0"/>
                <a:cs typeface="Times New Roman" panose="02020603050405020304" pitchFamily="18" charset="0"/>
              </a:rPr>
              <a:t>vruntime</a:t>
            </a:r>
            <a:r>
              <a:rPr lang="en-IN" sz="3600" dirty="0">
                <a:solidFill>
                  <a:schemeClr val="tx1"/>
                </a:solidFill>
                <a:latin typeface="Times New Roman" panose="02020603050405020304" pitchFamily="18" charset="0"/>
                <a:cs typeface="Times New Roman" panose="02020603050405020304" pitchFamily="18" charset="0"/>
              </a:rPr>
              <a:t>) and modifying scheduling policies via system calls, AVIOS enhances system efficiency, reduces latency, and optimizes CPU utilization for diverse workloads.</a:t>
            </a:r>
          </a:p>
          <a:p>
            <a:pPr>
              <a:lnSpc>
                <a:spcPct val="120000"/>
              </a:lnSpc>
            </a:pPr>
            <a:endParaRPr lang="en-IN" sz="3300" b="1" i="1" dirty="0">
              <a:solidFill>
                <a:schemeClr val="tx1"/>
              </a:solidFill>
              <a:latin typeface="Times New Roman" panose="02020603050405020304" pitchFamily="18" charset="0"/>
              <a:cs typeface="Times New Roman" panose="02020603050405020304" pitchFamily="18" charset="0"/>
            </a:endParaRPr>
          </a:p>
          <a:p>
            <a:pPr>
              <a:lnSpc>
                <a:spcPct val="120000"/>
              </a:lnSpc>
            </a:pPr>
            <a:r>
              <a:rPr lang="en-IN" sz="4400" b="1" i="1" dirty="0">
                <a:solidFill>
                  <a:schemeClr val="tx1"/>
                </a:solidFill>
                <a:latin typeface="Times New Roman" panose="02020603050405020304" pitchFamily="18" charset="0"/>
                <a:cs typeface="Times New Roman" panose="02020603050405020304" pitchFamily="18" charset="0"/>
              </a:rPr>
              <a:t>Scope:</a:t>
            </a:r>
          </a:p>
          <a:p>
            <a:pPr>
              <a:lnSpc>
                <a:spcPct val="120000"/>
              </a:lnSpc>
            </a:pPr>
            <a:r>
              <a:rPr lang="en-IN" sz="3600" b="1" i="1" dirty="0">
                <a:solidFill>
                  <a:schemeClr val="tx1"/>
                </a:solidFill>
                <a:latin typeface="Times New Roman" panose="02020603050405020304" pitchFamily="18" charset="0"/>
                <a:cs typeface="Times New Roman" panose="02020603050405020304" pitchFamily="18" charset="0"/>
              </a:rPr>
              <a:t>            </a:t>
            </a:r>
            <a:r>
              <a:rPr lang="en-US" sz="3600" dirty="0">
                <a:solidFill>
                  <a:schemeClr val="tx1"/>
                </a:solidFill>
                <a:latin typeface="Times New Roman" panose="02020603050405020304" pitchFamily="18" charset="0"/>
                <a:cs typeface="Times New Roman" panose="02020603050405020304" pitchFamily="18" charset="0"/>
              </a:rPr>
              <a:t>AVIOS is designed for high-performance computing, cloud environments, and real-time systems, ensuring adaptive scheduling for diverse workloads. It improves CPU efficiency, energy management, and responsiveness, making it suitable for datacenters, AI/ML workloads, and low-latency applications. Future extensions include integration with cloud-native orchestration systems like Kubernetes for distributed scheduling.</a:t>
            </a:r>
            <a:endParaRPr lang="en-IN" sz="3600" i="1" dirty="0">
              <a:solidFill>
                <a:schemeClr val="tx1"/>
              </a:solidFill>
              <a:latin typeface="Times New Roman" panose="02020603050405020304" pitchFamily="18" charset="0"/>
              <a:cs typeface="Times New Roman" panose="02020603050405020304" pitchFamily="18" charset="0"/>
            </a:endParaRPr>
          </a:p>
          <a:p>
            <a:pPr>
              <a:lnSpc>
                <a:spcPct val="120000"/>
              </a:lnSpc>
            </a:pPr>
            <a:r>
              <a:rPr lang="en-IN" sz="3300" i="1" dirty="0">
                <a:solidFill>
                  <a:schemeClr val="tx1"/>
                </a:solidFill>
                <a:latin typeface="Times New Roman" panose="02020603050405020304" pitchFamily="18" charset="0"/>
                <a:cs typeface="Times New Roman" panose="02020603050405020304" pitchFamily="18" charset="0"/>
              </a:rPr>
              <a:t>           </a:t>
            </a:r>
          </a:p>
          <a:p>
            <a:endParaRPr lang="en-IN" b="1" i="1" dirty="0">
              <a:solidFill>
                <a:schemeClr val="tx1"/>
              </a:solidFill>
              <a:latin typeface="Times New Roman" panose="02020603050405020304" pitchFamily="18" charset="0"/>
              <a:cs typeface="Times New Roman" panose="02020603050405020304" pitchFamily="18" charset="0"/>
            </a:endParaRPr>
          </a:p>
          <a:p>
            <a:pPr algn="just"/>
            <a:r>
              <a:rPr lang="en-US" sz="2000" dirty="0">
                <a:solidFill>
                  <a:schemeClr val="tx1"/>
                </a:solidFill>
                <a:latin typeface="Times New Roman" panose="02020603050405020304" pitchFamily="18" charset="0"/>
                <a:cs typeface="Times New Roman" panose="02020603050405020304" pitchFamily="18" charset="0"/>
              </a:rPr>
              <a:t>  </a:t>
            </a:r>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9307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551384" y="2092332"/>
            <a:ext cx="11089232" cy="4384667"/>
          </a:xfrm>
          <a:prstGeom prst="rect">
            <a:avLst/>
          </a:prstGeom>
        </p:spPr>
        <p:txBody>
          <a:bodyPr/>
          <a:lstStyle/>
          <a:p>
            <a:pPr marL="342891" algn="just" eaLnBrk="0" hangingPunct="0">
              <a:spcBef>
                <a:spcPct val="20000"/>
              </a:spcBef>
              <a:defRPr/>
            </a:pPr>
            <a:endParaRPr lang="en-IN" sz="2400" kern="0" dirty="0">
              <a:solidFill>
                <a:srgbClr val="0000FF"/>
              </a:solidFill>
              <a:latin typeface="Trebuchet MS" pitchFamily="34" charset="0"/>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Suggestions from Phase-1 </a:t>
            </a:r>
          </a:p>
        </p:txBody>
      </p:sp>
      <p:sp>
        <p:nvSpPr>
          <p:cNvPr id="2" name="TextBox 1">
            <a:extLst>
              <a:ext uri="{FF2B5EF4-FFF2-40B4-BE49-F238E27FC236}">
                <a16:creationId xmlns:a16="http://schemas.microsoft.com/office/drawing/2014/main" id="{30DF8A99-8544-8A07-897A-C26BA99A190A}"/>
              </a:ext>
            </a:extLst>
          </p:cNvPr>
          <p:cNvSpPr txBox="1"/>
          <p:nvPr/>
        </p:nvSpPr>
        <p:spPr>
          <a:xfrm>
            <a:off x="839416" y="2420888"/>
            <a:ext cx="10297144" cy="1631216"/>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Moving Forward with AI Task Scheduling Feature</a:t>
            </a:r>
          </a:p>
          <a:p>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After careful consideration and feedback, we have decided to focus on </a:t>
            </a:r>
            <a:r>
              <a:rPr lang="en-US" sz="2000" b="1" dirty="0">
                <a:latin typeface="Times New Roman" panose="02020603050405020304" pitchFamily="18" charset="0"/>
                <a:cs typeface="Times New Roman" panose="02020603050405020304" pitchFamily="18" charset="0"/>
              </a:rPr>
              <a:t>AI-based Task Scheduling</a:t>
            </a:r>
            <a:r>
              <a:rPr lang="en-US" sz="2000" dirty="0">
                <a:latin typeface="Times New Roman" panose="02020603050405020304" pitchFamily="18" charset="0"/>
                <a:cs typeface="Times New Roman" panose="02020603050405020304" pitchFamily="18" charset="0"/>
              </a:rPr>
              <a:t> as the primary feature of our project. This decision is based on its potential to optimize task execution, improve efficiency, and enhance system performance.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Requirements Specification</a:t>
            </a:r>
          </a:p>
        </p:txBody>
      </p:sp>
      <p:sp>
        <p:nvSpPr>
          <p:cNvPr id="3" name="TextBox 2">
            <a:extLst>
              <a:ext uri="{FF2B5EF4-FFF2-40B4-BE49-F238E27FC236}">
                <a16:creationId xmlns:a16="http://schemas.microsoft.com/office/drawing/2014/main" id="{5BF0BE25-1CDD-60D9-A7D7-C82AC7A1E74C}"/>
              </a:ext>
            </a:extLst>
          </p:cNvPr>
          <p:cNvSpPr txBox="1"/>
          <p:nvPr/>
        </p:nvSpPr>
        <p:spPr>
          <a:xfrm>
            <a:off x="263352" y="1700808"/>
            <a:ext cx="5523806" cy="4708981"/>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Functional Requirements</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a:t>
            </a:r>
            <a:r>
              <a:rPr lang="en-IN" b="1" dirty="0">
                <a:latin typeface="Times New Roman" panose="02020603050405020304" pitchFamily="18" charset="0"/>
                <a:cs typeface="Times New Roman" panose="02020603050405020304" pitchFamily="18" charset="0"/>
              </a:rPr>
              <a:t>)  </a:t>
            </a:r>
            <a:r>
              <a:rPr lang="en-IN" b="1" i="1" dirty="0">
                <a:latin typeface="Times New Roman" panose="02020603050405020304" pitchFamily="18" charset="0"/>
                <a:cs typeface="Times New Roman" panose="02020603050405020304" pitchFamily="18" charset="0"/>
              </a:rPr>
              <a:t>AI-Based Task Scheduling :</a:t>
            </a:r>
            <a:endParaRPr kumimoji="0" lang="en-US" altLang="en-US"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hangingPunct="0">
              <a:buFontTx/>
              <a:buChar char="•"/>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must classify tasks into real-time (RT) and Resource Intensive Task (RIT) based on resource usage.</a:t>
            </a:r>
          </a:p>
          <a:p>
            <a:pPr lvl="1" eaLnBrk="0" hangingPunct="0">
              <a:buFontTx/>
              <a:buChar char="•"/>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must predict optimal time slices (STS) for each task using a machine learning model.</a:t>
            </a:r>
          </a:p>
          <a:p>
            <a:pPr lvl="1" eaLnBrk="0" hangingPunct="0">
              <a:buFontTx/>
              <a:buChar char="•"/>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AI model should dynamically adjust scheduling policies. </a:t>
            </a:r>
          </a:p>
          <a:p>
            <a:endParaRPr lang="en-IN" sz="1600" dirty="0"/>
          </a:p>
          <a:p>
            <a:r>
              <a:rPr lang="en-IN" dirty="0">
                <a:latin typeface="Times New Roman" panose="02020603050405020304" pitchFamily="18" charset="0"/>
                <a:cs typeface="Times New Roman" panose="02020603050405020304" pitchFamily="18" charset="0"/>
              </a:rPr>
              <a:t>2</a:t>
            </a:r>
            <a:r>
              <a:rPr lang="en-IN" i="1" dirty="0">
                <a:latin typeface="Times New Roman" panose="02020603050405020304" pitchFamily="18" charset="0"/>
                <a:cs typeface="Times New Roman" panose="02020603050405020304" pitchFamily="18" charset="0"/>
              </a:rPr>
              <a:t>)</a:t>
            </a:r>
            <a:r>
              <a:rPr lang="en-IN" i="1" dirty="0"/>
              <a:t> </a:t>
            </a:r>
            <a:r>
              <a:rPr lang="en-IN" b="1" i="1" dirty="0">
                <a:latin typeface="Times New Roman" panose="02020603050405020304" pitchFamily="18" charset="0"/>
                <a:cs typeface="Times New Roman" panose="02020603050405020304" pitchFamily="18" charset="0"/>
              </a:rPr>
              <a:t>Kernel-Level Task Execution :</a:t>
            </a:r>
          </a:p>
          <a:p>
            <a:pPr lvl="1" eaLnBrk="0" hangingPunct="0">
              <a:buFontTx/>
              <a:buChar char="•"/>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modified scheduler must support SCHED_RR (real-time) and SCHED_OTHER (CFS).</a:t>
            </a:r>
          </a:p>
          <a:p>
            <a:pPr lvl="1" eaLnBrk="0" hangingPunct="0">
              <a:buFontTx/>
              <a:buChar char="•"/>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should ensure low-latency execution for high-priority tasks. </a:t>
            </a:r>
          </a:p>
          <a:p>
            <a:pPr lvl="1" eaLnBrk="0" hangingPunct="0">
              <a:buFontTx/>
              <a:buChar char="•"/>
            </a:pPr>
            <a:r>
              <a:rPr lang="en-IN" sz="1600" dirty="0">
                <a:latin typeface="Times New Roman" panose="02020603050405020304" pitchFamily="18" charset="0"/>
                <a:cs typeface="Times New Roman" panose="02020603050405020304" pitchFamily="18" charset="0"/>
              </a:rPr>
              <a:t>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scheduler should modify CPU time slice allocation based on AI predictions.</a:t>
            </a:r>
          </a:p>
          <a:p>
            <a:endParaRPr lang="en-IN" b="1" dirty="0"/>
          </a:p>
        </p:txBody>
      </p:sp>
      <p:sp>
        <p:nvSpPr>
          <p:cNvPr id="10" name="TextBox 9">
            <a:extLst>
              <a:ext uri="{FF2B5EF4-FFF2-40B4-BE49-F238E27FC236}">
                <a16:creationId xmlns:a16="http://schemas.microsoft.com/office/drawing/2014/main" id="{4FF357D1-CBBF-AA43-A043-65D337B87E72}"/>
              </a:ext>
            </a:extLst>
          </p:cNvPr>
          <p:cNvSpPr txBox="1"/>
          <p:nvPr/>
        </p:nvSpPr>
        <p:spPr>
          <a:xfrm>
            <a:off x="5787158" y="2205884"/>
            <a:ext cx="6478234" cy="4431983"/>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3) </a:t>
            </a:r>
            <a:r>
              <a:rPr lang="en-IN" b="1" i="1" dirty="0">
                <a:latin typeface="Times New Roman" panose="02020603050405020304" pitchFamily="18" charset="0"/>
                <a:cs typeface="Times New Roman" panose="02020603050405020304" pitchFamily="18" charset="0"/>
              </a:rPr>
              <a:t>User-Kernel Communication :</a:t>
            </a:r>
          </a:p>
          <a:p>
            <a:pPr lvl="1" eaLnBrk="0" hangingPunct="0">
              <a:buFontTx/>
              <a:buChar char="•"/>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AI model should send predictions via system calls (</a:t>
            </a:r>
            <a:r>
              <a:rPr kumimoji="0" lang="en-US" altLang="en-US" sz="16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sched_setscheduler</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hangingPunct="0">
              <a:buFontTx/>
              <a:buChar char="•"/>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Alternative </a:t>
            </a:r>
            <a:r>
              <a:rPr kumimoji="0" lang="en-US" altLang="en-US" sz="16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Netlink</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sockets may be used for real-time communication.</a:t>
            </a:r>
          </a:p>
          <a:p>
            <a:pPr lvl="1" eaLnBrk="0" hangingPunct="0"/>
            <a:endParaRPr lang="en-IN" sz="1600"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4) </a:t>
            </a:r>
            <a:r>
              <a:rPr lang="en-IN" b="1" i="1" dirty="0">
                <a:latin typeface="Times New Roman" panose="02020603050405020304" pitchFamily="18" charset="0"/>
                <a:cs typeface="Times New Roman" panose="02020603050405020304" pitchFamily="18" charset="0"/>
              </a:rPr>
              <a:t>Process Monitoring &amp; Data Collection :</a:t>
            </a:r>
          </a:p>
          <a:p>
            <a:pPr lvl="1" eaLnBrk="0" hangingPunct="0">
              <a:buFontTx/>
              <a:buChar char="•"/>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must monitor CPU, memory, I/O usage, and context switch rates.</a:t>
            </a:r>
          </a:p>
          <a:p>
            <a:pPr lvl="1" eaLnBrk="0" hangingPunct="0">
              <a:buFontTx/>
              <a:buChar char="•"/>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collection should use perf, </a:t>
            </a:r>
            <a:r>
              <a:rPr kumimoji="0" lang="en-US" altLang="en-US" sz="16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psutil</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other Linux monitoring tools.</a:t>
            </a:r>
          </a:p>
          <a:p>
            <a:endParaRPr lang="en-US" sz="1600"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5)</a:t>
            </a:r>
            <a:r>
              <a:rPr lang="en-IN" dirty="0"/>
              <a:t> </a:t>
            </a:r>
            <a:r>
              <a:rPr lang="en-IN" b="1" i="1" dirty="0">
                <a:latin typeface="Times New Roman" panose="02020603050405020304" pitchFamily="18" charset="0"/>
                <a:cs typeface="Times New Roman" panose="02020603050405020304" pitchFamily="18" charset="0"/>
              </a:rPr>
              <a:t>Integration &amp; Deployment :</a:t>
            </a:r>
          </a:p>
          <a:p>
            <a:pPr lvl="1">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 AI model should be deployable using Docker &amp; Kubernetes for scalability.</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system should support distributed scheduling with Redis, RabbitMQ, or Kafka.</a:t>
            </a:r>
          </a:p>
          <a:p>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89978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817871-7229-ED20-7622-A29E6E0A26F9}"/>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4" name="TextBox 3">
            <a:extLst>
              <a:ext uri="{FF2B5EF4-FFF2-40B4-BE49-F238E27FC236}">
                <a16:creationId xmlns:a16="http://schemas.microsoft.com/office/drawing/2014/main" id="{1CAE89A5-1E4A-D71B-F511-D90E0B8E7EED}"/>
              </a:ext>
            </a:extLst>
          </p:cNvPr>
          <p:cNvSpPr txBox="1"/>
          <p:nvPr/>
        </p:nvSpPr>
        <p:spPr>
          <a:xfrm>
            <a:off x="4570616" y="1154091"/>
            <a:ext cx="6097384" cy="461665"/>
          </a:xfrm>
          <a:prstGeom prst="rect">
            <a:avLst/>
          </a:prstGeom>
          <a:noFill/>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Requirements Specification</a:t>
            </a:r>
          </a:p>
        </p:txBody>
      </p:sp>
      <p:sp>
        <p:nvSpPr>
          <p:cNvPr id="6" name="TextBox 5">
            <a:extLst>
              <a:ext uri="{FF2B5EF4-FFF2-40B4-BE49-F238E27FC236}">
                <a16:creationId xmlns:a16="http://schemas.microsoft.com/office/drawing/2014/main" id="{1116DF96-5362-58C1-82BF-0494F4B50C7F}"/>
              </a:ext>
            </a:extLst>
          </p:cNvPr>
          <p:cNvSpPr txBox="1"/>
          <p:nvPr/>
        </p:nvSpPr>
        <p:spPr>
          <a:xfrm>
            <a:off x="407368" y="1772816"/>
            <a:ext cx="6097384" cy="5416868"/>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Non-Functional Requirements</a:t>
            </a:r>
          </a:p>
          <a:p>
            <a:endParaRPr lang="en-IN" sz="2000"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Performance &amp; Efficiency :</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system should reduce CPU starvation and scheduling latency.</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It must improve CPU utilization by dynamically adjusting task priorities.</a:t>
            </a:r>
          </a:p>
          <a:p>
            <a:endParaRPr lang="en-IN" sz="2000"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2) </a:t>
            </a:r>
            <a:r>
              <a:rPr lang="en-IN" b="1" i="1" dirty="0">
                <a:latin typeface="Times New Roman" panose="02020603050405020304" pitchFamily="18" charset="0"/>
                <a:cs typeface="Times New Roman" panose="02020603050405020304" pitchFamily="18" charset="0"/>
              </a:rPr>
              <a:t>Scalability &amp; Flexibility :</a:t>
            </a:r>
          </a:p>
          <a:p>
            <a:pPr lvl="1" eaLnBrk="0" hangingPunct="0">
              <a:buFontTx/>
              <a:buChar char="•"/>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Should handle large-scale task scheduling across multiple cores.</a:t>
            </a:r>
          </a:p>
          <a:p>
            <a:pPr lvl="1" eaLnBrk="0" hangingPunct="0">
              <a:buFontTx/>
              <a:buChar char="•"/>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should support containerized deployment via Docker &amp; Kubernetes. </a:t>
            </a:r>
            <a:endParaRPr lang="en-IN" sz="1600" i="1" dirty="0">
              <a:latin typeface="Times New Roman" panose="02020603050405020304" pitchFamily="18" charset="0"/>
              <a:cs typeface="Times New Roman" panose="02020603050405020304" pitchFamily="18" charset="0"/>
            </a:endParaRPr>
          </a:p>
          <a:p>
            <a:endParaRPr lang="en-IN" b="1" i="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3) </a:t>
            </a:r>
            <a:r>
              <a:rPr lang="en-US" b="1" i="1" dirty="0">
                <a:latin typeface="Times New Roman" panose="02020603050405020304" pitchFamily="18" charset="0"/>
                <a:cs typeface="Times New Roman" panose="02020603050405020304" pitchFamily="18" charset="0"/>
              </a:rPr>
              <a:t>Reliability &amp; Fault Tolerance :</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AI-based scheduling should handle unexpected workload variations.</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system must ensure graceful failure recovery in case of AI model failure.</a:t>
            </a:r>
          </a:p>
          <a:p>
            <a:r>
              <a:rPr lang="en-IN" dirty="0">
                <a:latin typeface="Times New Roman" panose="02020603050405020304" pitchFamily="18" charset="0"/>
                <a:cs typeface="Times New Roman" panose="02020603050405020304" pitchFamily="18" charset="0"/>
              </a:rPr>
              <a:t>      </a:t>
            </a:r>
          </a:p>
          <a:p>
            <a:endParaRPr lang="en-IN" b="1" i="1" dirty="0">
              <a:latin typeface="Times New Roman" panose="02020603050405020304" pitchFamily="18" charset="0"/>
              <a:cs typeface="Times New Roman" panose="02020603050405020304" pitchFamily="18" charset="0"/>
            </a:endParaRPr>
          </a:p>
          <a:p>
            <a:endParaRPr lang="en-IN" dirty="0"/>
          </a:p>
        </p:txBody>
      </p:sp>
      <p:sp>
        <p:nvSpPr>
          <p:cNvPr id="9" name="TextBox 8">
            <a:extLst>
              <a:ext uri="{FF2B5EF4-FFF2-40B4-BE49-F238E27FC236}">
                <a16:creationId xmlns:a16="http://schemas.microsoft.com/office/drawing/2014/main" id="{9C28EFCF-537C-4D4F-AFFF-543979BC520C}"/>
              </a:ext>
            </a:extLst>
          </p:cNvPr>
          <p:cNvSpPr txBox="1"/>
          <p:nvPr/>
        </p:nvSpPr>
        <p:spPr>
          <a:xfrm>
            <a:off x="6600056" y="2348880"/>
            <a:ext cx="5328592" cy="3139321"/>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4) </a:t>
            </a:r>
            <a:r>
              <a:rPr lang="en-IN" b="1" i="1" dirty="0">
                <a:latin typeface="Times New Roman" panose="02020603050405020304" pitchFamily="18" charset="0"/>
                <a:cs typeface="Times New Roman" panose="02020603050405020304" pitchFamily="18" charset="0"/>
              </a:rPr>
              <a:t>Security &amp; Access Control :</a:t>
            </a:r>
          </a:p>
          <a:p>
            <a:pPr lvl="1" eaLnBrk="0" hangingPunct="0">
              <a:buFontTx/>
              <a:buChar char="•"/>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Only privileged processes should modify scheduling parameters.</a:t>
            </a:r>
          </a:p>
          <a:p>
            <a:pPr lvl="1" eaLnBrk="0" hangingPunct="0">
              <a:buFontTx/>
              <a:buChar char="•"/>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communication between AI and Kernel to prevent unauthorized access. </a:t>
            </a:r>
          </a:p>
          <a:p>
            <a:endParaRPr lang="en-IN" sz="1600" i="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5) </a:t>
            </a:r>
            <a:r>
              <a:rPr lang="en-IN" b="1" i="1" dirty="0">
                <a:latin typeface="Times New Roman" panose="02020603050405020304" pitchFamily="18" charset="0"/>
                <a:cs typeface="Times New Roman" panose="02020603050405020304" pitchFamily="18" charset="0"/>
              </a:rPr>
              <a:t>Observability &amp; Debugging :</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Performance metrics should be monitored via Prometheus &amp; Grafana.</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Logs should be stored for debugging and model evaluation.</a:t>
            </a:r>
          </a:p>
          <a:p>
            <a:endParaRPr lang="en-IN"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2819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68B72-B3CF-82DE-72EF-F7D9FCA4435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5179E5D-7040-949E-77DD-7926503EDABC}"/>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a:extLst>
              <a:ext uri="{FF2B5EF4-FFF2-40B4-BE49-F238E27FC236}">
                <a16:creationId xmlns:a16="http://schemas.microsoft.com/office/drawing/2014/main" id="{C85EA2BB-FBFC-1134-A12C-A857E4F54E55}"/>
              </a:ext>
            </a:extLst>
          </p:cNvPr>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Requirements Specification</a:t>
            </a:r>
          </a:p>
        </p:txBody>
      </p:sp>
      <p:grpSp>
        <p:nvGrpSpPr>
          <p:cNvPr id="4" name="Group 3">
            <a:extLst>
              <a:ext uri="{FF2B5EF4-FFF2-40B4-BE49-F238E27FC236}">
                <a16:creationId xmlns:a16="http://schemas.microsoft.com/office/drawing/2014/main" id="{FDCA4998-11A5-1A80-D403-4682C0310E44}"/>
              </a:ext>
            </a:extLst>
          </p:cNvPr>
          <p:cNvGrpSpPr/>
          <p:nvPr/>
        </p:nvGrpSpPr>
        <p:grpSpPr>
          <a:xfrm>
            <a:off x="3287688" y="2055821"/>
            <a:ext cx="7904719" cy="3686476"/>
            <a:chOff x="1383297" y="2096500"/>
            <a:chExt cx="7904719" cy="3686476"/>
          </a:xfrm>
        </p:grpSpPr>
        <p:sp>
          <p:nvSpPr>
            <p:cNvPr id="2" name="Rectangle 1">
              <a:extLst>
                <a:ext uri="{FF2B5EF4-FFF2-40B4-BE49-F238E27FC236}">
                  <a16:creationId xmlns:a16="http://schemas.microsoft.com/office/drawing/2014/main" id="{62118698-E42B-AED8-D73C-FA30120E909B}"/>
                </a:ext>
              </a:extLst>
            </p:cNvPr>
            <p:cNvSpPr>
              <a:spLocks noChangeArrowheads="1"/>
            </p:cNvSpPr>
            <p:nvPr/>
          </p:nvSpPr>
          <p:spPr bwMode="auto">
            <a:xfrm>
              <a:off x="1383297" y="2096500"/>
              <a:ext cx="5216759"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Technologies for AI Task Scheduling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Scikit-Learn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sklearn</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Linux Kernel </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Docker </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Redis/RabbitMQ </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TensorFlow </a:t>
              </a: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PyTorch</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3" name="TextBox 2">
              <a:extLst>
                <a:ext uri="{FF2B5EF4-FFF2-40B4-BE49-F238E27FC236}">
                  <a16:creationId xmlns:a16="http://schemas.microsoft.com/office/drawing/2014/main" id="{A6256BFF-370E-5F20-3360-4C2940486084}"/>
                </a:ext>
              </a:extLst>
            </p:cNvPr>
            <p:cNvSpPr txBox="1"/>
            <p:nvPr/>
          </p:nvSpPr>
          <p:spPr>
            <a:xfrm>
              <a:off x="4427984" y="2612877"/>
              <a:ext cx="4860032" cy="317009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Apache Kafka </a:t>
              </a: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Kubernetes </a:t>
              </a: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OpenMP </a:t>
              </a: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MPI </a:t>
              </a: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Celery </a:t>
              </a: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Prometheus </a:t>
              </a:r>
            </a:p>
            <a:p>
              <a:pPr marL="0" marR="0" lvl="0" indent="0" algn="l" defTabSz="914400" rtl="0" eaLnBrk="0" fontAlgn="base" latinLnBrk="0" hangingPunct="0">
                <a:lnSpc>
                  <a:spcPct val="100000"/>
                </a:lnSpc>
                <a:spcBef>
                  <a:spcPct val="0"/>
                </a:spcBef>
                <a:spcAft>
                  <a:spcPct val="0"/>
                </a:spcAft>
                <a:buClrTx/>
                <a:buSzTx/>
                <a:buFontTx/>
                <a:buAutoNum type="arabicPeriod" startAt="15"/>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Grafana </a:t>
              </a:r>
            </a:p>
            <a:p>
              <a:pPr marL="0" marR="0" lvl="0" indent="0" algn="l" defTabSz="914400" rtl="0" eaLnBrk="0" fontAlgn="base" latinLnBrk="0" hangingPunct="0">
                <a:lnSpc>
                  <a:spcPct val="100000"/>
                </a:lnSpc>
                <a:spcBef>
                  <a:spcPct val="0"/>
                </a:spcBef>
                <a:spcAft>
                  <a:spcPct val="0"/>
                </a:spcAft>
                <a:buClrTx/>
                <a:buSzTx/>
                <a:buFontTx/>
                <a:buAutoNum type="arabicPeriod" startAt="16"/>
                <a:tabLst/>
              </a:pP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Dask</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AutoNum type="arabicPeriod" startAt="17"/>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Ray </a:t>
              </a:r>
            </a:p>
            <a:p>
              <a:endParaRPr lang="en-IN" sz="2000" dirty="0"/>
            </a:p>
          </p:txBody>
        </p:sp>
      </p:grpSp>
    </p:spTree>
    <p:extLst>
      <p:ext uri="{BB962C8B-B14F-4D97-AF65-F5344CB8AC3E}">
        <p14:creationId xmlns:p14="http://schemas.microsoft.com/office/powerpoint/2010/main" val="2681838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6"/>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46" name="Google Shape;46;p6"/>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buClr>
                <a:srgbClr val="000000"/>
              </a:buClr>
              <a:buSzPts val="2400"/>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Design Approach </a:t>
            </a:r>
            <a:endParaRPr sz="1400" b="1" i="1"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47" name="Google Shape;47;p6"/>
          <p:cNvSpPr txBox="1"/>
          <p:nvPr/>
        </p:nvSpPr>
        <p:spPr>
          <a:xfrm>
            <a:off x="1631504" y="2528801"/>
            <a:ext cx="9160400" cy="2777250"/>
          </a:xfrm>
          <a:prstGeom prst="rect">
            <a:avLst/>
          </a:prstGeom>
          <a:noFill/>
          <a:ln>
            <a:noFill/>
          </a:ln>
        </p:spPr>
        <p:txBody>
          <a:bodyPr spcFirstLastPara="1" wrap="square" lIns="91425" tIns="45700" rIns="91425" bIns="45700" anchor="ctr" anchorCtr="0">
            <a:noAutofit/>
          </a:bodyPr>
          <a:lstStyle/>
          <a:p>
            <a:pPr marL="342891" algn="just" eaLnBrk="0" hangingPunct="0">
              <a:spcBef>
                <a:spcPct val="20000"/>
              </a:spcBef>
              <a:defRPr/>
            </a:pPr>
            <a:endParaRPr lang="en-US" sz="2400" dirty="0">
              <a:solidFill>
                <a:srgbClr val="0033CC"/>
              </a:solidFill>
              <a:latin typeface="Trebuchet MS"/>
              <a:ea typeface="Trebuchet MS"/>
              <a:cs typeface="Trebuchet MS"/>
              <a:sym typeface="Trebuchet MS"/>
            </a:endParaRPr>
          </a:p>
        </p:txBody>
      </p:sp>
      <p:sp>
        <p:nvSpPr>
          <p:cNvPr id="3" name="TextBox 2">
            <a:extLst>
              <a:ext uri="{FF2B5EF4-FFF2-40B4-BE49-F238E27FC236}">
                <a16:creationId xmlns:a16="http://schemas.microsoft.com/office/drawing/2014/main" id="{CF4A01B2-F0EC-3BE1-B509-7B442A126CA1}"/>
              </a:ext>
            </a:extLst>
          </p:cNvPr>
          <p:cNvSpPr txBox="1"/>
          <p:nvPr/>
        </p:nvSpPr>
        <p:spPr>
          <a:xfrm>
            <a:off x="1127448" y="1835615"/>
            <a:ext cx="9865096" cy="4585871"/>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What is the design approach followed? And Why?</a:t>
            </a:r>
          </a:p>
          <a:p>
            <a:endParaRPr lang="en-US" sz="2000" dirty="0"/>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design approach for AVIOS follows an AI-powered dynamic scheduling system, where:</a:t>
            </a:r>
            <a:b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  An AI model in user space predicts the optimal time slice (STS) for tasks.</a:t>
            </a:r>
            <a:b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2)  The L</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inux kernel scheduler modifies CPU allocation based on these predictions via system calls.</a:t>
            </a:r>
            <a:b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3)  The system dynamically adapts to process behavior, optimizing resource allocation in real-time.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Why this approach?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hangingPunct="0">
              <a:buFont typeface="Arial" panose="020B0604020202020204" pitchFamily="34" charset="0"/>
              <a:buChar char="•"/>
            </a:pPr>
            <a:r>
              <a:rPr kumimoji="0" lang="en-US" altLang="en-US"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Adaptability</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Unlike traditional schedulers, AI can learn and adjust to different workloads dynamically.</a:t>
            </a:r>
          </a:p>
          <a:p>
            <a:pPr marL="742950" lvl="1" indent="-285750" eaLnBrk="0" hangingPunct="0">
              <a:buFont typeface="Arial" panose="020B0604020202020204" pitchFamily="34" charset="0"/>
              <a:buChar char="•"/>
            </a:pPr>
            <a:r>
              <a:rPr kumimoji="0" lang="en-US" altLang="en-US"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Performance Optimization</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Reduces CPU starvation and ensures efficient utilization.</a:t>
            </a:r>
            <a:endParaRPr lang="en-US" altLang="en-US" dirty="0">
              <a:latin typeface="Times New Roman" panose="02020603050405020304" pitchFamily="18" charset="0"/>
              <a:cs typeface="Times New Roman" panose="02020603050405020304" pitchFamily="18" charset="0"/>
            </a:endParaRPr>
          </a:p>
          <a:p>
            <a:pPr marL="742950" lvl="1" indent="-285750" eaLnBrk="0" hangingPunct="0">
              <a:buFont typeface="Arial" panose="020B0604020202020204" pitchFamily="34" charset="0"/>
              <a:buChar char="•"/>
            </a:pPr>
            <a:r>
              <a:rPr kumimoji="0" lang="en-US" altLang="en-US"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Energy Efficiency</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Prioritizes critical tasks while delaying non-essential ones to save power.</a:t>
            </a:r>
          </a:p>
          <a:p>
            <a:pPr marL="742950" lvl="1" indent="-285750" eaLnBrk="0" hangingPunct="0">
              <a:buFont typeface="Arial" panose="020B0604020202020204" pitchFamily="34" charset="0"/>
              <a:buChar char="•"/>
            </a:pPr>
            <a:r>
              <a:rPr kumimoji="0" lang="en-US" altLang="en-US"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Scalability</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 be extended to multi-core, cloud, and distributed environments.</a:t>
            </a:r>
          </a:p>
          <a:p>
            <a:endParaRPr lang="en-US"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45;p6">
            <a:extLst>
              <a:ext uri="{FF2B5EF4-FFF2-40B4-BE49-F238E27FC236}">
                <a16:creationId xmlns:a16="http://schemas.microsoft.com/office/drawing/2014/main" id="{B7E53646-DF21-757C-9E3B-DC535015E1DC}"/>
              </a:ext>
            </a:extLst>
          </p:cNvPr>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5" name="TextBox 4">
            <a:extLst>
              <a:ext uri="{FF2B5EF4-FFF2-40B4-BE49-F238E27FC236}">
                <a16:creationId xmlns:a16="http://schemas.microsoft.com/office/drawing/2014/main" id="{243914B7-2B61-54D8-923C-9AC1A77D8298}"/>
              </a:ext>
            </a:extLst>
          </p:cNvPr>
          <p:cNvSpPr txBox="1"/>
          <p:nvPr/>
        </p:nvSpPr>
        <p:spPr>
          <a:xfrm>
            <a:off x="4619328" y="1110571"/>
            <a:ext cx="6048672" cy="461665"/>
          </a:xfrm>
          <a:prstGeom prst="rect">
            <a:avLst/>
          </a:prstGeom>
          <a:noFill/>
        </p:spPr>
        <p:txBody>
          <a:bodyPr wrap="square">
            <a:spAutoFit/>
          </a:bodyPr>
          <a:lstStyle/>
          <a:p>
            <a:pPr marL="342900" indent="-342900" algn="r">
              <a:spcBef>
                <a:spcPts val="0"/>
              </a:spcBef>
              <a:spcAft>
                <a:spcPts val="0"/>
              </a:spcAft>
              <a:buClr>
                <a:srgbClr val="000000"/>
              </a:buClr>
              <a:buSzPts val="2400"/>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Design Approach </a:t>
            </a:r>
            <a:endParaRPr lang="en-US" sz="1400" b="1" i="1"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7" name="TextBox 6">
            <a:extLst>
              <a:ext uri="{FF2B5EF4-FFF2-40B4-BE49-F238E27FC236}">
                <a16:creationId xmlns:a16="http://schemas.microsoft.com/office/drawing/2014/main" id="{A0361E07-DECB-5301-0025-1E23B01C10AD}"/>
              </a:ext>
            </a:extLst>
          </p:cNvPr>
          <p:cNvSpPr txBox="1"/>
          <p:nvPr/>
        </p:nvSpPr>
        <p:spPr>
          <a:xfrm>
            <a:off x="1703512" y="1844824"/>
            <a:ext cx="8640960" cy="3970318"/>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Benefits:</a:t>
            </a:r>
            <a:endParaRPr lang="en-US"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Real-time Optimization</a:t>
            </a:r>
            <a:r>
              <a:rPr lang="en-US" dirty="0">
                <a:latin typeface="Times New Roman" panose="02020603050405020304" pitchFamily="18" charset="0"/>
                <a:cs typeface="Times New Roman" panose="02020603050405020304" pitchFamily="18" charset="0"/>
              </a:rPr>
              <a:t>: AI-driven scheduling minimizes latency for critical tasks.</a:t>
            </a:r>
          </a:p>
          <a:p>
            <a:pPr lvl="1">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Smart Resource Allocation</a:t>
            </a:r>
            <a:r>
              <a:rPr lang="en-US" dirty="0">
                <a:latin typeface="Times New Roman" panose="02020603050405020304" pitchFamily="18" charset="0"/>
                <a:cs typeface="Times New Roman" panose="02020603050405020304" pitchFamily="18" charset="0"/>
              </a:rPr>
              <a:t>: CPU time is distributed dynamically based on usage patterns.</a:t>
            </a:r>
          </a:p>
          <a:p>
            <a:pPr lvl="1">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Self-Learning Mechanism</a:t>
            </a:r>
            <a:r>
              <a:rPr lang="en-US" dirty="0">
                <a:latin typeface="Times New Roman" panose="02020603050405020304" pitchFamily="18" charset="0"/>
                <a:cs typeface="Times New Roman" panose="02020603050405020304" pitchFamily="18" charset="0"/>
              </a:rPr>
              <a:t>: AI continuously improves scheduling efficiency over time.</a:t>
            </a:r>
          </a:p>
          <a:p>
            <a:pPr lvl="1"/>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Drawbacks:</a:t>
            </a:r>
            <a:endParaRPr lang="en-US"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Computational Overhead</a:t>
            </a:r>
            <a:r>
              <a:rPr lang="en-US" dirty="0">
                <a:latin typeface="Times New Roman" panose="02020603050405020304" pitchFamily="18" charset="0"/>
                <a:cs typeface="Times New Roman" panose="02020603050405020304" pitchFamily="18" charset="0"/>
              </a:rPr>
              <a:t>: Running an AI model for scheduling introduces some CPU load.</a:t>
            </a:r>
          </a:p>
          <a:p>
            <a:pPr lvl="1">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Model Training Complexity</a:t>
            </a:r>
            <a:r>
              <a:rPr lang="en-US" dirty="0">
                <a:latin typeface="Times New Roman" panose="02020603050405020304" pitchFamily="18" charset="0"/>
                <a:cs typeface="Times New Roman" panose="02020603050405020304" pitchFamily="18" charset="0"/>
              </a:rPr>
              <a:t>: Requires high-quality data to ensure accurate predictions.</a:t>
            </a:r>
          </a:p>
          <a:p>
            <a:pPr lvl="1">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Kernel-Level Integration Risks</a:t>
            </a:r>
            <a:r>
              <a:rPr lang="en-US" dirty="0">
                <a:latin typeface="Times New Roman" panose="02020603050405020304" pitchFamily="18" charset="0"/>
                <a:cs typeface="Times New Roman" panose="02020603050405020304" pitchFamily="18" charset="0"/>
              </a:rPr>
              <a:t>: Modifying the Linux scheduler may lead to stability issues if not handled properly.</a:t>
            </a:r>
          </a:p>
        </p:txBody>
      </p:sp>
    </p:spTree>
    <p:extLst>
      <p:ext uri="{BB962C8B-B14F-4D97-AF65-F5344CB8AC3E}">
        <p14:creationId xmlns:p14="http://schemas.microsoft.com/office/powerpoint/2010/main" val="3597781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7"/>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53" name="Google Shape;53;p7"/>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Design Constraints, Assumptions &amp; Dependencies</a:t>
            </a:r>
            <a:endParaRPr lang="en-US" sz="2400" b="1" i="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06AC75B-1CFB-0CBD-61C9-F1A80F3ECA80}"/>
              </a:ext>
            </a:extLst>
          </p:cNvPr>
          <p:cNvSpPr txBox="1"/>
          <p:nvPr/>
        </p:nvSpPr>
        <p:spPr>
          <a:xfrm>
            <a:off x="983432" y="1844824"/>
            <a:ext cx="5017264" cy="4278094"/>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Design Constraints :</a:t>
            </a:r>
          </a:p>
          <a:p>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Low-Latency Decision Making:</a:t>
            </a:r>
            <a:r>
              <a:rPr lang="en-US"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AI model must make scheduling decisions within milliseconds to avoid performance bottlenecks</a:t>
            </a:r>
          </a:p>
          <a:p>
            <a:pPr marL="285750" indent="-285750">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Kernel Integration Complexity:</a:t>
            </a:r>
            <a:r>
              <a:rPr lang="en-US"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modified scheduler must be stable and should not introduce unintended system crashes.</a:t>
            </a:r>
          </a:p>
          <a:p>
            <a:pPr marL="285750" indent="-285750">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Resource Utilization:</a:t>
            </a:r>
            <a:r>
              <a:rPr lang="en-US"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AI process itself must not consume excessive CPU resources, defeating the purpose of optimization.</a:t>
            </a:r>
          </a:p>
          <a:p>
            <a:pPr marL="285750" indent="-285750">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Security Considerations:</a:t>
            </a:r>
            <a:r>
              <a:rPr lang="en-US"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communication between AI and the kernel should prevent unauthorized modifications to scheduling policies.</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B4E17FE-6CBD-8BC9-9BBA-ADE1B3D08FA4}"/>
              </a:ext>
            </a:extLst>
          </p:cNvPr>
          <p:cNvSpPr txBox="1"/>
          <p:nvPr/>
        </p:nvSpPr>
        <p:spPr>
          <a:xfrm>
            <a:off x="6000696" y="1884269"/>
            <a:ext cx="5063856" cy="3724096"/>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Assumptions :</a:t>
            </a:r>
          </a:p>
          <a:p>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AI model has access to sufficient training data to predict STS accurately.</a:t>
            </a:r>
          </a:p>
          <a:p>
            <a:pPr marL="285750" indent="-285750">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Kernel modifications will follow Linux’s open-source guidelines to maintain stability.</a:t>
            </a: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will run on modern multi-core processors to take advantage of AI scheduling benefits.</a:t>
            </a: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User-space monitoring tools (like perf and </a:t>
            </a: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pstuil</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 real-time process behavior data without delays. </a:t>
            </a:r>
          </a:p>
          <a:p>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6"/>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46" name="Google Shape;46;p6"/>
          <p:cNvSpPr txBox="1"/>
          <p:nvPr/>
        </p:nvSpPr>
        <p:spPr>
          <a:xfrm>
            <a:off x="2930980" y="1137750"/>
            <a:ext cx="7772400"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buClr>
                <a:srgbClr val="000000"/>
              </a:buClr>
              <a:buSzPts val="2400"/>
            </a:pPr>
            <a:endParaRPr lang="en-US" sz="2400" dirty="0">
              <a:solidFill>
                <a:srgbClr val="FF0000"/>
              </a:solidFill>
              <a:latin typeface="Trebuchet MS"/>
              <a:ea typeface="Trebuchet MS"/>
              <a:cs typeface="Trebuchet MS"/>
              <a:sym typeface="Trebuchet MS"/>
            </a:endParaRPr>
          </a:p>
        </p:txBody>
      </p:sp>
      <p:sp>
        <p:nvSpPr>
          <p:cNvPr id="47" name="Google Shape;47;p6"/>
          <p:cNvSpPr txBox="1"/>
          <p:nvPr/>
        </p:nvSpPr>
        <p:spPr>
          <a:xfrm>
            <a:off x="5879976" y="2636912"/>
            <a:ext cx="5328592" cy="2663104"/>
          </a:xfrm>
          <a:prstGeom prst="rect">
            <a:avLst/>
          </a:prstGeom>
          <a:noFill/>
          <a:ln>
            <a:noFill/>
          </a:ln>
        </p:spPr>
        <p:txBody>
          <a:bodyPr spcFirstLastPara="1" wrap="square" lIns="91425" tIns="45700" rIns="91425" bIns="45700" anchor="ctr" anchorCtr="0">
            <a:noAutofit/>
          </a:bodyPr>
          <a:lstStyle/>
          <a:p>
            <a:pPr marL="457200" algn="just">
              <a:spcBef>
                <a:spcPts val="480"/>
              </a:spcBef>
              <a:spcAft>
                <a:spcPts val="0"/>
              </a:spcAft>
            </a:pPr>
            <a:r>
              <a:rPr lang="en-US" dirty="0">
                <a:latin typeface="Times New Roman" panose="02020603050405020304" pitchFamily="18" charset="0"/>
                <a:cs typeface="Times New Roman" panose="02020603050405020304" pitchFamily="18" charset="0"/>
              </a:rPr>
              <a:t>3) </a:t>
            </a:r>
            <a:r>
              <a:rPr lang="en-US" b="1" i="1" dirty="0">
                <a:latin typeface="Times New Roman" panose="02020603050405020304" pitchFamily="18" charset="0"/>
                <a:cs typeface="Times New Roman" panose="02020603050405020304" pitchFamily="18" charset="0"/>
              </a:rPr>
              <a:t>Dependency on AI Model Accuracy</a:t>
            </a:r>
          </a:p>
          <a:p>
            <a:pPr marL="457200" algn="just">
              <a:spcBef>
                <a:spcPts val="480"/>
              </a:spcBef>
              <a:spcAft>
                <a:spcPts val="0"/>
              </a:spcAft>
            </a:pPr>
            <a:r>
              <a:rPr lang="en-US" dirty="0">
                <a:latin typeface="Times New Roman" panose="02020603050405020304" pitchFamily="18" charset="0"/>
                <a:cs typeface="Times New Roman" panose="02020603050405020304" pitchFamily="18" charset="0"/>
              </a:rPr>
              <a:t>If the model predicts incorrect STS values, scheduling will become inefficient.</a:t>
            </a:r>
          </a:p>
          <a:p>
            <a:pPr marL="457200" algn="just">
              <a:spcBef>
                <a:spcPts val="480"/>
              </a:spcBef>
              <a:spcAft>
                <a:spcPts val="0"/>
              </a:spcAft>
            </a:pPr>
            <a:r>
              <a:rPr lang="en-US" b="1" dirty="0">
                <a:latin typeface="Times New Roman" panose="02020603050405020304" pitchFamily="18" charset="0"/>
                <a:cs typeface="Times New Roman" panose="02020603050405020304" pitchFamily="18" charset="0"/>
              </a:rPr>
              <a:t>Impact:</a:t>
            </a:r>
            <a:r>
              <a:rPr lang="en-US" dirty="0">
                <a:latin typeface="Times New Roman" panose="02020603050405020304" pitchFamily="18" charset="0"/>
                <a:cs typeface="Times New Roman" panose="02020603050405020304" pitchFamily="18" charset="0"/>
              </a:rPr>
              <a:t> Requires continuous model training and validation.</a:t>
            </a:r>
          </a:p>
          <a:p>
            <a:pPr marL="457200" algn="just">
              <a:spcBef>
                <a:spcPts val="480"/>
              </a:spcBef>
              <a:spcAft>
                <a:spcPts val="0"/>
              </a:spcAft>
            </a:pPr>
            <a:endParaRPr lang="en-US" dirty="0">
              <a:latin typeface="Times New Roman" panose="02020603050405020304" pitchFamily="18" charset="0"/>
              <a:cs typeface="Times New Roman" panose="02020603050405020304" pitchFamily="18" charset="0"/>
            </a:endParaRPr>
          </a:p>
          <a:p>
            <a:pPr marL="457200" algn="just">
              <a:spcBef>
                <a:spcPts val="480"/>
              </a:spcBef>
              <a:spcAft>
                <a:spcPts val="0"/>
              </a:spcAft>
            </a:pPr>
            <a:r>
              <a:rPr lang="en-US" dirty="0">
                <a:latin typeface="Times New Roman" panose="02020603050405020304" pitchFamily="18" charset="0"/>
                <a:cs typeface="Times New Roman" panose="02020603050405020304" pitchFamily="18" charset="0"/>
              </a:rPr>
              <a:t>4) </a:t>
            </a:r>
            <a:r>
              <a:rPr lang="en-US" b="1" i="1" dirty="0">
                <a:latin typeface="Times New Roman" panose="02020603050405020304" pitchFamily="18" charset="0"/>
                <a:cs typeface="Times New Roman" panose="02020603050405020304" pitchFamily="18" charset="0"/>
              </a:rPr>
              <a:t>Dependency on Multi-Core CPUs</a:t>
            </a:r>
          </a:p>
          <a:p>
            <a:pPr marL="457200" algn="just">
              <a:spcBef>
                <a:spcPts val="480"/>
              </a:spcBef>
              <a:spcAft>
                <a:spcPts val="0"/>
              </a:spcAft>
            </a:pPr>
            <a:r>
              <a:rPr lang="en-US" dirty="0">
                <a:latin typeface="Times New Roman" panose="02020603050405020304" pitchFamily="18" charset="0"/>
                <a:cs typeface="Times New Roman" panose="02020603050405020304" pitchFamily="18" charset="0"/>
              </a:rPr>
              <a:t>The system is designed for modern multi-core processors.</a:t>
            </a:r>
          </a:p>
          <a:p>
            <a:pPr marL="457200" algn="just">
              <a:spcBef>
                <a:spcPts val="480"/>
              </a:spcBef>
              <a:spcAft>
                <a:spcPts val="0"/>
              </a:spcAft>
            </a:pPr>
            <a:r>
              <a:rPr lang="en-US" b="1" dirty="0">
                <a:latin typeface="Times New Roman" panose="02020603050405020304" pitchFamily="18" charset="0"/>
                <a:cs typeface="Times New Roman" panose="02020603050405020304" pitchFamily="18" charset="0"/>
              </a:rPr>
              <a:t>Impact:</a:t>
            </a:r>
            <a:r>
              <a:rPr lang="en-US" dirty="0">
                <a:latin typeface="Times New Roman" panose="02020603050405020304" pitchFamily="18" charset="0"/>
                <a:cs typeface="Times New Roman" panose="02020603050405020304" pitchFamily="18" charset="0"/>
              </a:rPr>
              <a:t> Performance benefits may vary on single-core machines.</a:t>
            </a:r>
          </a:p>
        </p:txBody>
      </p:sp>
      <p:sp>
        <p:nvSpPr>
          <p:cNvPr id="3" name="TextBox 2">
            <a:extLst>
              <a:ext uri="{FF2B5EF4-FFF2-40B4-BE49-F238E27FC236}">
                <a16:creationId xmlns:a16="http://schemas.microsoft.com/office/drawing/2014/main" id="{58D352F7-970A-1EB3-21FA-18BDDC8ED59D}"/>
              </a:ext>
            </a:extLst>
          </p:cNvPr>
          <p:cNvSpPr txBox="1"/>
          <p:nvPr/>
        </p:nvSpPr>
        <p:spPr>
          <a:xfrm>
            <a:off x="3829645" y="1101185"/>
            <a:ext cx="6873735" cy="461665"/>
          </a:xfrm>
          <a:prstGeom prst="rect">
            <a:avLst/>
          </a:prstGeom>
          <a:noFill/>
        </p:spPr>
        <p:txBody>
          <a:bodyPr wrap="square">
            <a:sp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Design Constraints, Assumptions &amp; Dependencies</a:t>
            </a:r>
            <a:endParaRPr lang="en-US" sz="2400" b="1" i="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4A7FAA9-42D9-827F-FE32-E77AEBA5ECB3}"/>
              </a:ext>
            </a:extLst>
          </p:cNvPr>
          <p:cNvSpPr txBox="1"/>
          <p:nvPr/>
        </p:nvSpPr>
        <p:spPr>
          <a:xfrm>
            <a:off x="1055440" y="1672622"/>
            <a:ext cx="5117607" cy="4308872"/>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Dependencies &amp; Impact on the Project :</a:t>
            </a:r>
          </a:p>
          <a:p>
            <a:endParaRPr lang="en-IN" sz="2000"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 </a:t>
            </a:r>
            <a:r>
              <a:rPr lang="en-IN" b="1" i="1" dirty="0">
                <a:latin typeface="Times New Roman" panose="02020603050405020304" pitchFamily="18" charset="0"/>
                <a:cs typeface="Times New Roman" panose="02020603050405020304" pitchFamily="18" charset="0"/>
              </a:rPr>
              <a:t>Dependency on System Calls (</a:t>
            </a:r>
            <a:r>
              <a:rPr lang="en-IN" b="1" i="1" dirty="0" err="1">
                <a:latin typeface="Times New Roman" panose="02020603050405020304" pitchFamily="18" charset="0"/>
                <a:cs typeface="Times New Roman" panose="02020603050405020304" pitchFamily="18" charset="0"/>
              </a:rPr>
              <a:t>sched_setscheduler</a:t>
            </a:r>
            <a:r>
              <a:rPr lang="en-IN" b="1" i="1"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The AI model sends predictions via system calls to modify scheduling.</a:t>
            </a:r>
          </a:p>
          <a:p>
            <a:r>
              <a:rPr lang="en-IN" b="1" dirty="0">
                <a:latin typeface="Times New Roman" panose="02020603050405020304" pitchFamily="18" charset="0"/>
                <a:cs typeface="Times New Roman" panose="02020603050405020304" pitchFamily="18" charset="0"/>
              </a:rPr>
              <a:t>Impact:</a:t>
            </a:r>
            <a:r>
              <a:rPr lang="en-IN" dirty="0">
                <a:latin typeface="Times New Roman" panose="02020603050405020304" pitchFamily="18" charset="0"/>
                <a:cs typeface="Times New Roman" panose="02020603050405020304" pitchFamily="18" charset="0"/>
              </a:rPr>
              <a:t> Requires kernel modifications and proper permission handling.</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2) </a:t>
            </a:r>
            <a:r>
              <a:rPr lang="en-IN" b="1" i="1" dirty="0">
                <a:latin typeface="Times New Roman" panose="02020603050405020304" pitchFamily="18" charset="0"/>
                <a:cs typeface="Times New Roman" panose="02020603050405020304" pitchFamily="18" charset="0"/>
              </a:rPr>
              <a:t>Dependency on Process Monitoring Tools</a:t>
            </a:r>
          </a:p>
          <a:p>
            <a:r>
              <a:rPr lang="en-IN" dirty="0">
                <a:latin typeface="Times New Roman" panose="02020603050405020304" pitchFamily="18" charset="0"/>
                <a:cs typeface="Times New Roman" panose="02020603050405020304" pitchFamily="18" charset="0"/>
              </a:rPr>
              <a:t>Uses perf, </a:t>
            </a:r>
            <a:r>
              <a:rPr lang="en-IN" dirty="0" err="1">
                <a:latin typeface="Times New Roman" panose="02020603050405020304" pitchFamily="18" charset="0"/>
                <a:cs typeface="Times New Roman" panose="02020603050405020304" pitchFamily="18" charset="0"/>
              </a:rPr>
              <a:t>psutil</a:t>
            </a:r>
            <a:r>
              <a:rPr lang="en-IN" dirty="0">
                <a:latin typeface="Times New Roman" panose="02020603050405020304" pitchFamily="18" charset="0"/>
                <a:cs typeface="Times New Roman" panose="02020603050405020304" pitchFamily="18" charset="0"/>
              </a:rPr>
              <a:t>, and system logs to track process execution.</a:t>
            </a:r>
          </a:p>
          <a:p>
            <a:r>
              <a:rPr lang="en-IN" b="1" dirty="0">
                <a:latin typeface="Times New Roman" panose="02020603050405020304" pitchFamily="18" charset="0"/>
                <a:cs typeface="Times New Roman" panose="02020603050405020304" pitchFamily="18" charset="0"/>
              </a:rPr>
              <a:t>Impact:</a:t>
            </a:r>
            <a:r>
              <a:rPr lang="en-IN" dirty="0">
                <a:latin typeface="Times New Roman" panose="02020603050405020304" pitchFamily="18" charset="0"/>
                <a:cs typeface="Times New Roman" panose="02020603050405020304" pitchFamily="18" charset="0"/>
              </a:rPr>
              <a:t> Monitoring tools must run efficiently without affecting system performance.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7076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7"/>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53" name="Google Shape;53;p7"/>
          <p:cNvSpPr txBox="1"/>
          <p:nvPr/>
        </p:nvSpPr>
        <p:spPr>
          <a:xfrm>
            <a:off x="3791744" y="1143000"/>
            <a:ext cx="6876256"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Proposed System / Approach</a:t>
            </a:r>
            <a:endParaRPr lang="en-US" sz="2400" b="1" i="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0F6FCBC-F1FC-BD2D-070A-664D610C9E3D}"/>
              </a:ext>
            </a:extLst>
          </p:cNvPr>
          <p:cNvSpPr txBox="1"/>
          <p:nvPr/>
        </p:nvSpPr>
        <p:spPr>
          <a:xfrm>
            <a:off x="623392" y="1772816"/>
            <a:ext cx="5688632" cy="4585871"/>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Basic Approach &amp; Initial Results</a:t>
            </a:r>
          </a:p>
          <a:p>
            <a:endParaRPr lang="en-IN" sz="2000" b="1" dirty="0">
              <a:latin typeface="Times New Roman" panose="02020603050405020304" pitchFamily="18" charset="0"/>
              <a:cs typeface="Times New Roman" panose="02020603050405020304" pitchFamily="18" charset="0"/>
            </a:endParaRPr>
          </a:p>
          <a:p>
            <a:r>
              <a:rPr lang="en-US" b="1" i="1" dirty="0">
                <a:latin typeface="Times New Roman" panose="02020603050405020304" pitchFamily="18" charset="0"/>
                <a:cs typeface="Times New Roman" panose="02020603050405020304" pitchFamily="18" charset="0"/>
              </a:rPr>
              <a:t>Initial Approach (Traditional Linux Scheduling)</a:t>
            </a:r>
            <a:r>
              <a:rPr lang="en-IN" b="1" i="1" dirty="0">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Completely Fair Scheduler (CFS) in Linux assigns                   CPU time slices statically, based on heuristics like process priority and fairness.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 intelligent adaptation based on real-time workload behavior.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Limitations Identified:</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 latency for critical tasks.</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Inefficient resource allocation for background processes.</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Inflexibility—cannot dynamically adjust to changing workloads.</a:t>
            </a:r>
          </a:p>
          <a:p>
            <a:endParaRPr lang="en-IN" dirty="0"/>
          </a:p>
          <a:p>
            <a:endParaRPr lang="en-IN" dirty="0"/>
          </a:p>
        </p:txBody>
      </p:sp>
      <p:sp>
        <p:nvSpPr>
          <p:cNvPr id="5" name="Rectangle 1">
            <a:extLst>
              <a:ext uri="{FF2B5EF4-FFF2-40B4-BE49-F238E27FC236}">
                <a16:creationId xmlns:a16="http://schemas.microsoft.com/office/drawing/2014/main" id="{ED9026D5-A772-74D5-D306-C10731CBB608}"/>
              </a:ext>
            </a:extLst>
          </p:cNvPr>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CAF0476E-EFC8-2B07-2753-E54426D30E6B}"/>
              </a:ext>
            </a:extLst>
          </p:cNvPr>
          <p:cNvSpPr txBox="1"/>
          <p:nvPr/>
        </p:nvSpPr>
        <p:spPr>
          <a:xfrm>
            <a:off x="6456040" y="2348880"/>
            <a:ext cx="5112568" cy="2585323"/>
          </a:xfrm>
          <a:prstGeom prst="rect">
            <a:avLst/>
          </a:prstGeom>
          <a:noFill/>
        </p:spPr>
        <p:txBody>
          <a:bodyPr wrap="square">
            <a:spAutoFit/>
          </a:bodyPr>
          <a:lstStyle/>
          <a:p>
            <a:r>
              <a:rPr lang="en-IN" b="1" i="1" dirty="0">
                <a:latin typeface="Times New Roman" panose="02020603050405020304" pitchFamily="18" charset="0"/>
                <a:cs typeface="Times New Roman" panose="02020603050405020304" pitchFamily="18" charset="0"/>
              </a:rPr>
              <a:t>Initial Results &amp; Observations</a:t>
            </a:r>
          </a:p>
          <a:p>
            <a:endParaRPr lang="en-IN" b="1" i="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CFS ensures fairness but does not optimize CPU efficiency dynamically.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Scheduling decisions do not consider real-time workload variations.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Need for AI-driven scheduling to make smarter, adaptive decisions.</a:t>
            </a:r>
          </a:p>
          <a:p>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2;p7">
            <a:extLst>
              <a:ext uri="{FF2B5EF4-FFF2-40B4-BE49-F238E27FC236}">
                <a16:creationId xmlns:a16="http://schemas.microsoft.com/office/drawing/2014/main" id="{174D2972-8743-3BD2-B1F9-C35EAB2337FE}"/>
              </a:ext>
            </a:extLst>
          </p:cNvPr>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5" name="TextBox 4">
            <a:extLst>
              <a:ext uri="{FF2B5EF4-FFF2-40B4-BE49-F238E27FC236}">
                <a16:creationId xmlns:a16="http://schemas.microsoft.com/office/drawing/2014/main" id="{771C744E-7E27-BE1A-FD9F-FC0A70B9E73D}"/>
              </a:ext>
            </a:extLst>
          </p:cNvPr>
          <p:cNvSpPr txBox="1"/>
          <p:nvPr/>
        </p:nvSpPr>
        <p:spPr>
          <a:xfrm>
            <a:off x="4607128" y="1156085"/>
            <a:ext cx="6097384" cy="461665"/>
          </a:xfrm>
          <a:prstGeom prst="rect">
            <a:avLst/>
          </a:prstGeom>
          <a:noFill/>
        </p:spPr>
        <p:txBody>
          <a:bodyPr wrap="square">
            <a:sp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Proposed System / Approach</a:t>
            </a:r>
            <a:endParaRPr lang="en-US" sz="2400" b="1" i="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6C00D86-ACA3-BF2E-A00F-C40AF7EBE2A0}"/>
              </a:ext>
            </a:extLst>
          </p:cNvPr>
          <p:cNvSpPr txBox="1"/>
          <p:nvPr/>
        </p:nvSpPr>
        <p:spPr>
          <a:xfrm>
            <a:off x="1343472" y="1851792"/>
            <a:ext cx="9361040" cy="4278094"/>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Need for Changing the Approach</a:t>
            </a:r>
          </a:p>
          <a:p>
            <a:endParaRPr lang="en-US" dirty="0"/>
          </a:p>
          <a:p>
            <a:r>
              <a:rPr lang="en-US" b="1" i="1" dirty="0">
                <a:latin typeface="Times New Roman" panose="02020603050405020304" pitchFamily="18" charset="0"/>
                <a:cs typeface="Times New Roman" panose="02020603050405020304" pitchFamily="18" charset="0"/>
              </a:rPr>
              <a:t>Why shift to AI-based scheduling?</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Traditional scheduling treats all processes equally, ignoring execution patterns.</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Static priority-based approaches cannot predict future resource needs. </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AI models can learn from workload behavior and optimize scheduling dynamically.</a:t>
            </a:r>
          </a:p>
          <a:p>
            <a:endParaRPr lang="en-US" dirty="0">
              <a:latin typeface="Times New Roman" panose="02020603050405020304" pitchFamily="18" charset="0"/>
              <a:cs typeface="Times New Roman" panose="02020603050405020304" pitchFamily="18" charset="0"/>
            </a:endParaRPr>
          </a:p>
          <a:p>
            <a:r>
              <a:rPr lang="en-US" b="1" i="1" dirty="0">
                <a:latin typeface="Times New Roman" panose="02020603050405020304" pitchFamily="18" charset="0"/>
                <a:cs typeface="Times New Roman" panose="02020603050405020304" pitchFamily="18" charset="0"/>
              </a:rPr>
              <a:t>Challenges with the Existing Approach</a:t>
            </a:r>
            <a:endParaRPr lang="en-US" dirty="0"/>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Fixed CPU allocation rules → No adaptation to workload </a:t>
            </a:r>
            <a:r>
              <a:rPr lang="en-IN" dirty="0" err="1">
                <a:latin typeface="Times New Roman" panose="02020603050405020304" pitchFamily="18" charset="0"/>
                <a:cs typeface="Times New Roman" panose="02020603050405020304" pitchFamily="18" charset="0"/>
              </a:rPr>
              <a:t>paterns</a:t>
            </a:r>
            <a:r>
              <a:rPr lang="en-IN"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Higher response time for critical applications.</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Manual tuning required → Not scalable for modern dynamic workloads.</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Thus, a new AI-driven scheduling system is proposed to make Linux scheduling adaptive and intelligent.</a:t>
            </a:r>
          </a:p>
          <a:p>
            <a:endParaRPr lang="en-IN" dirty="0"/>
          </a:p>
        </p:txBody>
      </p:sp>
    </p:spTree>
    <p:extLst>
      <p:ext uri="{BB962C8B-B14F-4D97-AF65-F5344CB8AC3E}">
        <p14:creationId xmlns:p14="http://schemas.microsoft.com/office/powerpoint/2010/main" val="25681967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2;p7">
            <a:extLst>
              <a:ext uri="{FF2B5EF4-FFF2-40B4-BE49-F238E27FC236}">
                <a16:creationId xmlns:a16="http://schemas.microsoft.com/office/drawing/2014/main" id="{53928521-F911-3E8E-6A49-9D0B1E5AEFFE}"/>
              </a:ext>
            </a:extLst>
          </p:cNvPr>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5" name="TextBox 4">
            <a:extLst>
              <a:ext uri="{FF2B5EF4-FFF2-40B4-BE49-F238E27FC236}">
                <a16:creationId xmlns:a16="http://schemas.microsoft.com/office/drawing/2014/main" id="{A6B68A62-41B6-7069-FE5E-566CBD81A8DD}"/>
              </a:ext>
            </a:extLst>
          </p:cNvPr>
          <p:cNvSpPr txBox="1"/>
          <p:nvPr/>
        </p:nvSpPr>
        <p:spPr>
          <a:xfrm>
            <a:off x="4570616" y="1156085"/>
            <a:ext cx="6097384" cy="461665"/>
          </a:xfrm>
          <a:prstGeom prst="rect">
            <a:avLst/>
          </a:prstGeom>
          <a:noFill/>
        </p:spPr>
        <p:txBody>
          <a:bodyPr wrap="square">
            <a:sp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Proposed System / Approach</a:t>
            </a:r>
            <a:endParaRPr lang="en-US" sz="2400" b="1" i="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255E3A9-FBDE-BCE2-0B70-55444E06CFF3}"/>
              </a:ext>
            </a:extLst>
          </p:cNvPr>
          <p:cNvSpPr txBox="1"/>
          <p:nvPr/>
        </p:nvSpPr>
        <p:spPr>
          <a:xfrm>
            <a:off x="1631504" y="1844824"/>
            <a:ext cx="9217024" cy="5139869"/>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New Approach: AI-Powered Scheduling System</a:t>
            </a:r>
          </a:p>
          <a:p>
            <a:endParaRPr lang="en-US" sz="20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 It Works?</a:t>
            </a:r>
            <a:b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a:t>
            </a:r>
            <a:r>
              <a:rPr kumimoji="0" lang="en-US" altLang="en-US" sz="18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User-Space AI Model</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Monitors CPU usage, memory, I/O, context switches.</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Classifies tasks as Real-Time (RT) or Resource Intensive Task (RIT)</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Predicts Smart Time Slice (STS) based on historical workload data.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a:t>
            </a:r>
            <a:r>
              <a:rPr kumimoji="0" lang="en-US" altLang="en-US" sz="18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Kernel-Space Scheduler</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Receives AI predictions via system calls (</a:t>
            </a: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sched_setscheduler</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Modifies scheduling decisions by adjusting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vruntime</a:t>
            </a:r>
            <a:r>
              <a:rPr lang="en-US" altLang="en-US" dirty="0">
                <a:latin typeface="Times New Roman" panose="02020603050405020304" pitchFamily="18" charset="0"/>
                <a:cs typeface="Times New Roman" panose="02020603050405020304" pitchFamily="18" charset="0"/>
              </a:rPr>
              <a:t> dynamically.</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Assigns processes to SCHED_RR (RT) or SCHED_OTHER (BG) based on AI input.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a:t>
            </a:r>
            <a:r>
              <a:rPr kumimoji="0" lang="en-US" altLang="en-US" sz="18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Execution &amp; Continuous Learning</a:t>
            </a:r>
          </a:p>
          <a:p>
            <a:pPr marL="742950" lvl="1" indent="-285750" eaLnBrk="0" hangingPunct="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AI model continuously refines scheduling policies based on real-time performance feedback.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endParaRPr lang="en-US" dirty="0"/>
          </a:p>
          <a:p>
            <a:endParaRPr lang="en-US" dirty="0"/>
          </a:p>
          <a:p>
            <a:endParaRPr lang="en-IN" dirty="0"/>
          </a:p>
        </p:txBody>
      </p:sp>
    </p:spTree>
    <p:extLst>
      <p:ext uri="{BB962C8B-B14F-4D97-AF65-F5344CB8AC3E}">
        <p14:creationId xmlns:p14="http://schemas.microsoft.com/office/powerpoint/2010/main" val="25391910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7"/>
          <p:cNvSpPr/>
          <p:nvPr/>
        </p:nvSpPr>
        <p:spPr>
          <a:xfrm>
            <a:off x="3048000" y="1438237"/>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53" name="Google Shape;53;p7"/>
          <p:cNvSpPr txBox="1"/>
          <p:nvPr/>
        </p:nvSpPr>
        <p:spPr>
          <a:xfrm>
            <a:off x="2895600" y="1017327"/>
            <a:ext cx="7772400" cy="42091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Architecture</a:t>
            </a:r>
            <a:endParaRPr lang="en-US" sz="2400" b="1" i="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747BC66-49B4-5287-1FBB-6C3424452EED}"/>
              </a:ext>
            </a:extLst>
          </p:cNvPr>
          <p:cNvSpPr txBox="1"/>
          <p:nvPr/>
        </p:nvSpPr>
        <p:spPr>
          <a:xfrm>
            <a:off x="695400" y="1744559"/>
            <a:ext cx="8784976"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High-Level System Design</a:t>
            </a:r>
          </a:p>
        </p:txBody>
      </p:sp>
      <p:pic>
        <p:nvPicPr>
          <p:cNvPr id="5" name="Picture 4">
            <a:extLst>
              <a:ext uri="{FF2B5EF4-FFF2-40B4-BE49-F238E27FC236}">
                <a16:creationId xmlns:a16="http://schemas.microsoft.com/office/drawing/2014/main" id="{EB39AEF5-2306-A518-E273-89F840DA77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95800" y="2420213"/>
            <a:ext cx="7772400" cy="2999550"/>
          </a:xfrm>
          <a:prstGeom prst="rect">
            <a:avLst/>
          </a:prstGeom>
        </p:spPr>
      </p:pic>
      <p:sp>
        <p:nvSpPr>
          <p:cNvPr id="2" name="TextBox 1">
            <a:extLst>
              <a:ext uri="{FF2B5EF4-FFF2-40B4-BE49-F238E27FC236}">
                <a16:creationId xmlns:a16="http://schemas.microsoft.com/office/drawing/2014/main" id="{00FB0EC4-A56C-20A2-3DEB-D8C56A1036DB}"/>
              </a:ext>
            </a:extLst>
          </p:cNvPr>
          <p:cNvSpPr txBox="1"/>
          <p:nvPr/>
        </p:nvSpPr>
        <p:spPr>
          <a:xfrm>
            <a:off x="668084" y="2636912"/>
            <a:ext cx="4104456" cy="2893100"/>
          </a:xfrm>
          <a:prstGeom prst="rect">
            <a:avLst/>
          </a:prstGeom>
          <a:noFill/>
        </p:spPr>
        <p:txBody>
          <a:bodyPr wrap="square" rtlCol="0">
            <a:spAutoFit/>
          </a:bodyPr>
          <a:lstStyle/>
          <a:p>
            <a:r>
              <a:rPr lang="en-US" sz="1400" dirty="0"/>
              <a:t>This architecture follows a </a:t>
            </a:r>
            <a:r>
              <a:rPr lang="en-US" sz="1400" b="1" dirty="0"/>
              <a:t>Microkernel-based AI-Assisted Scheduling</a:t>
            </a:r>
            <a:r>
              <a:rPr lang="en-US" sz="1400" dirty="0"/>
              <a:t> approach. The </a:t>
            </a:r>
            <a:r>
              <a:rPr lang="en-US" sz="1400" b="1" dirty="0"/>
              <a:t>AI Model</a:t>
            </a:r>
            <a:r>
              <a:rPr lang="en-US" sz="1400" dirty="0"/>
              <a:t> in user space analyzes the workload of </a:t>
            </a:r>
            <a:r>
              <a:rPr lang="en-US" sz="1400" b="1" dirty="0"/>
              <a:t>Program X</a:t>
            </a:r>
            <a:r>
              <a:rPr lang="en-US" sz="1400" dirty="0"/>
              <a:t> and predicts an optimal </a:t>
            </a:r>
            <a:r>
              <a:rPr lang="en-US" sz="1400" b="1" dirty="0"/>
              <a:t>Smart Time Slice (STS)</a:t>
            </a:r>
            <a:r>
              <a:rPr lang="en-US" sz="1400" dirty="0"/>
              <a:t>. It then makes a </a:t>
            </a:r>
            <a:r>
              <a:rPr lang="en-US" sz="1400" b="1" dirty="0"/>
              <a:t>system call</a:t>
            </a:r>
            <a:r>
              <a:rPr lang="en-US" sz="1400" dirty="0"/>
              <a:t> to the </a:t>
            </a:r>
            <a:r>
              <a:rPr lang="en-US" sz="1400" b="1" dirty="0"/>
              <a:t>Modified Scheduler</a:t>
            </a:r>
            <a:r>
              <a:rPr lang="en-US" sz="1400" dirty="0"/>
              <a:t> in kernel space, which dynamically adjusts CPU allocation based on AI recommendations. The scheduler enforces the AI-determined time slice and assigns CPU cycles accordingly. This approach improves resource efficiency by integrating </a:t>
            </a:r>
            <a:r>
              <a:rPr lang="en-US" sz="1400" b="1" dirty="0"/>
              <a:t>machine learning-based adaptive scheduling</a:t>
            </a:r>
            <a:r>
              <a:rPr lang="en-US" sz="1400" dirty="0"/>
              <a:t> while keeping the kernel minimal and modular.</a:t>
            </a:r>
            <a:endParaRPr lang="en-IN"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2;p7">
            <a:extLst>
              <a:ext uri="{FF2B5EF4-FFF2-40B4-BE49-F238E27FC236}">
                <a16:creationId xmlns:a16="http://schemas.microsoft.com/office/drawing/2014/main" id="{3F0A7518-0BA7-3248-01F1-D8801E093BA0}"/>
              </a:ext>
            </a:extLst>
          </p:cNvPr>
          <p:cNvSpPr/>
          <p:nvPr/>
        </p:nvSpPr>
        <p:spPr>
          <a:xfrm>
            <a:off x="3048000" y="1438237"/>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3" name="Google Shape;53;p7">
            <a:extLst>
              <a:ext uri="{FF2B5EF4-FFF2-40B4-BE49-F238E27FC236}">
                <a16:creationId xmlns:a16="http://schemas.microsoft.com/office/drawing/2014/main" id="{099C1D82-42BC-7B97-7C84-F4CF740DA5CC}"/>
              </a:ext>
            </a:extLst>
          </p:cNvPr>
          <p:cNvSpPr txBox="1"/>
          <p:nvPr/>
        </p:nvSpPr>
        <p:spPr>
          <a:xfrm>
            <a:off x="2895600" y="1017327"/>
            <a:ext cx="7772400" cy="42091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Architecture</a:t>
            </a:r>
            <a:endParaRPr lang="en-US" sz="2400" b="1" i="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DAF5413-51EF-32AB-7EEB-D83ECDC29F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360" y="692696"/>
            <a:ext cx="8343900" cy="5827880"/>
          </a:xfrm>
          <a:prstGeom prst="rect">
            <a:avLst/>
          </a:prstGeom>
        </p:spPr>
      </p:pic>
    </p:spTree>
    <p:extLst>
      <p:ext uri="{BB962C8B-B14F-4D97-AF65-F5344CB8AC3E}">
        <p14:creationId xmlns:p14="http://schemas.microsoft.com/office/powerpoint/2010/main" val="1125086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2;p7">
            <a:extLst>
              <a:ext uri="{FF2B5EF4-FFF2-40B4-BE49-F238E27FC236}">
                <a16:creationId xmlns:a16="http://schemas.microsoft.com/office/drawing/2014/main" id="{70EBB3AC-BEFD-DDD9-7428-1046CD05DCD6}"/>
              </a:ext>
            </a:extLst>
          </p:cNvPr>
          <p:cNvSpPr/>
          <p:nvPr/>
        </p:nvSpPr>
        <p:spPr>
          <a:xfrm>
            <a:off x="3048000" y="1448184"/>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4" name="TextBox 3">
            <a:extLst>
              <a:ext uri="{FF2B5EF4-FFF2-40B4-BE49-F238E27FC236}">
                <a16:creationId xmlns:a16="http://schemas.microsoft.com/office/drawing/2014/main" id="{E93D1CAC-151B-B59A-2139-77F19A457D12}"/>
              </a:ext>
            </a:extLst>
          </p:cNvPr>
          <p:cNvSpPr txBox="1"/>
          <p:nvPr/>
        </p:nvSpPr>
        <p:spPr>
          <a:xfrm>
            <a:off x="4583330" y="1023119"/>
            <a:ext cx="6097384" cy="461665"/>
          </a:xfrm>
          <a:prstGeom prst="rect">
            <a:avLst/>
          </a:prstGeom>
          <a:noFill/>
        </p:spPr>
        <p:txBody>
          <a:bodyPr wrap="square">
            <a:sp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Architecture</a:t>
            </a:r>
            <a:endParaRPr lang="en-US" sz="2400" b="1" i="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873C7E6-09C5-569A-B68A-EDA6E057205F}"/>
              </a:ext>
            </a:extLst>
          </p:cNvPr>
          <p:cNvSpPr txBox="1"/>
          <p:nvPr/>
        </p:nvSpPr>
        <p:spPr>
          <a:xfrm>
            <a:off x="839416" y="1700808"/>
            <a:ext cx="5400600" cy="486287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Application Components :</a:t>
            </a:r>
          </a:p>
          <a:p>
            <a:endParaRPr lang="en-IN" sz="20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a:t>
            </a:r>
            <a:r>
              <a:rPr kumimoji="0" lang="en-US" altLang="en-US"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AI-Based Task Classification &amp; Prediction (User Space)</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Collects CPU, memory, I/O, context switch data.</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Classifies tasks as Real-Time (RT) or Resource Intensive Task (RIT)</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Predicts Smart Time Slice (STS) for efficient execution.</a:t>
            </a:r>
          </a:p>
          <a:p>
            <a:pPr lvl="1" eaLnBrk="0" hangingPunct="0"/>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a:t>
            </a:r>
            <a:r>
              <a:rPr kumimoji="0" lang="en-US" altLang="en-US"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AI-Kernel Communication Module</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Call (</a:t>
            </a: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sched_setscheduler</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Passes AI predictions to the kernel.</a:t>
            </a:r>
          </a:p>
          <a:p>
            <a:pPr lvl="1" eaLnBrk="0" hangingPunct="0">
              <a:buFontTx/>
              <a:buChar char="•"/>
            </a:pP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Netlink</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Sockets (Optional) → Ensures efficient data exchange between AI and kernel</a:t>
            </a:r>
            <a:endParaRPr lang="en-IN" dirty="0">
              <a:latin typeface="Times New Roman" panose="02020603050405020304" pitchFamily="18" charset="0"/>
              <a:cs typeface="Times New Roman" panose="02020603050405020304" pitchFamily="18" charset="0"/>
            </a:endParaRPr>
          </a:p>
          <a:p>
            <a:endParaRPr lang="en-IN" dirty="0"/>
          </a:p>
          <a:p>
            <a:endParaRPr lang="en-IN" dirty="0"/>
          </a:p>
        </p:txBody>
      </p:sp>
      <p:sp>
        <p:nvSpPr>
          <p:cNvPr id="8" name="Rectangle 2">
            <a:extLst>
              <a:ext uri="{FF2B5EF4-FFF2-40B4-BE49-F238E27FC236}">
                <a16:creationId xmlns:a16="http://schemas.microsoft.com/office/drawing/2014/main" id="{2CD0104A-820B-0587-1B3C-BFB47CB968A7}"/>
              </a:ext>
            </a:extLst>
          </p:cNvPr>
          <p:cNvSpPr>
            <a:spLocks noChangeArrowheads="1"/>
          </p:cNvSpPr>
          <p:nvPr/>
        </p:nvSpPr>
        <p:spPr bwMode="auto">
          <a:xfrm>
            <a:off x="0" y="-94566"/>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B394FD00-A571-8BC1-FC50-EBD91CE388F5}"/>
              </a:ext>
            </a:extLst>
          </p:cNvPr>
          <p:cNvSpPr txBox="1"/>
          <p:nvPr/>
        </p:nvSpPr>
        <p:spPr>
          <a:xfrm>
            <a:off x="6260722" y="2280799"/>
            <a:ext cx="5091862" cy="34163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a:t>
            </a:r>
            <a:r>
              <a:rPr kumimoji="0" lang="en-US" altLang="en-US"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AI-Augmented Linux Scheduler (Kernel Space)</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Receives AI-based scheduling decisions.</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Modifies </a:t>
            </a: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vruntime</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dynamically in </a:t>
            </a: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core.c</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&amp; </a:t>
            </a: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fair.c</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Allocates CPU time using SCHED_RR (RT) or SCHED_OTHER (BG).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a:t>
            </a:r>
            <a:r>
              <a:rPr kumimoji="0" lang="en-US" altLang="en-US"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Process Execution &amp; Feedback Loop</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CPU executes tasks based on AI-modified scheduling.</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Feedback loop ensures continuous AI model training for improved accuracy.</a:t>
            </a:r>
          </a:p>
        </p:txBody>
      </p:sp>
    </p:spTree>
    <p:extLst>
      <p:ext uri="{BB962C8B-B14F-4D97-AF65-F5344CB8AC3E}">
        <p14:creationId xmlns:p14="http://schemas.microsoft.com/office/powerpoint/2010/main" val="4138388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8"/>
          <p:cNvSpPr/>
          <p:nvPr/>
        </p:nvSpPr>
        <p:spPr>
          <a:xfrm>
            <a:off x="3143672" y="1352128"/>
            <a:ext cx="7620000" cy="36513"/>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61" name="Google Shape;61;p8"/>
          <p:cNvSpPr txBox="1"/>
          <p:nvPr/>
        </p:nvSpPr>
        <p:spPr>
          <a:xfrm>
            <a:off x="2992546" y="954547"/>
            <a:ext cx="7772400" cy="461665"/>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Design Description</a:t>
            </a:r>
            <a:endParaRPr lang="en-US" sz="2400" b="1" i="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CC9859A-61BD-E125-4A72-4AD2D30465B4}"/>
              </a:ext>
            </a:extLst>
          </p:cNvPr>
          <p:cNvSpPr txBox="1"/>
          <p:nvPr/>
        </p:nvSpPr>
        <p:spPr>
          <a:xfrm>
            <a:off x="1919536" y="3228945"/>
            <a:ext cx="6097384"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Master Class Diagram </a:t>
            </a:r>
          </a:p>
        </p:txBody>
      </p:sp>
      <p:pic>
        <p:nvPicPr>
          <p:cNvPr id="7" name="Picture 6">
            <a:extLst>
              <a:ext uri="{FF2B5EF4-FFF2-40B4-BE49-F238E27FC236}">
                <a16:creationId xmlns:a16="http://schemas.microsoft.com/office/drawing/2014/main" id="{DC05AA57-537D-C418-5CB0-1B8B8DD2D86A}"/>
              </a:ext>
            </a:extLst>
          </p:cNvPr>
          <p:cNvPicPr>
            <a:picLocks noChangeAspect="1"/>
          </p:cNvPicPr>
          <p:nvPr/>
        </p:nvPicPr>
        <p:blipFill>
          <a:blip r:embed="rId3"/>
          <a:stretch>
            <a:fillRect/>
          </a:stretch>
        </p:blipFill>
        <p:spPr>
          <a:xfrm>
            <a:off x="5608897" y="1813793"/>
            <a:ext cx="3727463" cy="467388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2;p7">
            <a:extLst>
              <a:ext uri="{FF2B5EF4-FFF2-40B4-BE49-F238E27FC236}">
                <a16:creationId xmlns:a16="http://schemas.microsoft.com/office/drawing/2014/main" id="{1BE2748D-3905-D5DB-6024-B9826130A58B}"/>
              </a:ext>
            </a:extLst>
          </p:cNvPr>
          <p:cNvSpPr/>
          <p:nvPr/>
        </p:nvSpPr>
        <p:spPr>
          <a:xfrm>
            <a:off x="3048000" y="1448184"/>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4" name="TextBox 3">
            <a:extLst>
              <a:ext uri="{FF2B5EF4-FFF2-40B4-BE49-F238E27FC236}">
                <a16:creationId xmlns:a16="http://schemas.microsoft.com/office/drawing/2014/main" id="{20D56952-EBFE-2173-76D5-5F80E68A77BF}"/>
              </a:ext>
            </a:extLst>
          </p:cNvPr>
          <p:cNvSpPr txBox="1"/>
          <p:nvPr/>
        </p:nvSpPr>
        <p:spPr>
          <a:xfrm>
            <a:off x="4570616" y="1036764"/>
            <a:ext cx="6097384" cy="461665"/>
          </a:xfrm>
          <a:prstGeom prst="rect">
            <a:avLst/>
          </a:prstGeom>
          <a:noFill/>
        </p:spPr>
        <p:txBody>
          <a:bodyPr wrap="square">
            <a:sp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Design Description</a:t>
            </a:r>
            <a:endParaRPr lang="en-US" sz="2400" b="1" i="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67F93AB-11CC-89AA-B579-137C8BD68960}"/>
              </a:ext>
            </a:extLst>
          </p:cNvPr>
          <p:cNvSpPr txBox="1"/>
          <p:nvPr/>
        </p:nvSpPr>
        <p:spPr>
          <a:xfrm>
            <a:off x="2279576" y="3454558"/>
            <a:ext cx="6097384"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Use Case Diagram</a:t>
            </a:r>
          </a:p>
        </p:txBody>
      </p:sp>
      <p:pic>
        <p:nvPicPr>
          <p:cNvPr id="8" name="Picture 7">
            <a:extLst>
              <a:ext uri="{FF2B5EF4-FFF2-40B4-BE49-F238E27FC236}">
                <a16:creationId xmlns:a16="http://schemas.microsoft.com/office/drawing/2014/main" id="{A6C9CF18-21B5-7E28-37DD-E053FB1EC18E}"/>
              </a:ext>
            </a:extLst>
          </p:cNvPr>
          <p:cNvPicPr>
            <a:picLocks noChangeAspect="1"/>
          </p:cNvPicPr>
          <p:nvPr/>
        </p:nvPicPr>
        <p:blipFill>
          <a:blip r:embed="rId2"/>
          <a:stretch>
            <a:fillRect/>
          </a:stretch>
        </p:blipFill>
        <p:spPr>
          <a:xfrm>
            <a:off x="4799856" y="1896204"/>
            <a:ext cx="6314494" cy="4609170"/>
          </a:xfrm>
          <a:prstGeom prst="rect">
            <a:avLst/>
          </a:prstGeom>
        </p:spPr>
      </p:pic>
    </p:spTree>
    <p:extLst>
      <p:ext uri="{BB962C8B-B14F-4D97-AF65-F5344CB8AC3E}">
        <p14:creationId xmlns:p14="http://schemas.microsoft.com/office/powerpoint/2010/main" val="7488883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IN" sz="2400" b="1" i="1" dirty="0">
                <a:solidFill>
                  <a:srgbClr val="FF0000"/>
                </a:solidFill>
                <a:latin typeface="Times New Roman" panose="02020603050405020304" pitchFamily="18" charset="0"/>
                <a:cs typeface="Times New Roman" panose="02020603050405020304" pitchFamily="18" charset="0"/>
              </a:rPr>
              <a:t>Capstone Phase-I timeline</a:t>
            </a:r>
            <a:endParaRPr lang="en-US" sz="2400" dirty="0">
              <a:solidFill>
                <a:srgbClr val="FF0000"/>
              </a:solidFill>
              <a:latin typeface="Trebuchet MS" pitchFamily="34" charset="0"/>
            </a:endParaRPr>
          </a:p>
        </p:txBody>
      </p:sp>
      <p:sp>
        <p:nvSpPr>
          <p:cNvPr id="5" name="TextBox 4">
            <a:extLst>
              <a:ext uri="{FF2B5EF4-FFF2-40B4-BE49-F238E27FC236}">
                <a16:creationId xmlns:a16="http://schemas.microsoft.com/office/drawing/2014/main" id="{EBB10B19-4157-41B3-85CA-452455B519DD}"/>
              </a:ext>
            </a:extLst>
          </p:cNvPr>
          <p:cNvSpPr txBox="1"/>
          <p:nvPr/>
        </p:nvSpPr>
        <p:spPr>
          <a:xfrm>
            <a:off x="1991544" y="1603873"/>
            <a:ext cx="8839199" cy="4819781"/>
          </a:xfrm>
          <a:prstGeom prst="rect">
            <a:avLst/>
          </a:prstGeom>
          <a:noFill/>
        </p:spPr>
        <p:txBody>
          <a:bodyPr wrap="square">
            <a:spAutoFit/>
          </a:bodyPr>
          <a:lstStyle/>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Phase-1: Background Study, Problem Formulation, Literature Survey (Semester 5)</a:t>
            </a:r>
          </a:p>
          <a:p>
            <a:r>
              <a:rPr lang="en-US" sz="1600" b="1" dirty="0">
                <a:latin typeface="Times New Roman" panose="02020603050405020304" pitchFamily="18" charset="0"/>
                <a:cs typeface="Times New Roman" panose="02020603050405020304" pitchFamily="18" charset="0"/>
              </a:rPr>
              <a:t>Duration:</a:t>
            </a:r>
            <a:r>
              <a:rPr lang="en-US" sz="1600" dirty="0">
                <a:latin typeface="Times New Roman" panose="02020603050405020304" pitchFamily="18" charset="0"/>
                <a:cs typeface="Times New Roman" panose="02020603050405020304" pitchFamily="18" charset="0"/>
              </a:rPr>
              <a:t> Months 1-4</a:t>
            </a:r>
          </a:p>
          <a:p>
            <a:endParaRPr lang="en-US" sz="16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Team formation and role allocation.</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Identify areas of interest and domain selection.</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Conduct initial brainstorming sessions to define a tentative problem statement.</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2:</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Perform a detailed background study.</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Collect data, identify gaps in existing solutions, and refine the problem statement.</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3:</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Conduct an extensive literature survey (minimum 10-15 papers).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Analyze related work, existing methodologies, and tools.</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4:</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Finalize the problem statement.</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Submit the report containing the background study, refined problem statement, and literature survey.</a:t>
            </a:r>
          </a:p>
          <a:p>
            <a:pPr marL="342891" indent="12700" algn="just" eaLnBrk="0" hangingPunct="0">
              <a:spcBef>
                <a:spcPct val="20000"/>
              </a:spcBef>
              <a:defRPr/>
            </a:pPr>
            <a:endParaRPr lang="en-IN" sz="1600" kern="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99AD7-84B3-943C-397D-C4E88965161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34E9DBA-EFD3-BAFD-9867-56C66D917D85}"/>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a:extLst>
              <a:ext uri="{FF2B5EF4-FFF2-40B4-BE49-F238E27FC236}">
                <a16:creationId xmlns:a16="http://schemas.microsoft.com/office/drawing/2014/main" id="{55443B9B-D726-2565-2DBE-09DD54F2FD9D}"/>
              </a:ext>
            </a:extLst>
          </p:cNvPr>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IN" sz="2400" b="1" i="1" dirty="0">
                <a:solidFill>
                  <a:srgbClr val="FF0000"/>
                </a:solidFill>
                <a:latin typeface="Times New Roman" panose="02020603050405020304" pitchFamily="18" charset="0"/>
                <a:cs typeface="Times New Roman" panose="02020603050405020304" pitchFamily="18" charset="0"/>
              </a:rPr>
              <a:t>Capstone Phase-II timeline</a:t>
            </a:r>
            <a:endParaRPr lang="en-US" sz="2400" dirty="0">
              <a:solidFill>
                <a:srgbClr val="FF0000"/>
              </a:solidFill>
              <a:latin typeface="Trebuchet MS" pitchFamily="34" charset="0"/>
            </a:endParaRPr>
          </a:p>
        </p:txBody>
      </p:sp>
      <p:sp>
        <p:nvSpPr>
          <p:cNvPr id="5" name="TextBox 4">
            <a:extLst>
              <a:ext uri="{FF2B5EF4-FFF2-40B4-BE49-F238E27FC236}">
                <a16:creationId xmlns:a16="http://schemas.microsoft.com/office/drawing/2014/main" id="{3823FA27-ABF5-BB05-1474-EED392F9A528}"/>
              </a:ext>
            </a:extLst>
          </p:cNvPr>
          <p:cNvSpPr txBox="1"/>
          <p:nvPr/>
        </p:nvSpPr>
        <p:spPr>
          <a:xfrm>
            <a:off x="1991544" y="1611378"/>
            <a:ext cx="8839199" cy="3785652"/>
          </a:xfrm>
          <a:prstGeom prst="rect">
            <a:avLst/>
          </a:prstGeom>
          <a:noFill/>
        </p:spPr>
        <p:txBody>
          <a:bodyPr wrap="square">
            <a:spAutoFit/>
          </a:bodyPr>
          <a:lstStyle/>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Phase-2: High-Level Design, Part of Implementation (Semester 6)</a:t>
            </a:r>
          </a:p>
          <a:p>
            <a:r>
              <a:rPr lang="en-US" sz="1600" b="1" dirty="0">
                <a:latin typeface="Times New Roman" panose="02020603050405020304" pitchFamily="18" charset="0"/>
                <a:cs typeface="Times New Roman" panose="02020603050405020304" pitchFamily="18" charset="0"/>
              </a:rPr>
              <a:t>Duration:</a:t>
            </a:r>
            <a:r>
              <a:rPr lang="en-US" sz="1600" dirty="0">
                <a:latin typeface="Times New Roman" panose="02020603050405020304" pitchFamily="18" charset="0"/>
                <a:cs typeface="Times New Roman" panose="02020603050405020304" pitchFamily="18" charset="0"/>
              </a:rPr>
              <a:t> Months 5-8</a:t>
            </a:r>
          </a:p>
          <a:p>
            <a:endParaRPr lang="en-US" sz="16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5:</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Define system requirements and specifications.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Develop high-level architecture (flowcharts, block diagrams, UML diagrams).</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6:</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Select tools, frameworks, and platforms for implementation.</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Start implementing critical modules (proof of concept).</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7:</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Conduct initial testing of implemented modules.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Review design and implementation progress.</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8:</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Submit a progress report with high-level design and partial implementation details.</a:t>
            </a:r>
          </a:p>
        </p:txBody>
      </p:sp>
    </p:spTree>
    <p:extLst>
      <p:ext uri="{BB962C8B-B14F-4D97-AF65-F5344CB8AC3E}">
        <p14:creationId xmlns:p14="http://schemas.microsoft.com/office/powerpoint/2010/main" val="22475235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B34A9-6121-C2C3-4E87-39CBCB95FB8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3A637CD-F222-9357-0E2C-8D7F3DD26980}"/>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a:extLst>
              <a:ext uri="{FF2B5EF4-FFF2-40B4-BE49-F238E27FC236}">
                <a16:creationId xmlns:a16="http://schemas.microsoft.com/office/drawing/2014/main" id="{C63871AE-AA72-6BBC-FE27-90D3CD773844}"/>
              </a:ext>
            </a:extLst>
          </p:cNvPr>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IN" sz="2400" b="1" i="1" dirty="0">
                <a:solidFill>
                  <a:srgbClr val="FF0000"/>
                </a:solidFill>
                <a:latin typeface="Times New Roman" panose="02020603050405020304" pitchFamily="18" charset="0"/>
                <a:cs typeface="Times New Roman" panose="02020603050405020304" pitchFamily="18" charset="0"/>
              </a:rPr>
              <a:t>Capstone Phase-III timeline</a:t>
            </a:r>
            <a:endParaRPr lang="en-US" sz="2400" dirty="0">
              <a:solidFill>
                <a:srgbClr val="FF0000"/>
              </a:solidFill>
              <a:latin typeface="Trebuchet MS" pitchFamily="34" charset="0"/>
            </a:endParaRPr>
          </a:p>
        </p:txBody>
      </p:sp>
      <p:sp>
        <p:nvSpPr>
          <p:cNvPr id="5" name="TextBox 4">
            <a:extLst>
              <a:ext uri="{FF2B5EF4-FFF2-40B4-BE49-F238E27FC236}">
                <a16:creationId xmlns:a16="http://schemas.microsoft.com/office/drawing/2014/main" id="{A6285438-EC1E-4186-30EE-42132C8C7987}"/>
              </a:ext>
            </a:extLst>
          </p:cNvPr>
          <p:cNvSpPr txBox="1"/>
          <p:nvPr/>
        </p:nvSpPr>
        <p:spPr>
          <a:xfrm>
            <a:off x="1991544" y="1603873"/>
            <a:ext cx="8839199" cy="4031873"/>
          </a:xfrm>
          <a:prstGeom prst="rect">
            <a:avLst/>
          </a:prstGeom>
          <a:noFill/>
        </p:spPr>
        <p:txBody>
          <a:bodyPr wrap="square">
            <a:spAutoFit/>
          </a:bodyPr>
          <a:lstStyle/>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Phase-3: Low-Level Design, Complete Implementation, Draft Paper (Semester 7)</a:t>
            </a:r>
          </a:p>
          <a:p>
            <a:r>
              <a:rPr lang="en-US" sz="1600" b="1" dirty="0">
                <a:latin typeface="Times New Roman" panose="02020603050405020304" pitchFamily="18" charset="0"/>
                <a:cs typeface="Times New Roman" panose="02020603050405020304" pitchFamily="18" charset="0"/>
              </a:rPr>
              <a:t>Duration:</a:t>
            </a:r>
            <a:r>
              <a:rPr lang="en-US" sz="1600" dirty="0">
                <a:latin typeface="Times New Roman" panose="02020603050405020304" pitchFamily="18" charset="0"/>
                <a:cs typeface="Times New Roman" panose="02020603050405020304" pitchFamily="18" charset="0"/>
              </a:rPr>
              <a:t> Months 9-12</a:t>
            </a:r>
          </a:p>
          <a:p>
            <a:endParaRPr lang="en-US" sz="16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9:</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Develop low-level designs (detailed workflows, module-level diagrams).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Begin integrating all system modules.</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10:</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Complete system implementation.</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Perform system-level testing and debugging.</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11:</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Analyze results and compare them with existing solutions.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Draft a research paper outlining the methodology, implementation, and results.</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12:</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Submit a comprehensive report with low-level designs, full implementation, and the paper draft.</a:t>
            </a:r>
          </a:p>
        </p:txBody>
      </p:sp>
    </p:spTree>
    <p:extLst>
      <p:ext uri="{BB962C8B-B14F-4D97-AF65-F5344CB8AC3E}">
        <p14:creationId xmlns:p14="http://schemas.microsoft.com/office/powerpoint/2010/main" val="20501453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4A074-D1B0-AFC9-2302-90D07B92B5E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E07338-32E0-C2CE-301C-206B3E2C7A3A}"/>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a:extLst>
              <a:ext uri="{FF2B5EF4-FFF2-40B4-BE49-F238E27FC236}">
                <a16:creationId xmlns:a16="http://schemas.microsoft.com/office/drawing/2014/main" id="{CB275949-50A0-5AE2-8DF2-1EF55613BE8B}"/>
              </a:ext>
            </a:extLst>
          </p:cNvPr>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IN" sz="2400" b="1" i="1" dirty="0">
                <a:solidFill>
                  <a:srgbClr val="FF0000"/>
                </a:solidFill>
                <a:latin typeface="Times New Roman" panose="02020603050405020304" pitchFamily="18" charset="0"/>
                <a:cs typeface="Times New Roman" panose="02020603050405020304" pitchFamily="18" charset="0"/>
              </a:rPr>
              <a:t>Capstone Phase-IV timeline</a:t>
            </a:r>
            <a:endParaRPr lang="en-US" sz="2400" dirty="0">
              <a:solidFill>
                <a:srgbClr val="FF0000"/>
              </a:solidFill>
              <a:latin typeface="Trebuchet MS" pitchFamily="34" charset="0"/>
            </a:endParaRPr>
          </a:p>
        </p:txBody>
      </p:sp>
      <p:sp>
        <p:nvSpPr>
          <p:cNvPr id="5" name="TextBox 4">
            <a:extLst>
              <a:ext uri="{FF2B5EF4-FFF2-40B4-BE49-F238E27FC236}">
                <a16:creationId xmlns:a16="http://schemas.microsoft.com/office/drawing/2014/main" id="{713312D8-AF3C-6BB2-FBB6-86C91DB82A85}"/>
              </a:ext>
            </a:extLst>
          </p:cNvPr>
          <p:cNvSpPr txBox="1"/>
          <p:nvPr/>
        </p:nvSpPr>
        <p:spPr>
          <a:xfrm>
            <a:off x="2009329" y="1617668"/>
            <a:ext cx="8839199" cy="4031873"/>
          </a:xfrm>
          <a:prstGeom prst="rect">
            <a:avLst/>
          </a:prstGeom>
          <a:noFill/>
        </p:spPr>
        <p:txBody>
          <a:bodyPr wrap="square">
            <a:spAutoFit/>
          </a:bodyPr>
          <a:lstStyle/>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Phase-4: Paper Publication (Semester 8)</a:t>
            </a:r>
          </a:p>
          <a:p>
            <a:r>
              <a:rPr lang="en-US" sz="1600" b="1" dirty="0">
                <a:latin typeface="Times New Roman" panose="02020603050405020304" pitchFamily="18" charset="0"/>
                <a:cs typeface="Times New Roman" panose="02020603050405020304" pitchFamily="18" charset="0"/>
              </a:rPr>
              <a:t>Duration:</a:t>
            </a:r>
            <a:r>
              <a:rPr lang="en-US" sz="1600" dirty="0">
                <a:latin typeface="Times New Roman" panose="02020603050405020304" pitchFamily="18" charset="0"/>
                <a:cs typeface="Times New Roman" panose="02020603050405020304" pitchFamily="18" charset="0"/>
              </a:rPr>
              <a:t> Months 13-16</a:t>
            </a:r>
          </a:p>
          <a:p>
            <a:endParaRPr lang="en-US" sz="16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13:</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Finalize the research paper (align with Scopus/Web of Science/UGC guidelines).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Perform a thorough review, incorporating mentor feedback.</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14:</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Submit the paper to selected journals or conferences.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Begin preparing the final capstone project presentation.</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15:</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Await feedback from the journal. Address reviewer comments if required.</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Fine-tune the project report and presentation.</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16:</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Publish the paper upon acceptance.</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Deliver the final project presentation and submit the complete documentation.</a:t>
            </a:r>
          </a:p>
        </p:txBody>
      </p:sp>
    </p:spTree>
    <p:extLst>
      <p:ext uri="{BB962C8B-B14F-4D97-AF65-F5344CB8AC3E}">
        <p14:creationId xmlns:p14="http://schemas.microsoft.com/office/powerpoint/2010/main" val="27302208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412776"/>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895600" y="951111"/>
            <a:ext cx="7772400" cy="461665"/>
          </a:xfrm>
          <a:prstGeom prst="rect">
            <a:avLst/>
          </a:prstGeom>
          <a:noFill/>
          <a:ln w="9525">
            <a:noFill/>
            <a:miter lim="800000"/>
            <a:headEnd/>
            <a:tailEnd/>
          </a:ln>
        </p:spPr>
        <p:txBody>
          <a:bodyPr wrap="square">
            <a:spAutoFit/>
          </a:bodyPr>
          <a:lstStyle/>
          <a:p>
            <a:pPr marL="342900" indent="-342900" algn="r" eaLnBrk="0" hangingPunct="0">
              <a:spcBef>
                <a:spcPts val="0"/>
              </a:spcBef>
              <a:spcAft>
                <a:spcPts val="0"/>
              </a:spcAft>
              <a:defRPr/>
            </a:pPr>
            <a:r>
              <a:rPr lang="en-IN" sz="2400" b="1" i="1" dirty="0">
                <a:solidFill>
                  <a:srgbClr val="FF0000"/>
                </a:solidFill>
                <a:latin typeface="Times New Roman" panose="02020603050405020304" pitchFamily="18" charset="0"/>
                <a:cs typeface="Times New Roman" panose="02020603050405020304" pitchFamily="18" charset="0"/>
              </a:rPr>
              <a:t>Conclusion</a:t>
            </a:r>
            <a:endParaRPr lang="en-US" sz="2400" b="1" i="1" dirty="0">
              <a:solidFill>
                <a:srgbClr val="FF000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FDCAF3A-9D66-8659-080D-0FC9FA49E5E1}"/>
              </a:ext>
            </a:extLst>
          </p:cNvPr>
          <p:cNvSpPr txBox="1"/>
          <p:nvPr/>
        </p:nvSpPr>
        <p:spPr>
          <a:xfrm>
            <a:off x="659396" y="1556792"/>
            <a:ext cx="10873208" cy="4924425"/>
          </a:xfrm>
          <a:prstGeom prst="rect">
            <a:avLst/>
          </a:prstGeom>
          <a:noFill/>
        </p:spPr>
        <p:txBody>
          <a:bodyPr wrap="square">
            <a:spAutoFit/>
          </a:bodyPr>
          <a:lstStyle/>
          <a:p>
            <a:r>
              <a:rPr lang="en-US" b="1" i="1" dirty="0">
                <a:latin typeface="Times New Roman" panose="02020603050405020304" pitchFamily="18" charset="0"/>
                <a:cs typeface="Times New Roman" panose="02020603050405020304" pitchFamily="18" charset="0"/>
              </a:rPr>
              <a:t>Summing Up:</a:t>
            </a:r>
          </a:p>
          <a:p>
            <a:r>
              <a:rPr lang="en-US" sz="1600" dirty="0">
                <a:latin typeface="Times New Roman" panose="02020603050405020304" pitchFamily="18" charset="0"/>
                <a:cs typeface="Times New Roman" panose="02020603050405020304" pitchFamily="18" charset="0"/>
              </a:rPr>
              <a:t>The AVIOS project integrates AI into the Linux kernel to enhance task scheduling and system performance, making operating systems smarter and more adaptive to dynamic workloads.</a:t>
            </a:r>
          </a:p>
          <a:p>
            <a:endParaRPr lang="en-US" sz="1600" dirty="0">
              <a:latin typeface="Times New Roman" panose="02020603050405020304" pitchFamily="18" charset="0"/>
              <a:cs typeface="Times New Roman" panose="02020603050405020304" pitchFamily="18" charset="0"/>
            </a:endParaRPr>
          </a:p>
          <a:p>
            <a:r>
              <a:rPr lang="en-US" b="1" i="1" dirty="0">
                <a:latin typeface="Times New Roman" panose="02020603050405020304" pitchFamily="18" charset="0"/>
                <a:cs typeface="Times New Roman" panose="02020603050405020304" pitchFamily="18" charset="0"/>
              </a:rPr>
              <a:t>Project Highlights:</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AI-driven task scheduling optimizes CPU usage and reduces context switching overhead.</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Built on the Linux kernel, leveraging TensorFlow, </a:t>
            </a:r>
            <a:r>
              <a:rPr lang="en-US" sz="1600" dirty="0" err="1">
                <a:latin typeface="Times New Roman" panose="02020603050405020304" pitchFamily="18" charset="0"/>
                <a:cs typeface="Times New Roman" panose="02020603050405020304" pitchFamily="18" charset="0"/>
              </a:rPr>
              <a:t>PyTorch</a:t>
            </a:r>
            <a:r>
              <a:rPr lang="en-US" sz="1600" dirty="0">
                <a:latin typeface="Times New Roman" panose="02020603050405020304" pitchFamily="18" charset="0"/>
                <a:cs typeface="Times New Roman" panose="02020603050405020304" pitchFamily="18" charset="0"/>
              </a:rPr>
              <a:t>, and other modern technologies for seamless integration.</a:t>
            </a:r>
          </a:p>
          <a:p>
            <a:pPr lvl="1"/>
            <a:endParaRPr lang="en-US" sz="1600" dirty="0">
              <a:latin typeface="Times New Roman" panose="02020603050405020304" pitchFamily="18" charset="0"/>
              <a:cs typeface="Times New Roman" panose="02020603050405020304" pitchFamily="18" charset="0"/>
            </a:endParaRPr>
          </a:p>
          <a:p>
            <a:r>
              <a:rPr lang="en-US" b="1" i="1" dirty="0">
                <a:latin typeface="Times New Roman" panose="02020603050405020304" pitchFamily="18" charset="0"/>
                <a:cs typeface="Times New Roman" panose="02020603050405020304" pitchFamily="18" charset="0"/>
              </a:rPr>
              <a:t>Future Prospects:</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Potential to create a custom AI-optimized kernel for even more efficient task allocation.</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Expansion into real-time threat mitigation and adaptive resource scaling for better system performance.</a:t>
            </a:r>
          </a:p>
          <a:p>
            <a:pPr lvl="1"/>
            <a:endParaRPr lang="en-US" sz="1600" dirty="0">
              <a:latin typeface="Times New Roman" panose="02020603050405020304" pitchFamily="18" charset="0"/>
              <a:cs typeface="Times New Roman" panose="02020603050405020304" pitchFamily="18" charset="0"/>
            </a:endParaRPr>
          </a:p>
          <a:p>
            <a:r>
              <a:rPr lang="en-US" b="1" i="1" dirty="0">
                <a:latin typeface="Times New Roman" panose="02020603050405020304" pitchFamily="18" charset="0"/>
                <a:cs typeface="Times New Roman" panose="02020603050405020304" pitchFamily="18" charset="0"/>
              </a:rPr>
              <a:t>Team Commitment:</a:t>
            </a:r>
          </a:p>
          <a:p>
            <a:r>
              <a:rPr lang="en-US" sz="1600" dirty="0">
                <a:latin typeface="Times New Roman" panose="02020603050405020304" pitchFamily="18" charset="0"/>
                <a:cs typeface="Times New Roman" panose="02020603050405020304" pitchFamily="18" charset="0"/>
              </a:rPr>
              <a:t>The team is focused on overcoming challenges in scalability, computational overhead, and real-time       integration to deliver a robust and efficient system.</a:t>
            </a:r>
          </a:p>
          <a:p>
            <a:endParaRPr lang="en-US" sz="1600" dirty="0">
              <a:latin typeface="Times New Roman" panose="02020603050405020304" pitchFamily="18" charset="0"/>
              <a:cs typeface="Times New Roman" panose="02020603050405020304" pitchFamily="18" charset="0"/>
            </a:endParaRPr>
          </a:p>
          <a:p>
            <a:r>
              <a:rPr lang="en-US" b="1" i="1" dirty="0">
                <a:latin typeface="Times New Roman" panose="02020603050405020304" pitchFamily="18" charset="0"/>
                <a:cs typeface="Times New Roman" panose="02020603050405020304" pitchFamily="18" charset="0"/>
              </a:rPr>
              <a:t>Final Note:</a:t>
            </a:r>
          </a:p>
          <a:p>
            <a:r>
              <a:rPr lang="en-US" sz="1600" dirty="0">
                <a:latin typeface="Times New Roman" panose="02020603050405020304" pitchFamily="18" charset="0"/>
                <a:cs typeface="Times New Roman" panose="02020603050405020304" pitchFamily="18" charset="0"/>
              </a:rPr>
              <a:t>AVIOS marks a significant step toward next-generation operating systems, prioritizing smarter security and dynamic resource management.</a:t>
            </a:r>
          </a:p>
        </p:txBody>
      </p:sp>
    </p:spTree>
    <p:extLst>
      <p:ext uri="{BB962C8B-B14F-4D97-AF65-F5344CB8AC3E}">
        <p14:creationId xmlns:p14="http://schemas.microsoft.com/office/powerpoint/2010/main" val="15150275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346041"/>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2895600" y="935290"/>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References</a:t>
            </a:r>
          </a:p>
        </p:txBody>
      </p:sp>
      <p:sp>
        <p:nvSpPr>
          <p:cNvPr id="6" name="Content Placeholder 2"/>
          <p:cNvSpPr txBox="1">
            <a:spLocks/>
          </p:cNvSpPr>
          <p:nvPr/>
        </p:nvSpPr>
        <p:spPr>
          <a:xfrm>
            <a:off x="1828800" y="1828800"/>
            <a:ext cx="8458200" cy="4724400"/>
          </a:xfrm>
          <a:prstGeom prst="rect">
            <a:avLst/>
          </a:prstGeom>
        </p:spPr>
        <p:txBody>
          <a:bodyPr/>
          <a:lstStyle/>
          <a:p>
            <a:pPr marL="342900" indent="-342900" eaLnBrk="0" hangingPunct="0">
              <a:spcBef>
                <a:spcPct val="20000"/>
              </a:spcBef>
              <a:defRPr/>
            </a:pPr>
            <a:endParaRPr lang="en-IN" sz="1100" kern="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06690C7C-F060-F141-CE1E-1F43765DFF7D}"/>
              </a:ext>
            </a:extLst>
          </p:cNvPr>
          <p:cNvSpPr>
            <a:spLocks noChangeArrowheads="1"/>
          </p:cNvSpPr>
          <p:nvPr/>
        </p:nvSpPr>
        <p:spPr bwMode="auto">
          <a:xfrm>
            <a:off x="983432" y="1630361"/>
            <a:ext cx="5328592"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Hongjiu</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Lu,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ELF: From the Programmer’s Perspective</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Technical Report, NYNEX Science and Technology, 500 Westchester Avenue, White Plains, NY 10604, USA, May 1995.</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Aivazian</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Tigran,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Linux Kernel 2.4 Internals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Linux Documentation Project, August 2002.</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Maurice Bach,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Design of the Unix Operating System</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Pearson Education Asia, pp. 159-170, 2002.</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Fredrik </a:t>
            </a: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Vraalsen</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Performance Contracts: Predicting and Monitoring Grid Application Behavior</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Proceedings of the 2nd International Workshop on Grid Computing</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November 2001.</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Richard Gibbons,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Historical Application Profiler for Use by Parallel Schedulers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Lecture Notes on Computer Science</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Volume 1297, pp. 58-75, 1997.</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Hyok</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-Sung Choi and </a:t>
            </a: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Hee</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-Chul Yun,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Context Switching and IPC Performance Comparison between </a:t>
            </a:r>
            <a:r>
              <a:rPr kumimoji="0" lang="en-US" altLang="en-US" sz="11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uClinux</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Linux on the ARM9-Based Processor</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Linux in Embedded Applications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January 2005. [Online]. .</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Warren Smith, Valerie Taylor, and Ian Foster,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Predicting Application Run Times Using Historical Information</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Job Scheduling Strategies for Parallel Processing</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IPPS/SPDP'98 Workshop, March 1998.</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Kishore Kumar P. and Atul Negi,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Characterizing Process Execution </a:t>
            </a:r>
            <a:r>
              <a:rPr kumimoji="0" lang="en-US" altLang="en-US" sz="11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Behaviour</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Machine Learning Techniques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a:t>
            </a:r>
            <a:r>
              <a:rPr kumimoji="0" lang="en-US" altLang="en-US" sz="11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DpROM</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Workshop Proceedings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HiPC</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2004 International Conference</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December 2004.</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9597157-BC6C-C72F-9276-8310A5245824}"/>
              </a:ext>
            </a:extLst>
          </p:cNvPr>
          <p:cNvSpPr txBox="1"/>
          <p:nvPr/>
        </p:nvSpPr>
        <p:spPr>
          <a:xfrm>
            <a:off x="6456040" y="1633201"/>
            <a:ext cx="4464496" cy="3477875"/>
          </a:xfrm>
          <a:prstGeom prst="rect">
            <a:avLst/>
          </a:prstGeom>
          <a:noFill/>
        </p:spPr>
        <p:txBody>
          <a:bodyPr wrap="square" rtlCol="0">
            <a:spAutoFit/>
          </a:bodyPr>
          <a:lstStyle/>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S.R. Garner,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WEKA: The Waikato Environment for Knowledge Analysis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Proceedings of the New Zealand Computer Science Research Students Conference</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57-64, 1995.</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Surkanya</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Suranauwarat</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Hide Taniguchi,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Design, Implementation, and Initial Evaluation of an Advanced Knowledge-Based Process Scheduler</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ACM SIGOPS Operating Systems Review</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Volume 35, pp. 61-81, October 2001.</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Mark A. Hall,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Correlation-Based Feature Selection for Machine Learning</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Master's Thesis,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Department of Computer Science, University of Waikato</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7-9, 12-14, April 1999.</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Andrew Marks,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Dynamically Adaptive CPU Scheduler</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Master's Thesis,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Department of Computer Science, Santa Clara University</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5-9, June 2003.</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Robert Love,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Linux Kernel Development</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1st ed.,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Pearson Education</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2004.</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Daniel P. Bovet and Marco </a:t>
            </a: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Cesati</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Understanding the Linux Kernel</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2nd ed.,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O’Reilly &amp; Associates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December 2002.</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Tom Mitchell,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1st ed.,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McGraw-Hill International Edition</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52-75, 154-183, 230-244, 1997.</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 Duda and P.E. Hart,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Pattern Classification</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Wiley</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New York, 1973.</a:t>
            </a:r>
            <a:endParaRPr lang="en-IN" sz="1100" dirty="0"/>
          </a:p>
        </p:txBody>
      </p:sp>
    </p:spTree>
    <p:extLst>
      <p:ext uri="{BB962C8B-B14F-4D97-AF65-F5344CB8AC3E}">
        <p14:creationId xmlns:p14="http://schemas.microsoft.com/office/powerpoint/2010/main" val="39023587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19736" y="2828835"/>
            <a:ext cx="4348883" cy="1200329"/>
          </a:xfrm>
          <a:prstGeom prst="rect">
            <a:avLst/>
          </a:prstGeom>
        </p:spPr>
        <p:txBody>
          <a:bodyPr wrap="none">
            <a:spAutoFit/>
          </a:bodyPr>
          <a:lstStyle/>
          <a:p>
            <a:pPr algn="r"/>
            <a:r>
              <a:rPr lang="en-US" sz="7200" b="1" i="1" dirty="0">
                <a:solidFill>
                  <a:srgbClr val="FF0000"/>
                </a:solidFill>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pstone Project - Review 3 - Template.pptx" id="{77E64785-C4AC-D447-9F20-AA3556BA4DEA}" vid="{211B08FD-A304-1146-A3C3-5229E601B3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Capstone Project - Review 3 - Template (1)</Template>
  <TotalTime>1551</TotalTime>
  <Words>2913</Words>
  <Application>Microsoft Office PowerPoint</Application>
  <PresentationFormat>Widescreen</PresentationFormat>
  <Paragraphs>342</Paragraphs>
  <Slides>28</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Calibri</vt:lpstr>
      <vt:lpstr>Calibri Light</vt:lpstr>
      <vt:lpstr>Times New Roman</vt:lpstr>
      <vt:lpstr>Trebuchet MS</vt:lpstr>
      <vt:lpstr>Wingdings</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KTwo Technology Solutions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Sunitha R</dc:creator>
  <cp:lastModifiedBy>Prajval K</cp:lastModifiedBy>
  <cp:revision>56</cp:revision>
  <dcterms:created xsi:type="dcterms:W3CDTF">2020-11-22T08:14:37Z</dcterms:created>
  <dcterms:modified xsi:type="dcterms:W3CDTF">2025-03-01T08:54:40Z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ies>
</file>