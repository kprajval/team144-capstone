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12"/>
  </p:notesMasterIdLst>
  <p:handoutMasterIdLst>
    <p:handoutMasterId r:id="rId13"/>
  </p:handoutMasterIdLst>
  <p:sldIdLst>
    <p:sldId id="592" r:id="rId2"/>
    <p:sldId id="583" r:id="rId3"/>
    <p:sldId id="597" r:id="rId4"/>
    <p:sldId id="598" r:id="rId5"/>
    <p:sldId id="599" r:id="rId6"/>
    <p:sldId id="586" r:id="rId7"/>
    <p:sldId id="596" r:id="rId8"/>
    <p:sldId id="600" r:id="rId9"/>
    <p:sldId id="552" r:id="rId10"/>
    <p:sldId id="595" r:id="rId11"/>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FF0066"/>
    <a:srgbClr val="0000FF"/>
    <a:srgbClr val="33CC33"/>
    <a:srgbClr val="00FFFF"/>
    <a:srgbClr val="6600FF"/>
    <a:srgbClr val="CC66FF"/>
    <a:srgbClr val="62832D"/>
    <a:srgbClr val="0066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37" autoAdjust="0"/>
    <p:restoredTop sz="86811" autoAdjust="0"/>
  </p:normalViewPr>
  <p:slideViewPr>
    <p:cSldViewPr>
      <p:cViewPr varScale="1">
        <p:scale>
          <a:sx n="82" d="100"/>
          <a:sy n="82" d="100"/>
        </p:scale>
        <p:origin x="710" y="72"/>
      </p:cViewPr>
      <p:guideLst>
        <p:guide orient="horz" pos="2160"/>
        <p:guide pos="3840"/>
      </p:guideLst>
    </p:cSldViewPr>
  </p:slideViewPr>
  <p:notesTextViewPr>
    <p:cViewPr>
      <p:scale>
        <a:sx n="100" d="100"/>
        <a:sy n="100" d="100"/>
      </p:scale>
      <p:origin x="0" y="0"/>
    </p:cViewPr>
  </p:notesTextViewPr>
  <p:sorterViewPr>
    <p:cViewPr>
      <p:scale>
        <a:sx n="90" d="100"/>
        <a:sy n="90" d="100"/>
      </p:scale>
      <p:origin x="0" y="130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26A7C97D-3554-44E0-8E72-665D45387ACC}" type="datetimeFigureOut">
              <a:rPr lang="en-US"/>
              <a:pPr>
                <a:defRPr/>
              </a:pPr>
              <a:t>3/25/2025</a:t>
            </a:fld>
            <a:endParaRPr lang="en-US"/>
          </a:p>
        </p:txBody>
      </p:sp>
      <p:sp>
        <p:nvSpPr>
          <p:cNvPr id="4" name="Footer Placeholder 3"/>
          <p:cNvSpPr>
            <a:spLocks noGrp="1"/>
          </p:cNvSpPr>
          <p:nvPr>
            <p:ph type="ftr" sz="quarter" idx="2"/>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1486DC43-659C-4A17-BDC0-5684401D4FAB}"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C973BE83-6A1D-4DA3-83D0-ED76C71EFE38}" type="datetimeFigureOut">
              <a:rPr lang="en-US"/>
              <a:pPr>
                <a:defRPr/>
              </a:pPr>
              <a:t>3/25/2025</a:t>
            </a:fld>
            <a:endParaRPr lang="en-US"/>
          </a:p>
        </p:txBody>
      </p:sp>
      <p:sp>
        <p:nvSpPr>
          <p:cNvPr id="4" name="Slide Image Placeholder 3"/>
          <p:cNvSpPr>
            <a:spLocks noGrp="1" noRot="1" noChangeAspect="1"/>
          </p:cNvSpPr>
          <p:nvPr>
            <p:ph type="sldImg" idx="2"/>
          </p:nvPr>
        </p:nvSpPr>
        <p:spPr>
          <a:xfrm>
            <a:off x="407988" y="696913"/>
            <a:ext cx="6196012"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848" y="4416426"/>
            <a:ext cx="5608320" cy="418306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01C81575-24DE-4F6C-A73E-0331B3B2E41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9</a:t>
            </a:fld>
            <a:endParaRPr lang="en-US"/>
          </a:p>
        </p:txBody>
      </p:sp>
    </p:spTree>
    <p:extLst>
      <p:ext uri="{BB962C8B-B14F-4D97-AF65-F5344CB8AC3E}">
        <p14:creationId xmlns:p14="http://schemas.microsoft.com/office/powerpoint/2010/main" val="4174625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13C8-F183-1D43-AE77-BF9BD4D2AE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7AF752-0EC0-CF4D-965A-5129A91359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E32540-0688-DC4A-809A-52FB3313D316}"/>
              </a:ext>
            </a:extLst>
          </p:cNvPr>
          <p:cNvSpPr>
            <a:spLocks noGrp="1"/>
          </p:cNvSpPr>
          <p:nvPr>
            <p:ph type="dt" sz="half" idx="10"/>
          </p:nvPr>
        </p:nvSpPr>
        <p:spPr/>
        <p:txBody>
          <a:bodyPr/>
          <a:lstStyle/>
          <a:p>
            <a:fld id="{2D1A7037-0853-0447-B5BA-F1548123F733}" type="datetimeFigureOut">
              <a:rPr lang="en-US" smtClean="0"/>
              <a:pPr/>
              <a:t>3/25/2025</a:t>
            </a:fld>
            <a:endParaRPr lang="en-US"/>
          </a:p>
        </p:txBody>
      </p:sp>
      <p:sp>
        <p:nvSpPr>
          <p:cNvPr id="5" name="Footer Placeholder 4">
            <a:extLst>
              <a:ext uri="{FF2B5EF4-FFF2-40B4-BE49-F238E27FC236}">
                <a16:creationId xmlns:a16="http://schemas.microsoft.com/office/drawing/2014/main" id="{0F2CA43E-0611-D047-BC7B-31F920B659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E4123-5713-BC41-BBD0-42ADF35D9634}"/>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92070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DED43-C903-1F44-A779-40DF9AEFDE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9975D8-34AD-544B-B0E2-83FA77D2F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24DD5-B8E0-534E-B68A-EF415575E505}"/>
              </a:ext>
            </a:extLst>
          </p:cNvPr>
          <p:cNvSpPr>
            <a:spLocks noGrp="1"/>
          </p:cNvSpPr>
          <p:nvPr>
            <p:ph type="dt" sz="half" idx="10"/>
          </p:nvPr>
        </p:nvSpPr>
        <p:spPr/>
        <p:txBody>
          <a:bodyPr/>
          <a:lstStyle/>
          <a:p>
            <a:fld id="{2D1A7037-0853-0447-B5BA-F1548123F733}" type="datetimeFigureOut">
              <a:rPr lang="en-US" smtClean="0"/>
              <a:pPr/>
              <a:t>3/25/2025</a:t>
            </a:fld>
            <a:endParaRPr lang="en-US"/>
          </a:p>
        </p:txBody>
      </p:sp>
      <p:sp>
        <p:nvSpPr>
          <p:cNvPr id="5" name="Footer Placeholder 4">
            <a:extLst>
              <a:ext uri="{FF2B5EF4-FFF2-40B4-BE49-F238E27FC236}">
                <a16:creationId xmlns:a16="http://schemas.microsoft.com/office/drawing/2014/main" id="{45096688-5BB1-5E48-BD14-BBC9FA67D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C407C-3003-DB44-98B5-0DEC6272B11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12291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630D-09E2-0742-AED8-D3F732546C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5B2CD3-A564-8044-A4EC-7EBA262987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2A64EE-79C1-8B46-BA9C-199117C7B485}"/>
              </a:ext>
            </a:extLst>
          </p:cNvPr>
          <p:cNvSpPr>
            <a:spLocks noGrp="1"/>
          </p:cNvSpPr>
          <p:nvPr>
            <p:ph type="dt" sz="half" idx="10"/>
          </p:nvPr>
        </p:nvSpPr>
        <p:spPr/>
        <p:txBody>
          <a:bodyPr/>
          <a:lstStyle/>
          <a:p>
            <a:fld id="{2D1A7037-0853-0447-B5BA-F1548123F733}" type="datetimeFigureOut">
              <a:rPr lang="en-US" smtClean="0"/>
              <a:pPr/>
              <a:t>3/25/2025</a:t>
            </a:fld>
            <a:endParaRPr lang="en-US"/>
          </a:p>
        </p:txBody>
      </p:sp>
      <p:sp>
        <p:nvSpPr>
          <p:cNvPr id="5" name="Footer Placeholder 4">
            <a:extLst>
              <a:ext uri="{FF2B5EF4-FFF2-40B4-BE49-F238E27FC236}">
                <a16:creationId xmlns:a16="http://schemas.microsoft.com/office/drawing/2014/main" id="{A851AAB2-DA47-AE48-A088-6FC7C1694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8FF9C-19C9-FA46-8C21-74202499420D}"/>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71791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CBAF5-C913-024F-8BE6-64C58F9702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5E6DB7-D3D7-1443-A583-8730715E2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CEB82F-3E99-7441-9B06-6D7C2156AB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26D282-1572-D344-87D1-785DA8576020}"/>
              </a:ext>
            </a:extLst>
          </p:cNvPr>
          <p:cNvSpPr>
            <a:spLocks noGrp="1"/>
          </p:cNvSpPr>
          <p:nvPr>
            <p:ph type="dt" sz="half" idx="10"/>
          </p:nvPr>
        </p:nvSpPr>
        <p:spPr/>
        <p:txBody>
          <a:bodyPr/>
          <a:lstStyle/>
          <a:p>
            <a:fld id="{2D1A7037-0853-0447-B5BA-F1548123F733}" type="datetimeFigureOut">
              <a:rPr lang="en-US" smtClean="0"/>
              <a:pPr/>
              <a:t>3/25/2025</a:t>
            </a:fld>
            <a:endParaRPr lang="en-US"/>
          </a:p>
        </p:txBody>
      </p:sp>
      <p:sp>
        <p:nvSpPr>
          <p:cNvPr id="6" name="Footer Placeholder 5">
            <a:extLst>
              <a:ext uri="{FF2B5EF4-FFF2-40B4-BE49-F238E27FC236}">
                <a16:creationId xmlns:a16="http://schemas.microsoft.com/office/drawing/2014/main" id="{3723D760-065F-6442-AF7E-1A7AAFFCA9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BF4C15-EC3A-7E41-A2B3-D2AB7D70EB32}"/>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265704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2CC90-B8AE-8A46-A8A5-F7E8DA615E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E152C5-AA77-4B47-965C-21A00C1EEC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466F8D-3502-5242-9160-E1CDE38E0A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754302-8F9A-5648-9C5E-6D037F1C75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9FC9CD-8823-F145-9952-EFBA9ACD2E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5EF4D9-655F-4842-A6B8-D44A050122B8}"/>
              </a:ext>
            </a:extLst>
          </p:cNvPr>
          <p:cNvSpPr>
            <a:spLocks noGrp="1"/>
          </p:cNvSpPr>
          <p:nvPr>
            <p:ph type="dt" sz="half" idx="10"/>
          </p:nvPr>
        </p:nvSpPr>
        <p:spPr/>
        <p:txBody>
          <a:bodyPr/>
          <a:lstStyle/>
          <a:p>
            <a:fld id="{2D1A7037-0853-0447-B5BA-F1548123F733}" type="datetimeFigureOut">
              <a:rPr lang="en-US" smtClean="0"/>
              <a:pPr/>
              <a:t>3/25/2025</a:t>
            </a:fld>
            <a:endParaRPr lang="en-US"/>
          </a:p>
        </p:txBody>
      </p:sp>
      <p:sp>
        <p:nvSpPr>
          <p:cNvPr id="8" name="Footer Placeholder 7">
            <a:extLst>
              <a:ext uri="{FF2B5EF4-FFF2-40B4-BE49-F238E27FC236}">
                <a16:creationId xmlns:a16="http://schemas.microsoft.com/office/drawing/2014/main" id="{08E68A74-725F-8F40-8F80-E96287703E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D868FA-8565-A740-9B9C-B3CD6AB33570}"/>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1827854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DFCE3-1C1E-7448-AF7E-5E46BB140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19D5C9-50F6-8546-8D8C-AFACC1BC1B4F}"/>
              </a:ext>
            </a:extLst>
          </p:cNvPr>
          <p:cNvSpPr>
            <a:spLocks noGrp="1"/>
          </p:cNvSpPr>
          <p:nvPr>
            <p:ph type="dt" sz="half" idx="10"/>
          </p:nvPr>
        </p:nvSpPr>
        <p:spPr/>
        <p:txBody>
          <a:bodyPr/>
          <a:lstStyle/>
          <a:p>
            <a:fld id="{2D1A7037-0853-0447-B5BA-F1548123F733}" type="datetimeFigureOut">
              <a:rPr lang="en-US" smtClean="0"/>
              <a:pPr/>
              <a:t>3/25/2025</a:t>
            </a:fld>
            <a:endParaRPr lang="en-US"/>
          </a:p>
        </p:txBody>
      </p:sp>
      <p:sp>
        <p:nvSpPr>
          <p:cNvPr id="4" name="Footer Placeholder 3">
            <a:extLst>
              <a:ext uri="{FF2B5EF4-FFF2-40B4-BE49-F238E27FC236}">
                <a16:creationId xmlns:a16="http://schemas.microsoft.com/office/drawing/2014/main" id="{1DEA0D0C-FCAF-4F4C-AAF5-C9B78C03C4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68836A-EEA3-7347-A63C-8E66DF7B345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602287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A43C1-2303-5A41-B234-90D15E2A4B17}"/>
              </a:ext>
            </a:extLst>
          </p:cNvPr>
          <p:cNvSpPr>
            <a:spLocks noGrp="1"/>
          </p:cNvSpPr>
          <p:nvPr>
            <p:ph type="dt" sz="half" idx="10"/>
          </p:nvPr>
        </p:nvSpPr>
        <p:spPr/>
        <p:txBody>
          <a:bodyPr/>
          <a:lstStyle/>
          <a:p>
            <a:fld id="{2D1A7037-0853-0447-B5BA-F1548123F733}" type="datetimeFigureOut">
              <a:rPr lang="en-US" smtClean="0"/>
              <a:pPr/>
              <a:t>3/25/2025</a:t>
            </a:fld>
            <a:endParaRPr lang="en-US"/>
          </a:p>
        </p:txBody>
      </p:sp>
      <p:sp>
        <p:nvSpPr>
          <p:cNvPr id="3" name="Footer Placeholder 2">
            <a:extLst>
              <a:ext uri="{FF2B5EF4-FFF2-40B4-BE49-F238E27FC236}">
                <a16:creationId xmlns:a16="http://schemas.microsoft.com/office/drawing/2014/main" id="{9EA77971-B281-6149-9884-0E9C45F816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D0F6F3-1061-E842-B540-6BD0D6CB8D59}"/>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873732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970D-13D5-B346-968D-400B0BCCF6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19FFE0-37CD-7644-A007-76E5304F12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210BE7-EA92-B44F-9EEC-94E6F6955C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6D810-D2A1-B549-A5BC-25CCA5CDCD3C}"/>
              </a:ext>
            </a:extLst>
          </p:cNvPr>
          <p:cNvSpPr>
            <a:spLocks noGrp="1"/>
          </p:cNvSpPr>
          <p:nvPr>
            <p:ph type="dt" sz="half" idx="10"/>
          </p:nvPr>
        </p:nvSpPr>
        <p:spPr/>
        <p:txBody>
          <a:bodyPr/>
          <a:lstStyle/>
          <a:p>
            <a:fld id="{2D1A7037-0853-0447-B5BA-F1548123F733}" type="datetimeFigureOut">
              <a:rPr lang="en-US" smtClean="0"/>
              <a:pPr/>
              <a:t>3/25/2025</a:t>
            </a:fld>
            <a:endParaRPr lang="en-US"/>
          </a:p>
        </p:txBody>
      </p:sp>
      <p:sp>
        <p:nvSpPr>
          <p:cNvPr id="6" name="Footer Placeholder 5">
            <a:extLst>
              <a:ext uri="{FF2B5EF4-FFF2-40B4-BE49-F238E27FC236}">
                <a16:creationId xmlns:a16="http://schemas.microsoft.com/office/drawing/2014/main" id="{6AD872D2-2005-3043-A02D-3E2DB9334E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F9F01D-1164-4249-AD67-1D51D33C01DC}"/>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580386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3B30-2A71-A043-9BD7-3B8C66BF7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2B08A9-6B45-4340-8859-996D9B949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6B1F4B2-96C1-614B-9110-8D1AEE080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7DF3EB-6252-5845-AE7D-FB94ECF9F136}"/>
              </a:ext>
            </a:extLst>
          </p:cNvPr>
          <p:cNvSpPr>
            <a:spLocks noGrp="1"/>
          </p:cNvSpPr>
          <p:nvPr>
            <p:ph type="dt" sz="half" idx="10"/>
          </p:nvPr>
        </p:nvSpPr>
        <p:spPr/>
        <p:txBody>
          <a:bodyPr/>
          <a:lstStyle/>
          <a:p>
            <a:fld id="{2D1A7037-0853-0447-B5BA-F1548123F733}" type="datetimeFigureOut">
              <a:rPr lang="en-US" smtClean="0"/>
              <a:pPr/>
              <a:t>3/25/2025</a:t>
            </a:fld>
            <a:endParaRPr lang="en-US"/>
          </a:p>
        </p:txBody>
      </p:sp>
      <p:sp>
        <p:nvSpPr>
          <p:cNvPr id="6" name="Footer Placeholder 5">
            <a:extLst>
              <a:ext uri="{FF2B5EF4-FFF2-40B4-BE49-F238E27FC236}">
                <a16:creationId xmlns:a16="http://schemas.microsoft.com/office/drawing/2014/main" id="{D2D65DB7-EFE7-7446-8DEC-69F1FB47AE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0E09F-0F32-5644-881A-A61CD82461E5}"/>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504594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6E61B7-8DCD-1544-BC5D-B4592F60C6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AB61D9-7FB3-1343-9555-936FC6036D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2A79E-2DF5-4E41-BDCF-90E9D26B7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A7037-0853-0447-B5BA-F1548123F733}" type="datetimeFigureOut">
              <a:rPr lang="en-US" smtClean="0"/>
              <a:pPr/>
              <a:t>3/25/2025</a:t>
            </a:fld>
            <a:endParaRPr lang="en-US"/>
          </a:p>
        </p:txBody>
      </p:sp>
      <p:sp>
        <p:nvSpPr>
          <p:cNvPr id="5" name="Footer Placeholder 4">
            <a:extLst>
              <a:ext uri="{FF2B5EF4-FFF2-40B4-BE49-F238E27FC236}">
                <a16:creationId xmlns:a16="http://schemas.microsoft.com/office/drawing/2014/main" id="{556D5DC5-E1CB-B84F-BCAB-EB319B3718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712A2C-5C91-4B43-A114-209348A10C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F0E29-F314-934F-92DB-8EEB8DA68833}" type="slidenum">
              <a:rPr lang="en-US" smtClean="0"/>
              <a:pPr/>
              <a:t>‹#›</a:t>
            </a:fld>
            <a:endParaRPr lang="en-US"/>
          </a:p>
        </p:txBody>
      </p:sp>
      <p:pic>
        <p:nvPicPr>
          <p:cNvPr id="7" name="Picture 2" descr="PESSAT - All India Online Entrance Exam for Admission to PES University">
            <a:extLst>
              <a:ext uri="{FF2B5EF4-FFF2-40B4-BE49-F238E27FC236}">
                <a16:creationId xmlns:a16="http://schemas.microsoft.com/office/drawing/2014/main" id="{5DF19801-E6D2-C61C-B815-2390316A0571}"/>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167336" y="264409"/>
            <a:ext cx="1162050"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38320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6;p3"/>
          <p:cNvSpPr txBox="1"/>
          <p:nvPr/>
        </p:nvSpPr>
        <p:spPr>
          <a:xfrm>
            <a:off x="0" y="4323472"/>
            <a:ext cx="12192000" cy="2534527"/>
          </a:xfrm>
          <a:prstGeom prst="rect">
            <a:avLst/>
          </a:prstGeom>
          <a:noFill/>
          <a:ln>
            <a:noFill/>
          </a:ln>
        </p:spPr>
        <p:txBody>
          <a:bodyPr spcFirstLastPara="1" wrap="square" lIns="91425" tIns="45700" rIns="91425" bIns="45700" anchor="t" anchorCtr="0">
            <a:noAutofit/>
          </a:bodyPr>
          <a:lstStyle/>
          <a:p>
            <a:pPr>
              <a:spcBef>
                <a:spcPts val="0"/>
              </a:spcBef>
              <a:spcAft>
                <a:spcPts val="0"/>
              </a:spcAft>
            </a:pPr>
            <a:endParaRPr sz="2400" dirty="0">
              <a:solidFill>
                <a:srgbClr val="0033CC"/>
              </a:solidFill>
              <a:latin typeface="Trebuchet MS"/>
              <a:ea typeface="Trebuchet MS"/>
              <a:cs typeface="Trebuchet MS"/>
              <a:sym typeface="Trebuchet MS"/>
            </a:endParaRPr>
          </a:p>
        </p:txBody>
      </p:sp>
      <p:sp>
        <p:nvSpPr>
          <p:cNvPr id="6" name="TextBox 5">
            <a:extLst>
              <a:ext uri="{FF2B5EF4-FFF2-40B4-BE49-F238E27FC236}">
                <a16:creationId xmlns:a16="http://schemas.microsoft.com/office/drawing/2014/main" id="{79CFA518-D372-62E3-1BFC-9EE1EB0AA9EE}"/>
              </a:ext>
            </a:extLst>
          </p:cNvPr>
          <p:cNvSpPr txBox="1"/>
          <p:nvPr/>
        </p:nvSpPr>
        <p:spPr>
          <a:xfrm>
            <a:off x="479376" y="1455162"/>
            <a:ext cx="10873208" cy="4278094"/>
          </a:xfrm>
          <a:prstGeom prst="rect">
            <a:avLst/>
          </a:prstGeom>
          <a:noFill/>
        </p:spPr>
        <p:txBody>
          <a:bodyPr wrap="square">
            <a:sp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UE22CS320A</a:t>
            </a:r>
            <a:r>
              <a:rPr lang="en-IN" sz="3600" dirty="0">
                <a:latin typeface="Times New Roman" panose="02020603050405020304" pitchFamily="18" charset="0"/>
                <a:cs typeface="Times New Roman" panose="02020603050405020304" pitchFamily="18" charset="0"/>
              </a:rPr>
              <a:t> </a:t>
            </a:r>
            <a:r>
              <a:rPr lang="en-IN" sz="3600" b="1" dirty="0">
                <a:solidFill>
                  <a:srgbClr val="FF0000"/>
                </a:solidFill>
                <a:latin typeface="Times New Roman" panose="02020603050405020304" pitchFamily="18" charset="0"/>
                <a:cs typeface="Times New Roman" panose="02020603050405020304" pitchFamily="18" charset="0"/>
              </a:rPr>
              <a:t>– Project Phase – 2</a:t>
            </a:r>
          </a:p>
          <a:p>
            <a:pPr algn="ctr"/>
            <a:r>
              <a:rPr lang="en-US" sz="3600" dirty="0">
                <a:solidFill>
                  <a:srgbClr val="FF0000"/>
                </a:solidFill>
                <a:latin typeface="Times New Roman" panose="02020603050405020304" pitchFamily="18" charset="0"/>
                <a:cs typeface="Times New Roman" panose="02020603050405020304" pitchFamily="18" charset="0"/>
              </a:rPr>
              <a:t>Capstone Project –Phase 2 –review 2</a:t>
            </a:r>
            <a:endParaRPr lang="en-US" sz="3200" dirty="0">
              <a:solidFill>
                <a:srgbClr val="FF0000"/>
              </a:solidFill>
              <a:latin typeface="Times New Roman" panose="02020603050405020304" pitchFamily="18" charset="0"/>
              <a:cs typeface="Times New Roman" panose="02020603050405020304" pitchFamily="18" charset="0"/>
            </a:endParaRPr>
          </a:p>
          <a:p>
            <a:pPr algn="ctr"/>
            <a:endParaRPr lang="en-IN" sz="3600" b="1" dirty="0">
              <a:solidFill>
                <a:srgbClr val="FF0000"/>
              </a:solidFill>
              <a:latin typeface="Times New Roman" panose="02020603050405020304" pitchFamily="18" charset="0"/>
              <a:cs typeface="Times New Roman" panose="02020603050405020304" pitchFamily="18" charset="0"/>
            </a:endParaRPr>
          </a:p>
          <a:p>
            <a:pPr lvl="2"/>
            <a:r>
              <a:rPr lang="en-IN" sz="2000" b="1" i="1" dirty="0">
                <a:latin typeface="Times New Roman" panose="02020603050405020304" pitchFamily="18" charset="0"/>
                <a:cs typeface="Times New Roman" panose="02020603050405020304" pitchFamily="18" charset="0"/>
              </a:rPr>
              <a:t>PROJECT TITLE	</a:t>
            </a:r>
            <a:r>
              <a:rPr lang="en-IN" sz="2000" b="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 AVIOS – A</a:t>
            </a:r>
            <a:r>
              <a:rPr lang="en-IN" sz="2000" i="1" dirty="0">
                <a:latin typeface="Times New Roman" panose="02020603050405020304" pitchFamily="18" charset="0"/>
                <a:cs typeface="Times New Roman" panose="02020603050405020304" pitchFamily="18" charset="0"/>
              </a:rPr>
              <a:t>daptive</a:t>
            </a:r>
            <a:r>
              <a:rPr lang="en-IN" sz="2000" b="1" i="1" dirty="0">
                <a:latin typeface="Times New Roman" panose="02020603050405020304" pitchFamily="18" charset="0"/>
                <a:cs typeface="Times New Roman" panose="02020603050405020304" pitchFamily="18" charset="0"/>
              </a:rPr>
              <a:t> V</a:t>
            </a:r>
            <a:r>
              <a:rPr lang="en-IN" sz="2000" i="1" dirty="0">
                <a:latin typeface="Times New Roman" panose="02020603050405020304" pitchFamily="18" charset="0"/>
                <a:cs typeface="Times New Roman" panose="02020603050405020304" pitchFamily="18" charset="0"/>
              </a:rPr>
              <a:t>igilant</a:t>
            </a:r>
            <a:r>
              <a:rPr lang="en-IN" sz="2000" b="1" i="1" dirty="0">
                <a:latin typeface="Times New Roman" panose="02020603050405020304" pitchFamily="18" charset="0"/>
                <a:cs typeface="Times New Roman" panose="02020603050405020304" pitchFamily="18" charset="0"/>
              </a:rPr>
              <a:t> I</a:t>
            </a:r>
            <a:r>
              <a:rPr lang="en-IN" sz="2000" i="1" dirty="0">
                <a:latin typeface="Times New Roman" panose="02020603050405020304" pitchFamily="18" charset="0"/>
                <a:cs typeface="Times New Roman" panose="02020603050405020304" pitchFamily="18" charset="0"/>
              </a:rPr>
              <a:t>ntelligent</a:t>
            </a:r>
            <a:r>
              <a:rPr lang="en-IN" sz="2000" b="1" i="1" dirty="0">
                <a:latin typeface="Times New Roman" panose="02020603050405020304" pitchFamily="18" charset="0"/>
                <a:cs typeface="Times New Roman" panose="02020603050405020304" pitchFamily="18" charset="0"/>
              </a:rPr>
              <a:t> O</a:t>
            </a:r>
            <a:r>
              <a:rPr lang="en-IN" sz="2000" i="1" dirty="0">
                <a:latin typeface="Times New Roman" panose="02020603050405020304" pitchFamily="18" charset="0"/>
                <a:cs typeface="Times New Roman" panose="02020603050405020304" pitchFamily="18" charset="0"/>
              </a:rPr>
              <a:t>perating</a:t>
            </a:r>
            <a:r>
              <a:rPr lang="en-IN" sz="2000" b="1" i="1" dirty="0">
                <a:latin typeface="Times New Roman" panose="02020603050405020304" pitchFamily="18" charset="0"/>
                <a:cs typeface="Times New Roman" panose="02020603050405020304" pitchFamily="18" charset="0"/>
              </a:rPr>
              <a:t> S</a:t>
            </a:r>
            <a:r>
              <a:rPr lang="en-IN" sz="2000" i="1" dirty="0">
                <a:latin typeface="Times New Roman" panose="02020603050405020304" pitchFamily="18" charset="0"/>
                <a:cs typeface="Times New Roman" panose="02020603050405020304" pitchFamily="18" charset="0"/>
              </a:rPr>
              <a:t>ystem</a:t>
            </a:r>
          </a:p>
          <a:p>
            <a:pPr lvl="2"/>
            <a:r>
              <a:rPr lang="en-IN" sz="2000" b="1" i="1" dirty="0">
                <a:latin typeface="Times New Roman" panose="02020603050405020304" pitchFamily="18" charset="0"/>
                <a:cs typeface="Times New Roman" panose="02020603050405020304" pitchFamily="18" charset="0"/>
              </a:rPr>
              <a:t>PROJECT ID		</a:t>
            </a:r>
            <a:r>
              <a:rPr lang="en-IN" sz="2000" b="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Team 144</a:t>
            </a:r>
            <a:endParaRPr lang="en-IN" sz="2000" b="1" dirty="0">
              <a:latin typeface="Times New Roman" panose="02020603050405020304" pitchFamily="18" charset="0"/>
              <a:cs typeface="Times New Roman" panose="02020603050405020304" pitchFamily="18" charset="0"/>
            </a:endParaRPr>
          </a:p>
          <a:p>
            <a:pPr lvl="2"/>
            <a:r>
              <a:rPr lang="en-IN" sz="2000" b="1" i="1" dirty="0">
                <a:latin typeface="Times New Roman" panose="02020603050405020304" pitchFamily="18" charset="0"/>
                <a:cs typeface="Times New Roman" panose="02020603050405020304" pitchFamily="18" charset="0"/>
              </a:rPr>
              <a:t>PROJECT GUIDE	</a:t>
            </a:r>
            <a:r>
              <a:rPr lang="en-IN" sz="2000" b="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  Prof. Swetha Patil</a:t>
            </a:r>
          </a:p>
          <a:p>
            <a:pPr lvl="2"/>
            <a:endParaRPr lang="en-IN" sz="2000" b="1" i="1" dirty="0">
              <a:latin typeface="Times New Roman" panose="02020603050405020304" pitchFamily="18" charset="0"/>
              <a:cs typeface="Times New Roman" panose="02020603050405020304" pitchFamily="18" charset="0"/>
            </a:endParaRPr>
          </a:p>
          <a:p>
            <a:pPr lvl="2"/>
            <a:r>
              <a:rPr lang="en-IN" sz="2000" b="1" i="1" dirty="0">
                <a:latin typeface="Times New Roman" panose="02020603050405020304" pitchFamily="18" charset="0"/>
                <a:cs typeface="Times New Roman" panose="02020603050405020304" pitchFamily="18" charset="0"/>
              </a:rPr>
              <a:t>PROJECT TEAM</a:t>
            </a:r>
          </a:p>
          <a:p>
            <a:pPr marL="1828800" lvl="3" indent="-457200">
              <a:buFont typeface="+mj-lt"/>
              <a:buAutoNum type="arabicPeriod"/>
            </a:pPr>
            <a:r>
              <a:rPr lang="en-IN" sz="1600" b="1" i="1" dirty="0" err="1">
                <a:latin typeface="Times New Roman" panose="02020603050405020304" pitchFamily="18" charset="0"/>
                <a:cs typeface="Times New Roman" panose="02020603050405020304" pitchFamily="18" charset="0"/>
              </a:rPr>
              <a:t>Kurumeti</a:t>
            </a:r>
            <a:r>
              <a:rPr lang="en-IN" sz="1600" b="1" i="1" dirty="0">
                <a:latin typeface="Times New Roman" panose="02020603050405020304" pitchFamily="18" charset="0"/>
                <a:cs typeface="Times New Roman" panose="02020603050405020304" pitchFamily="18" charset="0"/>
              </a:rPr>
              <a:t> Prajval ( PES2UG22CS274 )</a:t>
            </a:r>
          </a:p>
          <a:p>
            <a:pPr marL="1828800" lvl="3" indent="-457200">
              <a:buFont typeface="+mj-lt"/>
              <a:buAutoNum type="arabicPeriod"/>
            </a:pPr>
            <a:r>
              <a:rPr lang="en-IN" sz="1600" b="1" i="1" dirty="0">
                <a:latin typeface="Times New Roman" panose="02020603050405020304" pitchFamily="18" charset="0"/>
                <a:cs typeface="Times New Roman" panose="02020603050405020304" pitchFamily="18" charset="0"/>
              </a:rPr>
              <a:t>Manoj Kumar KS ( PES2UG22CS302 )</a:t>
            </a:r>
          </a:p>
          <a:p>
            <a:pPr marL="1828800" lvl="3" indent="-457200">
              <a:buFont typeface="+mj-lt"/>
              <a:buAutoNum type="arabicPeriod"/>
            </a:pPr>
            <a:r>
              <a:rPr lang="en-IN" sz="1600" b="1" i="1" dirty="0" err="1">
                <a:latin typeface="Times New Roman" panose="02020603050405020304" pitchFamily="18" charset="0"/>
                <a:cs typeface="Times New Roman" panose="02020603050405020304" pitchFamily="18" charset="0"/>
              </a:rPr>
              <a:t>Dhanushree</a:t>
            </a:r>
            <a:r>
              <a:rPr lang="en-IN" sz="1600" b="1" i="1" dirty="0">
                <a:latin typeface="Times New Roman" panose="02020603050405020304" pitchFamily="18" charset="0"/>
                <a:cs typeface="Times New Roman" panose="02020603050405020304" pitchFamily="18" charset="0"/>
              </a:rPr>
              <a:t> K ( PES2UG22CS176 )</a:t>
            </a:r>
          </a:p>
          <a:p>
            <a:pPr marL="1828800" lvl="3" indent="-457200">
              <a:buFont typeface="+mj-lt"/>
              <a:buAutoNum type="arabicPeriod"/>
            </a:pPr>
            <a:r>
              <a:rPr lang="en-IN" sz="1600" b="1" i="1" dirty="0" err="1">
                <a:latin typeface="Times New Roman" panose="02020603050405020304" pitchFamily="18" charset="0"/>
                <a:cs typeface="Times New Roman" panose="02020603050405020304" pitchFamily="18" charset="0"/>
              </a:rPr>
              <a:t>Nagaratna</a:t>
            </a:r>
            <a:r>
              <a:rPr lang="en-IN" sz="1600" b="1" i="1" dirty="0">
                <a:latin typeface="Times New Roman" panose="02020603050405020304" pitchFamily="18" charset="0"/>
                <a:cs typeface="Times New Roman" panose="02020603050405020304" pitchFamily="18" charset="0"/>
              </a:rPr>
              <a:t> ( PES2UG22CS331 )</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447800"/>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990600"/>
            <a:ext cx="77724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b="1" dirty="0">
                <a:solidFill>
                  <a:srgbClr val="FF0000"/>
                </a:solidFill>
                <a:latin typeface="Times New Roman" panose="02020603050405020304" pitchFamily="18" charset="0"/>
                <a:ea typeface="Trebuchet MS"/>
                <a:cs typeface="Times New Roman" panose="02020603050405020304" pitchFamily="18" charset="0"/>
                <a:sym typeface="Trebuchet MS"/>
              </a:rPr>
              <a:t>Expected Deliverables - 1</a:t>
            </a:r>
            <a:endParaRPr lang="en-US" sz="2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BB10B19-4157-41B3-85CA-452455B519DD}"/>
              </a:ext>
            </a:extLst>
          </p:cNvPr>
          <p:cNvSpPr txBox="1"/>
          <p:nvPr/>
        </p:nvSpPr>
        <p:spPr>
          <a:xfrm>
            <a:off x="1905000" y="1600200"/>
            <a:ext cx="9067800" cy="1569660"/>
          </a:xfrm>
          <a:prstGeom prst="rect">
            <a:avLst/>
          </a:prstGeom>
          <a:noFill/>
        </p:spPr>
        <p:txBody>
          <a:bodyPr wrap="square">
            <a:spAutoFit/>
          </a:bodyPr>
          <a:lstStyle/>
          <a:p>
            <a:pPr marL="457200" lvl="0" indent="-457200" algn="just">
              <a:spcBef>
                <a:spcPts val="0"/>
              </a:spcBef>
              <a:spcAft>
                <a:spcPts val="0"/>
              </a:spcAft>
              <a:buAutoNum type="arabicPeriod"/>
            </a:pPr>
            <a:endParaRPr lang="en-US" sz="2400" dirty="0">
              <a:solidFill>
                <a:srgbClr val="0033CC"/>
              </a:solidFill>
              <a:latin typeface="Trebuchet MS"/>
              <a:ea typeface="Trebuchet MS"/>
              <a:cs typeface="Trebuchet MS"/>
              <a:sym typeface="Trebuchet MS"/>
            </a:endParaRPr>
          </a:p>
          <a:p>
            <a:pPr marL="457200" lvl="0" indent="-457200" algn="just">
              <a:spcBef>
                <a:spcPts val="0"/>
              </a:spcBef>
              <a:spcAft>
                <a:spcPts val="0"/>
              </a:spcAft>
              <a:buAutoNum type="arabicPeriod"/>
            </a:pPr>
            <a:r>
              <a:rPr lang="en-US" sz="2400" dirty="0">
                <a:solidFill>
                  <a:srgbClr val="0033CC"/>
                </a:solidFill>
                <a:latin typeface="Trebuchet MS"/>
                <a:ea typeface="Trebuchet MS"/>
                <a:cs typeface="Trebuchet MS"/>
                <a:sym typeface="Trebuchet MS"/>
              </a:rPr>
              <a:t>List of tasks/Modules to be elaborated in discussion with the guide.</a:t>
            </a:r>
          </a:p>
          <a:p>
            <a:pPr lvl="0" algn="just">
              <a:spcBef>
                <a:spcPts val="0"/>
              </a:spcBef>
              <a:spcAft>
                <a:spcPts val="0"/>
              </a:spcAft>
            </a:pPr>
            <a:endParaRPr lang="en-US" sz="2400" dirty="0">
              <a:solidFill>
                <a:srgbClr val="0033CC"/>
              </a:solidFill>
              <a:latin typeface="Trebuchet MS"/>
              <a:ea typeface="Trebuchet MS"/>
              <a:cs typeface="Trebuchet MS"/>
              <a:sym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465F6-3C18-6B8A-6C4B-0CD958712BC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FC79808-DC9E-DA85-3886-ED18FBAE2957}"/>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sz="1400"/>
          </a:p>
        </p:txBody>
      </p:sp>
      <p:sp>
        <p:nvSpPr>
          <p:cNvPr id="3" name="Text Box 34">
            <a:extLst>
              <a:ext uri="{FF2B5EF4-FFF2-40B4-BE49-F238E27FC236}">
                <a16:creationId xmlns:a16="http://schemas.microsoft.com/office/drawing/2014/main" id="{03F98649-A858-BF2C-0B32-D95C79E13846}"/>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b="1" dirty="0">
                <a:solidFill>
                  <a:srgbClr val="FF0000"/>
                </a:solidFill>
                <a:latin typeface="Times New Roman" panose="02020603050405020304" pitchFamily="18" charset="0"/>
                <a:ea typeface="Trebuchet MS"/>
                <a:cs typeface="Times New Roman" panose="02020603050405020304" pitchFamily="18" charset="0"/>
                <a:sym typeface="Trebuchet MS"/>
              </a:rPr>
              <a:t>Expected Deliverables - 2</a:t>
            </a:r>
            <a:endParaRPr lang="en-US" sz="2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346CB16-D2C2-77AC-2396-D50D38BD4D85}"/>
              </a:ext>
            </a:extLst>
          </p:cNvPr>
          <p:cNvSpPr txBox="1"/>
          <p:nvPr/>
        </p:nvSpPr>
        <p:spPr>
          <a:xfrm>
            <a:off x="1371600" y="1782395"/>
            <a:ext cx="9296400" cy="3046988"/>
          </a:xfrm>
          <a:prstGeom prst="rect">
            <a:avLst/>
          </a:prstGeom>
          <a:noFill/>
        </p:spPr>
        <p:txBody>
          <a:bodyPr wrap="square" rtlCol="0">
            <a:spAutoFit/>
          </a:bodyPr>
          <a:lstStyle/>
          <a:p>
            <a:pPr marL="285750"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Data Preprocessing: </a:t>
            </a:r>
            <a:r>
              <a:rPr lang="en-US" sz="1600" dirty="0">
                <a:latin typeface="Times New Roman" panose="02020603050405020304" pitchFamily="18" charset="0"/>
                <a:cs typeface="Times New Roman" panose="02020603050405020304" pitchFamily="18" charset="0"/>
              </a:rPr>
              <a:t>Cleaning and transforming data extracted from Linux distributions. Handling missing values, removing duplicates, normalizing data, and ensuring consistency for accurate analysis.</a:t>
            </a:r>
          </a:p>
          <a:p>
            <a:pPr marL="285750" indent="-285750">
              <a:buFont typeface="Wingdings" panose="05000000000000000000" pitchFamily="2" charset="2"/>
              <a:buChar char="§"/>
            </a:pP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Data visualization: </a:t>
            </a:r>
          </a:p>
          <a:p>
            <a:pPr marL="285750" indent="-285750">
              <a:buFont typeface="Wingdings" panose="05000000000000000000" pitchFamily="2" charset="2"/>
              <a:buChar char="§"/>
            </a:pPr>
            <a:endParaRPr lang="en-IN" sz="16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IN" sz="16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IN" sz="16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IN" sz="16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IN" sz="1600" b="1" dirty="0">
              <a:latin typeface="Times New Roman" panose="02020603050405020304" pitchFamily="18" charset="0"/>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218EDFA6-F825-02C3-0B0E-D51501B62B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2590800"/>
            <a:ext cx="5943600" cy="3566160"/>
          </a:xfrm>
          <a:prstGeom prst="rect">
            <a:avLst/>
          </a:prstGeom>
        </p:spPr>
      </p:pic>
    </p:spTree>
    <p:extLst>
      <p:ext uri="{BB962C8B-B14F-4D97-AF65-F5344CB8AC3E}">
        <p14:creationId xmlns:p14="http://schemas.microsoft.com/office/powerpoint/2010/main" val="509458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77CE8-1F16-DFAA-346E-70A6CAAE465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92748BF-294A-6C9C-5001-B72A498FEC44}"/>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sz="1400"/>
          </a:p>
        </p:txBody>
      </p:sp>
      <p:sp>
        <p:nvSpPr>
          <p:cNvPr id="3" name="Text Box 34">
            <a:extLst>
              <a:ext uri="{FF2B5EF4-FFF2-40B4-BE49-F238E27FC236}">
                <a16:creationId xmlns:a16="http://schemas.microsoft.com/office/drawing/2014/main" id="{67E92185-E4DE-E7A7-9494-4097BEC0701A}"/>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b="1" dirty="0">
                <a:solidFill>
                  <a:srgbClr val="FF0000"/>
                </a:solidFill>
                <a:latin typeface="Times New Roman" panose="02020603050405020304" pitchFamily="18" charset="0"/>
                <a:ea typeface="Trebuchet MS"/>
                <a:cs typeface="Times New Roman" panose="02020603050405020304" pitchFamily="18" charset="0"/>
                <a:sym typeface="Trebuchet MS"/>
              </a:rPr>
              <a:t>Expected Deliverables – 2 </a:t>
            </a:r>
            <a:r>
              <a:rPr lang="en-US" sz="1600" dirty="0">
                <a:solidFill>
                  <a:srgbClr val="FF0000"/>
                </a:solidFill>
                <a:latin typeface="Times New Roman" panose="02020603050405020304" pitchFamily="18" charset="0"/>
                <a:ea typeface="Trebuchet MS"/>
                <a:cs typeface="Times New Roman" panose="02020603050405020304" pitchFamily="18" charset="0"/>
                <a:sym typeface="Trebuchet MS"/>
              </a:rPr>
              <a:t>(continued…)</a:t>
            </a:r>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8666A55-89E5-B784-E023-CADD6C02982B}"/>
              </a:ext>
            </a:extLst>
          </p:cNvPr>
          <p:cNvSpPr txBox="1"/>
          <p:nvPr/>
        </p:nvSpPr>
        <p:spPr>
          <a:xfrm>
            <a:off x="1371600" y="1782395"/>
            <a:ext cx="9296400" cy="4031873"/>
          </a:xfrm>
          <a:prstGeom prst="rect">
            <a:avLst/>
          </a:prstGeom>
          <a:noFill/>
        </p:spPr>
        <p:txBody>
          <a:bodyPr wrap="square" rtlCol="0">
            <a:spAutoFit/>
          </a:bodyPr>
          <a:lstStyle/>
          <a:p>
            <a:pPr marL="285750"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Data interpretation: </a:t>
            </a: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IN" sz="16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Storage:</a:t>
            </a: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Using local storage for quick access and processing, while Google Drive ensures remote access, collaboration, and backup for data security.</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E9B234BE-AE72-7F05-7AC4-52E94AE72D05}"/>
              </a:ext>
            </a:extLst>
          </p:cNvPr>
          <p:cNvGraphicFramePr>
            <a:graphicFrameLocks noGrp="1"/>
          </p:cNvGraphicFramePr>
          <p:nvPr>
            <p:extLst>
              <p:ext uri="{D42A27DB-BD31-4B8C-83A1-F6EECF244321}">
                <p14:modId xmlns:p14="http://schemas.microsoft.com/office/powerpoint/2010/main" val="3479300745"/>
              </p:ext>
            </p:extLst>
          </p:nvPr>
        </p:nvGraphicFramePr>
        <p:xfrm>
          <a:off x="1892300" y="2178530"/>
          <a:ext cx="8407400" cy="2500939"/>
        </p:xfrm>
        <a:graphic>
          <a:graphicData uri="http://schemas.openxmlformats.org/drawingml/2006/table">
            <a:tbl>
              <a:tblPr firstRow="1" bandRow="1">
                <a:tableStyleId>{5C22544A-7EE6-4342-B048-85BDC9FD1C3A}</a:tableStyleId>
              </a:tblPr>
              <a:tblGrid>
                <a:gridCol w="1681480">
                  <a:extLst>
                    <a:ext uri="{9D8B030D-6E8A-4147-A177-3AD203B41FA5}">
                      <a16:colId xmlns:a16="http://schemas.microsoft.com/office/drawing/2014/main" val="1925746029"/>
                    </a:ext>
                  </a:extLst>
                </a:gridCol>
                <a:gridCol w="1681480">
                  <a:extLst>
                    <a:ext uri="{9D8B030D-6E8A-4147-A177-3AD203B41FA5}">
                      <a16:colId xmlns:a16="http://schemas.microsoft.com/office/drawing/2014/main" val="3727302678"/>
                    </a:ext>
                  </a:extLst>
                </a:gridCol>
                <a:gridCol w="1681480">
                  <a:extLst>
                    <a:ext uri="{9D8B030D-6E8A-4147-A177-3AD203B41FA5}">
                      <a16:colId xmlns:a16="http://schemas.microsoft.com/office/drawing/2014/main" val="354412835"/>
                    </a:ext>
                  </a:extLst>
                </a:gridCol>
                <a:gridCol w="1681480">
                  <a:extLst>
                    <a:ext uri="{9D8B030D-6E8A-4147-A177-3AD203B41FA5}">
                      <a16:colId xmlns:a16="http://schemas.microsoft.com/office/drawing/2014/main" val="3623785681"/>
                    </a:ext>
                  </a:extLst>
                </a:gridCol>
                <a:gridCol w="1681480">
                  <a:extLst>
                    <a:ext uri="{9D8B030D-6E8A-4147-A177-3AD203B41FA5}">
                      <a16:colId xmlns:a16="http://schemas.microsoft.com/office/drawing/2014/main" val="2375819960"/>
                    </a:ext>
                  </a:extLst>
                </a:gridCol>
              </a:tblGrid>
              <a:tr h="428299">
                <a:tc>
                  <a:txBody>
                    <a:bodyPr/>
                    <a:lstStyle/>
                    <a:p>
                      <a:r>
                        <a:rPr lang="en-IN" sz="1400" dirty="0">
                          <a:latin typeface="Times New Roman" panose="02020603050405020304" pitchFamily="18" charset="0"/>
                          <a:cs typeface="Times New Roman" panose="02020603050405020304" pitchFamily="18" charset="0"/>
                        </a:rPr>
                        <a:t>Task Type</a:t>
                      </a:r>
                    </a:p>
                  </a:txBody>
                  <a:tcPr/>
                </a:tc>
                <a:tc>
                  <a:txBody>
                    <a:bodyPr/>
                    <a:lstStyle/>
                    <a:p>
                      <a:r>
                        <a:rPr lang="en-IN" sz="1400" dirty="0">
                          <a:latin typeface="Times New Roman" panose="02020603050405020304" pitchFamily="18" charset="0"/>
                          <a:cs typeface="Times New Roman" panose="02020603050405020304" pitchFamily="18" charset="0"/>
                        </a:rPr>
                        <a:t>CPU Usage</a:t>
                      </a:r>
                    </a:p>
                  </a:txBody>
                  <a:tcPr/>
                </a:tc>
                <a:tc>
                  <a:txBody>
                    <a:bodyPr/>
                    <a:lstStyle/>
                    <a:p>
                      <a:r>
                        <a:rPr lang="en-IN" sz="1400" dirty="0">
                          <a:latin typeface="Times New Roman" panose="02020603050405020304" pitchFamily="18" charset="0"/>
                          <a:cs typeface="Times New Roman" panose="02020603050405020304" pitchFamily="18" charset="0"/>
                        </a:rPr>
                        <a:t>I/O Usage</a:t>
                      </a:r>
                    </a:p>
                  </a:txBody>
                  <a:tcPr/>
                </a:tc>
                <a:tc>
                  <a:txBody>
                    <a:bodyPr/>
                    <a:lstStyle/>
                    <a:p>
                      <a:r>
                        <a:rPr lang="en-IN" sz="1400" dirty="0">
                          <a:latin typeface="Times New Roman" panose="02020603050405020304" pitchFamily="18" charset="0"/>
                          <a:cs typeface="Times New Roman" panose="02020603050405020304" pitchFamily="18" charset="0"/>
                        </a:rPr>
                        <a:t>Memory Usage</a:t>
                      </a:r>
                    </a:p>
                  </a:txBody>
                  <a:tcPr/>
                </a:tc>
                <a:tc>
                  <a:txBody>
                    <a:bodyPr/>
                    <a:lstStyle/>
                    <a:p>
                      <a:r>
                        <a:rPr lang="en-IN" sz="1400" dirty="0">
                          <a:latin typeface="Times New Roman" panose="02020603050405020304" pitchFamily="18" charset="0"/>
                          <a:cs typeface="Times New Roman" panose="02020603050405020304" pitchFamily="18" charset="0"/>
                        </a:rPr>
                        <a:t>Other factors</a:t>
                      </a:r>
                    </a:p>
                  </a:txBody>
                  <a:tcPr/>
                </a:tc>
                <a:extLst>
                  <a:ext uri="{0D108BD9-81ED-4DB2-BD59-A6C34878D82A}">
                    <a16:rowId xmlns:a16="http://schemas.microsoft.com/office/drawing/2014/main" val="1156126137"/>
                  </a:ext>
                </a:extLst>
              </a:tr>
              <a:tr h="304800">
                <a:tc>
                  <a:txBody>
                    <a:bodyPr/>
                    <a:lstStyle/>
                    <a:p>
                      <a:r>
                        <a:rPr lang="en-IN" sz="1400" dirty="0">
                          <a:latin typeface="Times New Roman" panose="02020603050405020304" pitchFamily="18" charset="0"/>
                          <a:cs typeface="Times New Roman" panose="02020603050405020304" pitchFamily="18" charset="0"/>
                        </a:rPr>
                        <a:t>CPU Bound</a:t>
                      </a:r>
                    </a:p>
                  </a:txBody>
                  <a:tcPr/>
                </a:tc>
                <a:tc>
                  <a:txBody>
                    <a:bodyPr/>
                    <a:lstStyle/>
                    <a:p>
                      <a:r>
                        <a:rPr lang="en-IN" sz="1400" dirty="0">
                          <a:latin typeface="Times New Roman" panose="02020603050405020304" pitchFamily="18" charset="0"/>
                          <a:cs typeface="Times New Roman" panose="02020603050405020304" pitchFamily="18" charset="0"/>
                        </a:rPr>
                        <a:t>&gt;= 70%</a:t>
                      </a:r>
                    </a:p>
                  </a:txBody>
                  <a:tcPr/>
                </a:tc>
                <a:tc>
                  <a:txBody>
                    <a:bodyPr/>
                    <a:lstStyle/>
                    <a:p>
                      <a:r>
                        <a:rPr lang="en-IN" sz="1400" dirty="0">
                          <a:latin typeface="Times New Roman" panose="02020603050405020304" pitchFamily="18" charset="0"/>
                          <a:cs typeface="Times New Roman" panose="02020603050405020304" pitchFamily="18" charset="0"/>
                        </a:rPr>
                        <a:t>&lt;=30%</a:t>
                      </a:r>
                    </a:p>
                  </a:txBody>
                  <a:tcPr/>
                </a:tc>
                <a:tc>
                  <a:txBody>
                    <a:bodyPr/>
                    <a:lstStyle/>
                    <a:p>
                      <a:r>
                        <a:rPr lang="en-IN" sz="1400" dirty="0">
                          <a:latin typeface="Times New Roman" panose="02020603050405020304" pitchFamily="18" charset="0"/>
                          <a:cs typeface="Times New Roman" panose="02020603050405020304" pitchFamily="18" charset="0"/>
                        </a:rPr>
                        <a:t>10% - 40%</a:t>
                      </a:r>
                    </a:p>
                  </a:txBody>
                  <a:tcPr/>
                </a:tc>
                <a:tc>
                  <a:txBody>
                    <a:bodyPr/>
                    <a:lstStyle/>
                    <a:p>
                      <a:r>
                        <a:rPr lang="en-IN" sz="1400" dirty="0">
                          <a:latin typeface="Times New Roman" panose="02020603050405020304" pitchFamily="18" charset="0"/>
                          <a:cs typeface="Times New Roman" panose="02020603050405020304" pitchFamily="18" charset="0"/>
                        </a:rPr>
                        <a:t>Priority, Arrival Time</a:t>
                      </a:r>
                    </a:p>
                  </a:txBody>
                  <a:tcPr/>
                </a:tc>
                <a:extLst>
                  <a:ext uri="{0D108BD9-81ED-4DB2-BD59-A6C34878D82A}">
                    <a16:rowId xmlns:a16="http://schemas.microsoft.com/office/drawing/2014/main" val="581728566"/>
                  </a:ext>
                </a:extLst>
              </a:tr>
              <a:tr h="326699">
                <a:tc>
                  <a:txBody>
                    <a:bodyPr/>
                    <a:lstStyle/>
                    <a:p>
                      <a:r>
                        <a:rPr lang="en-IN" sz="1400" dirty="0">
                          <a:latin typeface="Times New Roman" panose="02020603050405020304" pitchFamily="18" charset="0"/>
                          <a:cs typeface="Times New Roman" panose="02020603050405020304" pitchFamily="18" charset="0"/>
                        </a:rPr>
                        <a:t>I/O Bound</a:t>
                      </a:r>
                    </a:p>
                  </a:txBody>
                  <a:tcPr/>
                </a:tc>
                <a:tc>
                  <a:txBody>
                    <a:bodyPr/>
                    <a:lstStyle/>
                    <a:p>
                      <a:r>
                        <a:rPr lang="en-IN" sz="1400" dirty="0">
                          <a:latin typeface="Times New Roman" panose="02020603050405020304" pitchFamily="18" charset="0"/>
                          <a:cs typeface="Times New Roman" panose="02020603050405020304" pitchFamily="18" charset="0"/>
                        </a:rPr>
                        <a:t>&lt;= 30%</a:t>
                      </a:r>
                    </a:p>
                  </a:txBody>
                  <a:tcPr/>
                </a:tc>
                <a:tc>
                  <a:txBody>
                    <a:bodyPr/>
                    <a:lstStyle/>
                    <a:p>
                      <a:r>
                        <a:rPr lang="en-IN" sz="1400" dirty="0">
                          <a:latin typeface="Times New Roman" panose="02020603050405020304" pitchFamily="18" charset="0"/>
                          <a:cs typeface="Times New Roman" panose="02020603050405020304" pitchFamily="18" charset="0"/>
                        </a:rPr>
                        <a:t>&gt;=70%</a:t>
                      </a:r>
                    </a:p>
                  </a:txBody>
                  <a:tcPr/>
                </a:tc>
                <a:tc>
                  <a:txBody>
                    <a:bodyPr/>
                    <a:lstStyle/>
                    <a:p>
                      <a:r>
                        <a:rPr lang="en-IN" sz="1400" dirty="0">
                          <a:latin typeface="Times New Roman" panose="02020603050405020304" pitchFamily="18" charset="0"/>
                          <a:cs typeface="Times New Roman" panose="02020603050405020304" pitchFamily="18" charset="0"/>
                        </a:rPr>
                        <a:t>20% - 50%</a:t>
                      </a:r>
                    </a:p>
                  </a:txBody>
                  <a:tcPr/>
                </a:tc>
                <a:tc>
                  <a:txBody>
                    <a:bodyPr/>
                    <a:lstStyle/>
                    <a:p>
                      <a:r>
                        <a:rPr lang="en-IN" sz="1400" dirty="0">
                          <a:latin typeface="Times New Roman" panose="02020603050405020304" pitchFamily="18" charset="0"/>
                          <a:cs typeface="Times New Roman" panose="02020603050405020304" pitchFamily="18" charset="0"/>
                        </a:rPr>
                        <a:t>Deadline, Resource Usage</a:t>
                      </a:r>
                    </a:p>
                  </a:txBody>
                  <a:tcPr/>
                </a:tc>
                <a:extLst>
                  <a:ext uri="{0D108BD9-81ED-4DB2-BD59-A6C34878D82A}">
                    <a16:rowId xmlns:a16="http://schemas.microsoft.com/office/drawing/2014/main" val="3816722470"/>
                  </a:ext>
                </a:extLst>
              </a:tr>
              <a:tr h="428299">
                <a:tc>
                  <a:txBody>
                    <a:bodyPr/>
                    <a:lstStyle/>
                    <a:p>
                      <a:r>
                        <a:rPr lang="en-IN" sz="1400" dirty="0">
                          <a:latin typeface="Times New Roman" panose="02020603050405020304" pitchFamily="18" charset="0"/>
                          <a:cs typeface="Times New Roman" panose="02020603050405020304" pitchFamily="18" charset="0"/>
                        </a:rPr>
                        <a:t>Foreground</a:t>
                      </a:r>
                    </a:p>
                  </a:txBody>
                  <a:tcPr/>
                </a:tc>
                <a:tc>
                  <a:txBody>
                    <a:bodyPr/>
                    <a:lstStyle/>
                    <a:p>
                      <a:r>
                        <a:rPr lang="en-IN" sz="1400" dirty="0">
                          <a:latin typeface="Times New Roman" panose="02020603050405020304" pitchFamily="18" charset="0"/>
                          <a:cs typeface="Times New Roman" panose="02020603050405020304" pitchFamily="18" charset="0"/>
                        </a:rPr>
                        <a:t>&gt;= 50%</a:t>
                      </a:r>
                    </a:p>
                  </a:txBody>
                  <a:tcPr/>
                </a:tc>
                <a:tc>
                  <a:txBody>
                    <a:bodyPr/>
                    <a:lstStyle/>
                    <a:p>
                      <a:r>
                        <a:rPr lang="en-IN" sz="1400" dirty="0">
                          <a:latin typeface="Times New Roman" panose="02020603050405020304" pitchFamily="18" charset="0"/>
                          <a:cs typeface="Times New Roman" panose="02020603050405020304" pitchFamily="18" charset="0"/>
                        </a:rPr>
                        <a:t>&gt;=50%</a:t>
                      </a:r>
                    </a:p>
                  </a:txBody>
                  <a:tcPr/>
                </a:tc>
                <a:tc>
                  <a:txBody>
                    <a:bodyPr/>
                    <a:lstStyle/>
                    <a:p>
                      <a:r>
                        <a:rPr lang="en-IN" sz="1400" dirty="0">
                          <a:latin typeface="Times New Roman" panose="02020603050405020304" pitchFamily="18" charset="0"/>
                          <a:cs typeface="Times New Roman" panose="02020603050405020304" pitchFamily="18" charset="0"/>
                        </a:rPr>
                        <a:t>40% - 70%</a:t>
                      </a:r>
                    </a:p>
                  </a:txBody>
                  <a:tcPr/>
                </a:tc>
                <a:tc>
                  <a:txBody>
                    <a:bodyPr/>
                    <a:lstStyle/>
                    <a:p>
                      <a:r>
                        <a:rPr lang="en-IN" sz="1400" dirty="0" err="1">
                          <a:latin typeface="Times New Roman" panose="02020603050405020304" pitchFamily="18" charset="0"/>
                          <a:cs typeface="Times New Roman" panose="02020603050405020304" pitchFamily="18" charset="0"/>
                        </a:rPr>
                        <a:t>Premptibility</a:t>
                      </a:r>
                      <a:r>
                        <a:rPr lang="en-IN" sz="1400" dirty="0">
                          <a:latin typeface="Times New Roman" panose="02020603050405020304" pitchFamily="18" charset="0"/>
                          <a:cs typeface="Times New Roman" panose="02020603050405020304" pitchFamily="18" charset="0"/>
                        </a:rPr>
                        <a:t>, Priority</a:t>
                      </a:r>
                    </a:p>
                  </a:txBody>
                  <a:tcPr/>
                </a:tc>
                <a:extLst>
                  <a:ext uri="{0D108BD9-81ED-4DB2-BD59-A6C34878D82A}">
                    <a16:rowId xmlns:a16="http://schemas.microsoft.com/office/drawing/2014/main" val="1854758492"/>
                  </a:ext>
                </a:extLst>
              </a:tr>
              <a:tr h="370840">
                <a:tc>
                  <a:txBody>
                    <a:bodyPr/>
                    <a:lstStyle/>
                    <a:p>
                      <a:r>
                        <a:rPr lang="en-IN" sz="1400" dirty="0">
                          <a:latin typeface="Times New Roman" panose="02020603050405020304" pitchFamily="18" charset="0"/>
                          <a:cs typeface="Times New Roman" panose="02020603050405020304" pitchFamily="18" charset="0"/>
                        </a:rPr>
                        <a:t>Background</a:t>
                      </a:r>
                    </a:p>
                  </a:txBody>
                  <a:tcPr/>
                </a:tc>
                <a:tc>
                  <a:txBody>
                    <a:bodyPr/>
                    <a:lstStyle/>
                    <a:p>
                      <a:r>
                        <a:rPr lang="en-IN" sz="1400" dirty="0">
                          <a:latin typeface="Times New Roman" panose="02020603050405020304" pitchFamily="18" charset="0"/>
                          <a:cs typeface="Times New Roman" panose="02020603050405020304" pitchFamily="18" charset="0"/>
                        </a:rPr>
                        <a:t>&lt;= 70%</a:t>
                      </a:r>
                    </a:p>
                  </a:txBody>
                  <a:tcPr/>
                </a:tc>
                <a:tc>
                  <a:txBody>
                    <a:bodyPr/>
                    <a:lstStyle/>
                    <a:p>
                      <a:r>
                        <a:rPr lang="en-IN" sz="1400" dirty="0">
                          <a:latin typeface="Times New Roman" panose="02020603050405020304" pitchFamily="18" charset="0"/>
                          <a:cs typeface="Times New Roman" panose="02020603050405020304" pitchFamily="18" charset="0"/>
                        </a:rPr>
                        <a:t>&lt;=50%</a:t>
                      </a:r>
                    </a:p>
                  </a:txBody>
                  <a:tcPr/>
                </a:tc>
                <a:tc>
                  <a:txBody>
                    <a:bodyPr/>
                    <a:lstStyle/>
                    <a:p>
                      <a:r>
                        <a:rPr lang="en-IN" sz="1400" dirty="0">
                          <a:latin typeface="Times New Roman" panose="02020603050405020304" pitchFamily="18" charset="0"/>
                          <a:cs typeface="Times New Roman" panose="02020603050405020304" pitchFamily="18" charset="0"/>
                        </a:rPr>
                        <a:t>30% - 60%</a:t>
                      </a:r>
                    </a:p>
                  </a:txBody>
                  <a:tcPr/>
                </a:tc>
                <a:tc>
                  <a:txBody>
                    <a:bodyPr/>
                    <a:lstStyle/>
                    <a:p>
                      <a:r>
                        <a:rPr lang="en-US" sz="1400" dirty="0">
                          <a:latin typeface="Times New Roman" panose="02020603050405020304" pitchFamily="18" charset="0"/>
                          <a:cs typeface="Times New Roman" panose="02020603050405020304" pitchFamily="18" charset="0"/>
                        </a:rPr>
                        <a:t>Low Priority, Long Execution Time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76563496"/>
                  </a:ext>
                </a:extLst>
              </a:tr>
            </a:tbl>
          </a:graphicData>
        </a:graphic>
      </p:graphicFrame>
    </p:spTree>
    <p:extLst>
      <p:ext uri="{BB962C8B-B14F-4D97-AF65-F5344CB8AC3E}">
        <p14:creationId xmlns:p14="http://schemas.microsoft.com/office/powerpoint/2010/main" val="2509248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C9AB9-2C9F-4AA3-85D1-752E0C4F8D2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5C4B4C-346C-68CF-ECD5-F7DB885485BD}"/>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sz="1400"/>
          </a:p>
        </p:txBody>
      </p:sp>
      <p:sp>
        <p:nvSpPr>
          <p:cNvPr id="3" name="Text Box 34">
            <a:extLst>
              <a:ext uri="{FF2B5EF4-FFF2-40B4-BE49-F238E27FC236}">
                <a16:creationId xmlns:a16="http://schemas.microsoft.com/office/drawing/2014/main" id="{8136B1F0-7D9E-4949-0DFA-7DFB9F38A09B}"/>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b="1" dirty="0">
                <a:solidFill>
                  <a:srgbClr val="FF0000"/>
                </a:solidFill>
                <a:latin typeface="Times New Roman" panose="02020603050405020304" pitchFamily="18" charset="0"/>
                <a:ea typeface="Trebuchet MS"/>
                <a:cs typeface="Times New Roman" panose="02020603050405020304" pitchFamily="18" charset="0"/>
                <a:sym typeface="Trebuchet MS"/>
              </a:rPr>
              <a:t>Expected Deliverables - 3</a:t>
            </a:r>
            <a:endParaRPr lang="en-US" sz="2400"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EFB42AC6-2811-C82A-3920-B166BD311524}"/>
              </a:ext>
            </a:extLst>
          </p:cNvPr>
          <p:cNvGraphicFramePr>
            <a:graphicFrameLocks noGrp="1"/>
          </p:cNvGraphicFramePr>
          <p:nvPr>
            <p:extLst>
              <p:ext uri="{D42A27DB-BD31-4B8C-83A1-F6EECF244321}">
                <p14:modId xmlns:p14="http://schemas.microsoft.com/office/powerpoint/2010/main" val="3487694603"/>
              </p:ext>
            </p:extLst>
          </p:nvPr>
        </p:nvGraphicFramePr>
        <p:xfrm>
          <a:off x="1066800" y="2209800"/>
          <a:ext cx="10210800" cy="2696385"/>
        </p:xfrm>
        <a:graphic>
          <a:graphicData uri="http://schemas.openxmlformats.org/drawingml/2006/table">
            <a:tbl>
              <a:tblPr firstRow="1" bandRow="1">
                <a:tableStyleId>{5C22544A-7EE6-4342-B048-85BDC9FD1C3A}</a:tableStyleId>
              </a:tblPr>
              <a:tblGrid>
                <a:gridCol w="3403600">
                  <a:extLst>
                    <a:ext uri="{9D8B030D-6E8A-4147-A177-3AD203B41FA5}">
                      <a16:colId xmlns:a16="http://schemas.microsoft.com/office/drawing/2014/main" val="266919097"/>
                    </a:ext>
                  </a:extLst>
                </a:gridCol>
                <a:gridCol w="3403600">
                  <a:extLst>
                    <a:ext uri="{9D8B030D-6E8A-4147-A177-3AD203B41FA5}">
                      <a16:colId xmlns:a16="http://schemas.microsoft.com/office/drawing/2014/main" val="1649338395"/>
                    </a:ext>
                  </a:extLst>
                </a:gridCol>
                <a:gridCol w="3403600">
                  <a:extLst>
                    <a:ext uri="{9D8B030D-6E8A-4147-A177-3AD203B41FA5}">
                      <a16:colId xmlns:a16="http://schemas.microsoft.com/office/drawing/2014/main" val="630187202"/>
                    </a:ext>
                  </a:extLst>
                </a:gridCol>
              </a:tblGrid>
              <a:tr h="539277">
                <a:tc>
                  <a:txBody>
                    <a:bodyPr/>
                    <a:lstStyle/>
                    <a:p>
                      <a:pPr algn="ctr"/>
                      <a:r>
                        <a:rPr lang="en-IN" sz="1600" dirty="0">
                          <a:latin typeface="Times New Roman" panose="02020603050405020304" pitchFamily="18" charset="0"/>
                          <a:cs typeface="Times New Roman" panose="02020603050405020304" pitchFamily="18" charset="0"/>
                        </a:rPr>
                        <a:t>Name</a:t>
                      </a:r>
                    </a:p>
                  </a:txBody>
                  <a:tcPr/>
                </a:tc>
                <a:tc>
                  <a:txBody>
                    <a:bodyPr/>
                    <a:lstStyle/>
                    <a:p>
                      <a:pPr algn="ctr"/>
                      <a:r>
                        <a:rPr lang="en-IN" sz="1600" dirty="0">
                          <a:latin typeface="Times New Roman" panose="02020603050405020304" pitchFamily="18" charset="0"/>
                          <a:cs typeface="Times New Roman" panose="02020603050405020304" pitchFamily="18" charset="0"/>
                        </a:rPr>
                        <a:t>Task Assigned</a:t>
                      </a:r>
                    </a:p>
                  </a:txBody>
                  <a:tcPr/>
                </a:tc>
                <a:tc>
                  <a:txBody>
                    <a:bodyPr/>
                    <a:lstStyle/>
                    <a:p>
                      <a:pPr algn="ctr"/>
                      <a:r>
                        <a:rPr lang="en-IN" dirty="0">
                          <a:latin typeface="Times New Roman" panose="02020603050405020304" pitchFamily="18" charset="0"/>
                          <a:cs typeface="Times New Roman" panose="02020603050405020304" pitchFamily="18" charset="0"/>
                        </a:rPr>
                        <a:t>Development</a:t>
                      </a:r>
                    </a:p>
                  </a:txBody>
                  <a:tcPr/>
                </a:tc>
                <a:extLst>
                  <a:ext uri="{0D108BD9-81ED-4DB2-BD59-A6C34878D82A}">
                    <a16:rowId xmlns:a16="http://schemas.microsoft.com/office/drawing/2014/main" val="3700559899"/>
                  </a:ext>
                </a:extLst>
              </a:tr>
              <a:tr h="539277">
                <a:tc>
                  <a:txBody>
                    <a:bodyPr/>
                    <a:lstStyle/>
                    <a:p>
                      <a:r>
                        <a:rPr lang="en-IN" sz="1600" dirty="0" err="1">
                          <a:latin typeface="Times New Roman" panose="02020603050405020304" pitchFamily="18" charset="0"/>
                          <a:cs typeface="Times New Roman" panose="02020603050405020304" pitchFamily="18" charset="0"/>
                        </a:rPr>
                        <a:t>Kurumeti</a:t>
                      </a:r>
                      <a:r>
                        <a:rPr lang="en-IN" sz="1600" dirty="0">
                          <a:latin typeface="Times New Roman" panose="02020603050405020304" pitchFamily="18" charset="0"/>
                          <a:cs typeface="Times New Roman" panose="02020603050405020304" pitchFamily="18" charset="0"/>
                        </a:rPr>
                        <a:t> Prajval ( PES2UG22CS274 )</a:t>
                      </a:r>
                    </a:p>
                  </a:txBody>
                  <a:tcPr/>
                </a:tc>
                <a:tc>
                  <a:txBody>
                    <a:bodyPr/>
                    <a:lstStyle/>
                    <a:p>
                      <a:endParaRPr lang="en-IN" sz="1600" dirty="0">
                        <a:latin typeface="Times New Roman" panose="02020603050405020304" pitchFamily="18" charset="0"/>
                        <a:cs typeface="Times New Roman" panose="02020603050405020304" pitchFamily="18" charset="0"/>
                      </a:endParaRPr>
                    </a:p>
                  </a:txBody>
                  <a:tcPr/>
                </a:tc>
                <a:tc>
                  <a:txBody>
                    <a:bodyPr/>
                    <a:lstStyle/>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9804451"/>
                  </a:ext>
                </a:extLst>
              </a:tr>
              <a:tr h="539277">
                <a:tc>
                  <a:txBody>
                    <a:bodyPr/>
                    <a:lstStyle/>
                    <a:p>
                      <a:r>
                        <a:rPr lang="en-IN" sz="1600" dirty="0">
                          <a:latin typeface="Times New Roman" panose="02020603050405020304" pitchFamily="18" charset="0"/>
                          <a:cs typeface="Times New Roman" panose="02020603050405020304" pitchFamily="18" charset="0"/>
                        </a:rPr>
                        <a:t>Manoj Kumar KS ( PES2UG22CS302)</a:t>
                      </a:r>
                    </a:p>
                  </a:txBody>
                  <a:tcPr/>
                </a:tc>
                <a:tc>
                  <a:txBody>
                    <a:bodyPr/>
                    <a:lstStyle/>
                    <a:p>
                      <a:endParaRPr lang="en-IN" sz="1600" dirty="0">
                        <a:latin typeface="Times New Roman" panose="02020603050405020304" pitchFamily="18" charset="0"/>
                        <a:cs typeface="Times New Roman" panose="02020603050405020304" pitchFamily="18" charset="0"/>
                      </a:endParaRPr>
                    </a:p>
                  </a:txBody>
                  <a:tcPr/>
                </a:tc>
                <a:tc>
                  <a:txBody>
                    <a:bodyPr/>
                    <a:lstStyle/>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80046131"/>
                  </a:ext>
                </a:extLst>
              </a:tr>
              <a:tr h="5392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Dhanushree K ( PES2UG22CS176 )</a:t>
                      </a:r>
                    </a:p>
                  </a:txBody>
                  <a:tcPr/>
                </a:tc>
                <a:tc>
                  <a:txBody>
                    <a:bodyPr/>
                    <a:lstStyle/>
                    <a:p>
                      <a:endParaRPr lang="en-IN" sz="1600" dirty="0">
                        <a:latin typeface="Times New Roman" panose="02020603050405020304" pitchFamily="18" charset="0"/>
                        <a:cs typeface="Times New Roman" panose="02020603050405020304" pitchFamily="18" charset="0"/>
                      </a:endParaRPr>
                    </a:p>
                  </a:txBody>
                  <a:tcPr/>
                </a:tc>
                <a:tc>
                  <a:txBody>
                    <a:bodyPr/>
                    <a:lstStyle/>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49011580"/>
                  </a:ext>
                </a:extLst>
              </a:tr>
              <a:tr h="539277">
                <a:tc>
                  <a:txBody>
                    <a:bodyPr/>
                    <a:lstStyle/>
                    <a:p>
                      <a:r>
                        <a:rPr lang="en-IN" sz="1600" dirty="0" err="1">
                          <a:latin typeface="Times New Roman" panose="02020603050405020304" pitchFamily="18" charset="0"/>
                          <a:cs typeface="Times New Roman" panose="02020603050405020304" pitchFamily="18" charset="0"/>
                        </a:rPr>
                        <a:t>Nagaratna</a:t>
                      </a:r>
                      <a:r>
                        <a:rPr lang="en-IN" sz="1600" dirty="0">
                          <a:latin typeface="Times New Roman" panose="02020603050405020304" pitchFamily="18" charset="0"/>
                          <a:cs typeface="Times New Roman" panose="02020603050405020304" pitchFamily="18" charset="0"/>
                        </a:rPr>
                        <a:t> ( PES2UG22CS331 )</a:t>
                      </a:r>
                    </a:p>
                  </a:txBody>
                  <a:tcPr/>
                </a:tc>
                <a:tc>
                  <a:txBody>
                    <a:bodyPr/>
                    <a:lstStyle/>
                    <a:p>
                      <a:endParaRPr lang="en-IN" sz="1600" dirty="0">
                        <a:latin typeface="Times New Roman" panose="02020603050405020304" pitchFamily="18" charset="0"/>
                        <a:cs typeface="Times New Roman" panose="02020603050405020304" pitchFamily="18" charset="0"/>
                      </a:endParaRPr>
                    </a:p>
                  </a:txBody>
                  <a:tcPr/>
                </a:tc>
                <a:tc>
                  <a:txBody>
                    <a:bodyPr/>
                    <a:lstStyle/>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55848773"/>
                  </a:ext>
                </a:extLst>
              </a:tr>
            </a:tbl>
          </a:graphicData>
        </a:graphic>
      </p:graphicFrame>
    </p:spTree>
    <p:extLst>
      <p:ext uri="{BB962C8B-B14F-4D97-AF65-F5344CB8AC3E}">
        <p14:creationId xmlns:p14="http://schemas.microsoft.com/office/powerpoint/2010/main" val="1306001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dirty="0">
                <a:solidFill>
                  <a:srgbClr val="FF0000"/>
                </a:solidFill>
                <a:latin typeface="Trebuchet MS"/>
                <a:ea typeface="Trebuchet MS"/>
                <a:cs typeface="Trebuchet MS"/>
                <a:sym typeface="Trebuchet MS"/>
              </a:rPr>
              <a:t>Expected Deliverables</a:t>
            </a:r>
            <a:endParaRPr lang="en-US" sz="2400" dirty="0"/>
          </a:p>
        </p:txBody>
      </p:sp>
      <p:sp>
        <p:nvSpPr>
          <p:cNvPr id="5" name="TextBox 4">
            <a:extLst>
              <a:ext uri="{FF2B5EF4-FFF2-40B4-BE49-F238E27FC236}">
                <a16:creationId xmlns:a16="http://schemas.microsoft.com/office/drawing/2014/main" id="{EBB10B19-4157-41B3-85CA-452455B519DD}"/>
              </a:ext>
            </a:extLst>
          </p:cNvPr>
          <p:cNvSpPr txBox="1"/>
          <p:nvPr/>
        </p:nvSpPr>
        <p:spPr>
          <a:xfrm>
            <a:off x="1828800" y="1752600"/>
            <a:ext cx="9067800" cy="3477875"/>
          </a:xfrm>
          <a:prstGeom prst="rect">
            <a:avLst/>
          </a:prstGeom>
          <a:noFill/>
        </p:spPr>
        <p:txBody>
          <a:bodyPr wrap="square">
            <a:spAutoFit/>
          </a:bodyPr>
          <a:lstStyle/>
          <a:p>
            <a:pPr marL="457200" indent="-457200" algn="just">
              <a:spcBef>
                <a:spcPts val="0"/>
              </a:spcBef>
              <a:spcAft>
                <a:spcPts val="0"/>
              </a:spcAft>
            </a:pPr>
            <a:r>
              <a:rPr lang="en-US" sz="2400" dirty="0">
                <a:solidFill>
                  <a:srgbClr val="0033CC"/>
                </a:solidFill>
                <a:latin typeface="Trebuchet MS"/>
                <a:ea typeface="Trebuchet MS"/>
                <a:cs typeface="Trebuchet MS"/>
                <a:sym typeface="Trebuchet MS"/>
              </a:rPr>
              <a:t>        3. Tabulate the individual contribution of the team  </a:t>
            </a:r>
          </a:p>
          <a:p>
            <a:pPr marL="457200" indent="-457200" algn="just">
              <a:spcBef>
                <a:spcPts val="0"/>
              </a:spcBef>
              <a:spcAft>
                <a:spcPts val="0"/>
              </a:spcAft>
            </a:pPr>
            <a:r>
              <a:rPr lang="en-US" sz="2400" dirty="0">
                <a:solidFill>
                  <a:srgbClr val="0033CC"/>
                </a:solidFill>
                <a:latin typeface="Trebuchet MS"/>
                <a:ea typeface="Trebuchet MS"/>
                <a:cs typeface="Trebuchet MS"/>
                <a:sym typeface="Trebuchet MS"/>
              </a:rPr>
              <a:t>            members with the following,</a:t>
            </a:r>
          </a:p>
          <a:p>
            <a:pPr marL="1828800" lvl="3" indent="-457200" algn="just">
              <a:spcBef>
                <a:spcPts val="0"/>
              </a:spcBef>
              <a:spcAft>
                <a:spcPts val="0"/>
              </a:spcAft>
              <a:buFont typeface="+mj-lt"/>
              <a:buAutoNum type="alphaLcParenR"/>
            </a:pPr>
            <a:r>
              <a:rPr lang="en-US" sz="2400" dirty="0">
                <a:solidFill>
                  <a:srgbClr val="0033CC"/>
                </a:solidFill>
                <a:latin typeface="Trebuchet MS"/>
                <a:ea typeface="Trebuchet MS"/>
                <a:cs typeface="Trebuchet MS"/>
                <a:sym typeface="Trebuchet MS"/>
              </a:rPr>
              <a:t>Tasks/Modules assigned</a:t>
            </a:r>
          </a:p>
          <a:p>
            <a:pPr marL="1828800" lvl="3" indent="-457200" algn="just">
              <a:spcBef>
                <a:spcPts val="0"/>
              </a:spcBef>
              <a:spcAft>
                <a:spcPts val="0"/>
              </a:spcAft>
              <a:buFont typeface="+mj-lt"/>
              <a:buAutoNum type="alphaLcParenR"/>
            </a:pPr>
            <a:r>
              <a:rPr lang="en-US" sz="2400" dirty="0">
                <a:solidFill>
                  <a:srgbClr val="0033CC"/>
                </a:solidFill>
                <a:latin typeface="Trebuchet MS"/>
                <a:ea typeface="Trebuchet MS"/>
                <a:cs typeface="Trebuchet MS"/>
                <a:sym typeface="Trebuchet MS"/>
              </a:rPr>
              <a:t>Development (no. of lines of code &amp; time spent)</a:t>
            </a:r>
          </a:p>
          <a:p>
            <a:pPr marL="1371600" lvl="2" indent="-457200" algn="just">
              <a:spcBef>
                <a:spcPts val="0"/>
              </a:spcBef>
              <a:spcAft>
                <a:spcPts val="0"/>
              </a:spcAft>
            </a:pPr>
            <a:endParaRPr lang="en-US" sz="2400" dirty="0">
              <a:solidFill>
                <a:srgbClr val="0033CC"/>
              </a:solidFill>
              <a:latin typeface="Trebuchet MS"/>
              <a:ea typeface="Trebuchet MS"/>
              <a:cs typeface="Trebuchet MS"/>
              <a:sym typeface="Trebuchet MS"/>
            </a:endParaRPr>
          </a:p>
          <a:p>
            <a:pPr marL="1371600" lvl="2" indent="-457200" algn="just">
              <a:spcBef>
                <a:spcPts val="0"/>
              </a:spcBef>
              <a:spcAft>
                <a:spcPts val="0"/>
              </a:spcAft>
            </a:pPr>
            <a:r>
              <a:rPr lang="en-US" sz="2400" dirty="0">
                <a:solidFill>
                  <a:srgbClr val="0033CC"/>
                </a:solidFill>
                <a:latin typeface="Trebuchet MS"/>
                <a:ea typeface="Trebuchet MS"/>
                <a:cs typeface="Trebuchet MS"/>
                <a:sym typeface="Trebuchet MS"/>
              </a:rPr>
              <a:t>4. List the SDK / API / Model / Jar/ DLL / Tools / Technologies used – Open-Source/ Licensed.</a:t>
            </a:r>
          </a:p>
          <a:p>
            <a:pPr marL="1371600" lvl="2" indent="-457200" algn="just">
              <a:spcBef>
                <a:spcPts val="0"/>
              </a:spcBef>
              <a:spcAft>
                <a:spcPts val="0"/>
              </a:spcAft>
            </a:pPr>
            <a:endParaRPr lang="en-US" sz="2400" dirty="0">
              <a:solidFill>
                <a:srgbClr val="0033CC"/>
              </a:solidFill>
              <a:latin typeface="Trebuchet MS"/>
              <a:ea typeface="Trebuchet MS"/>
              <a:cs typeface="Trebuchet MS"/>
              <a:sym typeface="Trebuchet MS"/>
            </a:endParaRPr>
          </a:p>
          <a:p>
            <a:pPr marL="1371600" lvl="2" indent="-457200" algn="just">
              <a:spcBef>
                <a:spcPts val="0"/>
              </a:spcBef>
              <a:spcAft>
                <a:spcPts val="0"/>
              </a:spcAft>
            </a:pPr>
            <a:r>
              <a:rPr lang="en-US" sz="2400" dirty="0">
                <a:solidFill>
                  <a:srgbClr val="0033CC"/>
                </a:solidFill>
                <a:latin typeface="Trebuchet MS"/>
                <a:ea typeface="Trebuchet MS"/>
                <a:cs typeface="Trebuchet MS"/>
                <a:sym typeface="Trebuchet MS"/>
              </a:rPr>
              <a:t>5. 10% implementation of project</a:t>
            </a:r>
            <a:endParaRPr lang="en-US" sz="2800" dirty="0">
              <a:solidFill>
                <a:srgbClr val="FF0000"/>
              </a:solidFill>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03904-7797-12A2-9C2C-8485F20F547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A6AEFB8-1193-B167-E7D1-A4622529D1F4}"/>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a:extLst>
              <a:ext uri="{FF2B5EF4-FFF2-40B4-BE49-F238E27FC236}">
                <a16:creationId xmlns:a16="http://schemas.microsoft.com/office/drawing/2014/main" id="{5E657069-1F97-CDC1-AAFF-6A4B11C3D3EE}"/>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b="1" dirty="0">
                <a:solidFill>
                  <a:srgbClr val="FF0000"/>
                </a:solidFill>
                <a:latin typeface="Times New Roman" panose="02020603050405020304" pitchFamily="18" charset="0"/>
                <a:ea typeface="Trebuchet MS"/>
                <a:cs typeface="Times New Roman" panose="02020603050405020304" pitchFamily="18" charset="0"/>
                <a:sym typeface="Trebuchet MS"/>
              </a:rPr>
              <a:t>Expected Deliverables - 4</a:t>
            </a:r>
            <a:endParaRPr lang="en-US" sz="2400" b="1" dirty="0">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A8510FA2-1F96-4223-1758-BE672A04FA21}"/>
              </a:ext>
            </a:extLst>
          </p:cNvPr>
          <p:cNvGrpSpPr/>
          <p:nvPr/>
        </p:nvGrpSpPr>
        <p:grpSpPr>
          <a:xfrm>
            <a:off x="1600200" y="2193185"/>
            <a:ext cx="9067800" cy="2563963"/>
            <a:chOff x="1828800" y="1752600"/>
            <a:chExt cx="9067800" cy="2563963"/>
          </a:xfrm>
        </p:grpSpPr>
        <p:sp>
          <p:nvSpPr>
            <p:cNvPr id="5" name="TextBox 4">
              <a:extLst>
                <a:ext uri="{FF2B5EF4-FFF2-40B4-BE49-F238E27FC236}">
                  <a16:creationId xmlns:a16="http://schemas.microsoft.com/office/drawing/2014/main" id="{8E01336B-9047-51E3-026D-AF4B31E1007B}"/>
                </a:ext>
              </a:extLst>
            </p:cNvPr>
            <p:cNvSpPr txBox="1"/>
            <p:nvPr/>
          </p:nvSpPr>
          <p:spPr>
            <a:xfrm>
              <a:off x="1828800" y="1752600"/>
              <a:ext cx="9067800" cy="1477328"/>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Libraries Used</a:t>
              </a:r>
            </a:p>
            <a:p>
              <a:pPr marL="742950" lvl="1" indent="-285750">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Pandas</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Library </a:t>
              </a:r>
              <a:r>
                <a:rPr lang="en-IN" dirty="0">
                  <a:latin typeface="Times New Roman" panose="02020603050405020304" pitchFamily="18" charset="0"/>
                  <a:cs typeface="Times New Roman" panose="02020603050405020304" pitchFamily="18" charset="0"/>
                </a:rPr>
                <a:t>– Data manipulation and analysis.</a:t>
              </a:r>
            </a:p>
            <a:p>
              <a:pPr marL="742950" lvl="1" indent="-285750">
                <a:buFont typeface="Wingdings" panose="05000000000000000000" pitchFamily="2" charset="2"/>
                <a:buChar char="§"/>
              </a:pPr>
              <a:r>
                <a:rPr lang="en-IN" b="1" dirty="0" err="1">
                  <a:latin typeface="Times New Roman" panose="02020603050405020304" pitchFamily="18" charset="0"/>
                  <a:cs typeface="Times New Roman" panose="02020603050405020304" pitchFamily="18" charset="0"/>
                </a:rPr>
                <a:t>Numpy</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Library </a:t>
              </a:r>
              <a:r>
                <a:rPr lang="en-IN" dirty="0">
                  <a:latin typeface="Times New Roman" panose="02020603050405020304" pitchFamily="18" charset="0"/>
                  <a:cs typeface="Times New Roman" panose="02020603050405020304" pitchFamily="18" charset="0"/>
                </a:rPr>
                <a:t>– Numerical computations and matrix operations.</a:t>
              </a:r>
            </a:p>
            <a:p>
              <a:pPr marL="742950" lvl="1" indent="-285750">
                <a:buFont typeface="Wingdings" panose="05000000000000000000" pitchFamily="2" charset="2"/>
                <a:buChar char="§"/>
              </a:pPr>
              <a:r>
                <a:rPr lang="en-IN" b="1" dirty="0" err="1">
                  <a:latin typeface="Times New Roman" panose="02020603050405020304" pitchFamily="18" charset="0"/>
                  <a:cs typeface="Times New Roman" panose="02020603050405020304" pitchFamily="18" charset="0"/>
                </a:rPr>
                <a:t>Sklearn</a:t>
              </a:r>
              <a:r>
                <a:rPr lang="en-IN" b="1" dirty="0">
                  <a:latin typeface="Times New Roman" panose="02020603050405020304" pitchFamily="18" charset="0"/>
                  <a:cs typeface="Times New Roman" panose="02020603050405020304" pitchFamily="18" charset="0"/>
                </a:rPr>
                <a:t> Library </a:t>
              </a:r>
              <a:r>
                <a:rPr lang="en-IN" dirty="0">
                  <a:latin typeface="Times New Roman" panose="02020603050405020304" pitchFamily="18" charset="0"/>
                  <a:cs typeface="Times New Roman" panose="02020603050405020304" pitchFamily="18" charset="0"/>
                </a:rPr>
                <a:t>– Machine learning toolkit.</a:t>
              </a:r>
            </a:p>
            <a:p>
              <a:pPr marL="742950" lvl="1" indent="-285750">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SMOTE</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Library </a:t>
              </a:r>
              <a:r>
                <a:rPr lang="en-IN" dirty="0">
                  <a:latin typeface="Times New Roman" panose="02020603050405020304" pitchFamily="18" charset="0"/>
                  <a:cs typeface="Times New Roman" panose="02020603050405020304" pitchFamily="18" charset="0"/>
                </a:rPr>
                <a:t>– For treating the data in balance.</a:t>
              </a:r>
            </a:p>
          </p:txBody>
        </p:sp>
        <p:sp>
          <p:nvSpPr>
            <p:cNvPr id="4" name="TextBox 3">
              <a:extLst>
                <a:ext uri="{FF2B5EF4-FFF2-40B4-BE49-F238E27FC236}">
                  <a16:creationId xmlns:a16="http://schemas.microsoft.com/office/drawing/2014/main" id="{CF4A8826-610B-F0E1-12CD-BD431A2567BE}"/>
                </a:ext>
              </a:extLst>
            </p:cNvPr>
            <p:cNvSpPr txBox="1"/>
            <p:nvPr/>
          </p:nvSpPr>
          <p:spPr>
            <a:xfrm>
              <a:off x="2057400" y="3393233"/>
              <a:ext cx="8161209" cy="923330"/>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Models Used</a:t>
              </a:r>
            </a:p>
            <a:p>
              <a:pPr marL="742950" lvl="1" indent="-285750">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GAN model </a:t>
              </a:r>
              <a:r>
                <a:rPr lang="en-IN" dirty="0">
                  <a:latin typeface="Times New Roman" panose="02020603050405020304" pitchFamily="18" charset="0"/>
                  <a:cs typeface="Times New Roman" panose="02020603050405020304" pitchFamily="18" charset="0"/>
                </a:rPr>
                <a:t>– For dataset generation using the existing dataset.</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Random forest, SVM and many more models used for predicting the task type</a:t>
              </a:r>
            </a:p>
          </p:txBody>
        </p:sp>
      </p:grpSp>
    </p:spTree>
    <p:extLst>
      <p:ext uri="{BB962C8B-B14F-4D97-AF65-F5344CB8AC3E}">
        <p14:creationId xmlns:p14="http://schemas.microsoft.com/office/powerpoint/2010/main" val="500178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38332-F99D-DDE6-E6E3-94EE6414FD7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D69130B-347E-1BA7-C81D-B8D9462F4F40}"/>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a:extLst>
              <a:ext uri="{FF2B5EF4-FFF2-40B4-BE49-F238E27FC236}">
                <a16:creationId xmlns:a16="http://schemas.microsoft.com/office/drawing/2014/main" id="{F9A6EBB7-A70E-5E66-31B0-D5470550026D}"/>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b="1" dirty="0">
                <a:solidFill>
                  <a:srgbClr val="FF0000"/>
                </a:solidFill>
                <a:latin typeface="Times New Roman" panose="02020603050405020304" pitchFamily="18" charset="0"/>
                <a:ea typeface="Trebuchet MS"/>
                <a:cs typeface="Times New Roman" panose="02020603050405020304" pitchFamily="18" charset="0"/>
                <a:sym typeface="Trebuchet MS"/>
              </a:rPr>
              <a:t>Expected Deliverables - 5</a:t>
            </a:r>
            <a:endParaRPr lang="en-US"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CDBAEEC-4E18-236F-CD40-5628339252F6}"/>
              </a:ext>
            </a:extLst>
          </p:cNvPr>
          <p:cNvSpPr txBox="1"/>
          <p:nvPr/>
        </p:nvSpPr>
        <p:spPr>
          <a:xfrm>
            <a:off x="1219200" y="1951088"/>
            <a:ext cx="9906000" cy="313932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We have started implementing a task classification system using models like Random Forest, SVM, and others. Our focus is on training and evaluating these model’s using metrics like accuracy and precision. We are refining features, tuning hyperparameters, and analyzing misclassifications to improve performance. Through iterative testing, we aim to select the most effective model for accurate and efficient classification. Below are the Accuracy results of models we trained till now: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Random forest: </a:t>
            </a:r>
            <a:r>
              <a:rPr lang="en-US" dirty="0">
                <a:latin typeface="Times New Roman" panose="02020603050405020304" pitchFamily="18" charset="0"/>
                <a:cs typeface="Times New Roman" panose="02020603050405020304" pitchFamily="18" charset="0"/>
              </a:rPr>
              <a:t>95.678% </a:t>
            </a:r>
          </a:p>
          <a:p>
            <a:pPr marL="285750" indent="-28575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SVM: </a:t>
            </a:r>
            <a:r>
              <a:rPr lang="en-US" dirty="0">
                <a:latin typeface="Times New Roman" panose="02020603050405020304" pitchFamily="18" charset="0"/>
                <a:cs typeface="Times New Roman" panose="02020603050405020304" pitchFamily="18" charset="0"/>
              </a:rPr>
              <a:t>86.789%</a:t>
            </a:r>
          </a:p>
          <a:p>
            <a:pPr marL="285750" indent="-285750">
              <a:buFont typeface="Wingdings" panose="05000000000000000000" pitchFamily="2" charset="2"/>
              <a:buChar char="§"/>
            </a:pPr>
            <a:r>
              <a:rPr lang="en-US" b="1" dirty="0" err="1">
                <a:latin typeface="Times New Roman" panose="02020603050405020304" pitchFamily="18" charset="0"/>
                <a:cs typeface="Times New Roman" panose="02020603050405020304" pitchFamily="18" charset="0"/>
              </a:rPr>
              <a:t>XgBoost</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92.49%</a:t>
            </a:r>
          </a:p>
          <a:p>
            <a:pPr marL="285750" indent="-28575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KNN: </a:t>
            </a:r>
            <a:r>
              <a:rPr lang="en-US" dirty="0">
                <a:latin typeface="Times New Roman" panose="02020603050405020304" pitchFamily="18" charset="0"/>
                <a:cs typeface="Times New Roman" panose="02020603050405020304" pitchFamily="18" charset="0"/>
              </a:rPr>
              <a:t>86%</a:t>
            </a:r>
          </a:p>
          <a:p>
            <a:pPr marL="285750" indent="-285750">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MLP: </a:t>
            </a:r>
            <a:r>
              <a:rPr lang="en-US" dirty="0">
                <a:latin typeface="Times New Roman" panose="02020603050405020304" pitchFamily="18" charset="0"/>
                <a:cs typeface="Times New Roman" panose="02020603050405020304" pitchFamily="18" charset="0"/>
              </a:rPr>
              <a:t>91.83%</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5118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346041"/>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2895600" y="935290"/>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References</a:t>
            </a:r>
          </a:p>
        </p:txBody>
      </p:sp>
      <p:sp>
        <p:nvSpPr>
          <p:cNvPr id="6" name="Content Placeholder 2"/>
          <p:cNvSpPr txBox="1">
            <a:spLocks/>
          </p:cNvSpPr>
          <p:nvPr/>
        </p:nvSpPr>
        <p:spPr>
          <a:xfrm>
            <a:off x="1828800" y="1828800"/>
            <a:ext cx="8458200" cy="4724400"/>
          </a:xfrm>
          <a:prstGeom prst="rect">
            <a:avLst/>
          </a:prstGeom>
        </p:spPr>
        <p:txBody>
          <a:bodyPr/>
          <a:lstStyle/>
          <a:p>
            <a:pPr marL="342900" indent="-342900" eaLnBrk="0" hangingPunct="0">
              <a:spcBef>
                <a:spcPct val="20000"/>
              </a:spcBef>
              <a:defRPr/>
            </a:pPr>
            <a:endParaRPr lang="en-IN" sz="1100" kern="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06690C7C-F060-F141-CE1E-1F43765DFF7D}"/>
              </a:ext>
            </a:extLst>
          </p:cNvPr>
          <p:cNvSpPr>
            <a:spLocks noChangeArrowheads="1"/>
          </p:cNvSpPr>
          <p:nvPr/>
        </p:nvSpPr>
        <p:spPr bwMode="auto">
          <a:xfrm>
            <a:off x="983432" y="1630361"/>
            <a:ext cx="5328592"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Hongjiu</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Lu,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ELF: From the Programmer’s Perspective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Technical Report, NYNEX Science and Technology, 500 Westchester Avenue, White Plains, NY 10604, USA, May 1995.</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Aivazian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Tigran,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Linux Kernel 2.4 Internals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Linux Documentation Project, August 2002.</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Maurice Bach,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Design of the Unix Operating System</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Pearson Education Asia, pp. 159-170, 2002.</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Fredrik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Vraalsen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Contracts: Predicting and Monitoring Grid Application Behavior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Proceedings of the 2nd International Workshop on Grid Computing</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November 2001.</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Richard Gibbons,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Historical Application Profiler for Use by Parallel Schedulers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Lecture Notes on Computer Science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Volume 1297, pp. 58-75, 1997.</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Hyok</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-Sung Choi and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Hee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-Chul Yun,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Context Switching and IPC Performance Comparison between </a:t>
            </a:r>
            <a:r>
              <a:rPr kumimoji="0" lang="en-US" altLang="en-US" sz="11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uClinux</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Linux on the ARM9-Based Processor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Linux in Embedded Applications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January 2005. [Online]. .</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Warren Smith, Valerie Taylor, and Ian Foster,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Predicting Application Run Times Using Historical Information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Job Scheduling Strategies for Parallel Processing</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IPPS/SPDP'98 Workshop, March 1998.</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Kishore Kumar P. and Atul Negi,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Characterizing Process Execution </a:t>
            </a:r>
            <a:r>
              <a:rPr kumimoji="0" lang="en-US" altLang="en-US" sz="11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Machine Learning Techniques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t>
            </a:r>
            <a:r>
              <a:rPr kumimoji="0" lang="en-US" altLang="en-US" sz="11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DpROM</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Workshop Proceedings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HiPC</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2004 International Conference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December 2004.</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9597157-BC6C-C72F-9276-8310A5245824}"/>
              </a:ext>
            </a:extLst>
          </p:cNvPr>
          <p:cNvSpPr txBox="1"/>
          <p:nvPr/>
        </p:nvSpPr>
        <p:spPr>
          <a:xfrm>
            <a:off x="6456040" y="1633201"/>
            <a:ext cx="4464496" cy="3477875"/>
          </a:xfrm>
          <a:prstGeom prst="rect">
            <a:avLst/>
          </a:prstGeom>
          <a:noFill/>
        </p:spPr>
        <p:txBody>
          <a:bodyPr wrap="square" rtlCol="0">
            <a:spAutoFit/>
          </a:bodyPr>
          <a:lstStyle/>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S.R. Garner,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WEKA: The Waikato Environment for Knowledge Analysis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Proceedings of the New Zealand Computer Science Research Students Conference</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57-64, 1995.</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Surkanya</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Suranauwarat</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Hide Taniguchi,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Design, Implementation, and Initial Evaluation of an Advanced Knowledge-Based Process Scheduler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ACM SIGOPS Operating Systems Review</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Volume 35, pp. 61-81, October 2001.</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Mark A. Hall,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Correlation-Based Feature Selection for Machine Learning</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Master's Thesis,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Department of Computer Science, University of Waikato</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7-9, 12-14, April 1999.</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Andrew Marks,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Dynamically Adaptive CPU Scheduler</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Master's Thesis,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Department of Computer Science, Santa Clara University</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5-9, June 2003.</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Robert Love,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Linux Kernel Development</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1st ed.,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Pearson Education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2004.</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Daniel P. Bovet and Marco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Cesati</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Understanding the Linux Kernel</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2nd ed.,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O’Reilly &amp; Associates</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December 2002.</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Tom Mitchell,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1st ed.,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McGraw-Hill International Edition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52-75, 154-183, 230-244, 1997.</a:t>
            </a:r>
          </a:p>
          <a:p>
            <a:pPr marL="228600" marR="0" lvl="0" indent="-2286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 Duda and P.E. Hart,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Classification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Wiley</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New York, 1973.</a:t>
            </a:r>
            <a:endParaRPr lang="en-IN" sz="1100" dirty="0"/>
          </a:p>
        </p:txBody>
      </p:sp>
    </p:spTree>
    <p:extLst>
      <p:ext uri="{BB962C8B-B14F-4D97-AF65-F5344CB8AC3E}">
        <p14:creationId xmlns:p14="http://schemas.microsoft.com/office/powerpoint/2010/main" val="3902358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19736" y="2828835"/>
            <a:ext cx="4348883" cy="1200329"/>
          </a:xfrm>
          <a:prstGeom prst="rect">
            <a:avLst/>
          </a:prstGeom>
        </p:spPr>
        <p:txBody>
          <a:bodyPr wrap="none">
            <a:spAutoFit/>
          </a:bodyPr>
          <a:lstStyle/>
          <a:p>
            <a:pPr algn="r"/>
            <a:r>
              <a:rPr lang="en-US" sz="7200" b="1" i="1" dirty="0">
                <a:solidFill>
                  <a:srgbClr val="FF0000"/>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pstone Project - Review 3 - Template.pptx" id="{77E64785-C4AC-D447-9F20-AA3556BA4DEA}" vid="{211B08FD-A304-1146-A3C3-5229E601B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Capstone Project - Review 3 - Template (1)</Template>
  <TotalTime>867</TotalTime>
  <Words>935</Words>
  <Application>Microsoft Office PowerPoint</Application>
  <PresentationFormat>Widescreen</PresentationFormat>
  <Paragraphs>118</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Times New Roman</vt:lpstr>
      <vt:lpstr>Trebuchet MS</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KTwo Technology Solutions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Sunitha R</dc:creator>
  <cp:keywords/>
  <dc:description/>
  <cp:lastModifiedBy>Prajval K</cp:lastModifiedBy>
  <cp:revision>379</cp:revision>
  <dcterms:created xsi:type="dcterms:W3CDTF">2020-11-22T08:14:37Z</dcterms:created>
  <dcterms:modified xsi:type="dcterms:W3CDTF">2025-03-25T04:14:40Z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