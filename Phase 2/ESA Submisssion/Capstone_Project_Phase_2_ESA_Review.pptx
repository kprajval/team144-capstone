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5"/>
  </p:notesMasterIdLst>
  <p:handoutMasterIdLst>
    <p:handoutMasterId r:id="rId26"/>
  </p:handoutMasterIdLst>
  <p:sldIdLst>
    <p:sldId id="608" r:id="rId2"/>
    <p:sldId id="592" r:id="rId3"/>
    <p:sldId id="535" r:id="rId4"/>
    <p:sldId id="594" r:id="rId5"/>
    <p:sldId id="557" r:id="rId6"/>
    <p:sldId id="595" r:id="rId7"/>
    <p:sldId id="571" r:id="rId8"/>
    <p:sldId id="601" r:id="rId9"/>
    <p:sldId id="567" r:id="rId10"/>
    <p:sldId id="607" r:id="rId11"/>
    <p:sldId id="564" r:id="rId12"/>
    <p:sldId id="580" r:id="rId13"/>
    <p:sldId id="605" r:id="rId14"/>
    <p:sldId id="602" r:id="rId15"/>
    <p:sldId id="606" r:id="rId16"/>
    <p:sldId id="586" r:id="rId17"/>
    <p:sldId id="597" r:id="rId18"/>
    <p:sldId id="598" r:id="rId19"/>
    <p:sldId id="599" r:id="rId20"/>
    <p:sldId id="600" r:id="rId21"/>
    <p:sldId id="584" r:id="rId22"/>
    <p:sldId id="552" r:id="rId23"/>
    <p:sldId id="596" r:id="rId24"/>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86811" autoAdjust="0"/>
  </p:normalViewPr>
  <p:slideViewPr>
    <p:cSldViewPr>
      <p:cViewPr varScale="1">
        <p:scale>
          <a:sx n="82" d="100"/>
          <a:sy n="82" d="100"/>
        </p:scale>
        <p:origin x="557"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5/6/2025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5/6/2025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4AEFE-C1BD-F17A-494C-E6DDC6D7A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6DBA9-344A-C750-582D-49AA76D5DA7E}"/>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C05D36DF-02FB-5E4E-DB01-9D8B722ED35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CAB7E29-4866-36A1-6C51-0C64FA887472}"/>
              </a:ext>
            </a:extLst>
          </p:cNvPr>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extLst>
      <p:ext uri="{BB962C8B-B14F-4D97-AF65-F5344CB8AC3E}">
        <p14:creationId xmlns:p14="http://schemas.microsoft.com/office/powerpoint/2010/main" val="2629154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4564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C1009416-74EA-ACBE-7AE4-483FA55ED4EF}"/>
            </a:ext>
          </a:extLst>
        </p:cNvPr>
        <p:cNvGrpSpPr/>
        <p:nvPr/>
      </p:nvGrpSpPr>
      <p:grpSpPr>
        <a:xfrm>
          <a:off x="0" y="0"/>
          <a:ext cx="0" cy="0"/>
          <a:chOff x="0" y="0"/>
          <a:chExt cx="0" cy="0"/>
        </a:xfrm>
      </p:grpSpPr>
      <p:sp>
        <p:nvSpPr>
          <p:cNvPr id="42" name="Google Shape;42;p4:notes">
            <a:extLst>
              <a:ext uri="{FF2B5EF4-FFF2-40B4-BE49-F238E27FC236}">
                <a16:creationId xmlns:a16="http://schemas.microsoft.com/office/drawing/2014/main" id="{26DD81A2-ABBC-1D41-9D91-329A3E51C0E5}"/>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a:extLst>
              <a:ext uri="{FF2B5EF4-FFF2-40B4-BE49-F238E27FC236}">
                <a16:creationId xmlns:a16="http://schemas.microsoft.com/office/drawing/2014/main" id="{3DC104CC-5343-B48D-966C-E5208025D303}"/>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366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B842B425-F7BE-39D8-22FE-3AC23A4C538A}"/>
            </a:ext>
          </a:extLst>
        </p:cNvPr>
        <p:cNvGrpSpPr/>
        <p:nvPr/>
      </p:nvGrpSpPr>
      <p:grpSpPr>
        <a:xfrm>
          <a:off x="0" y="0"/>
          <a:ext cx="0" cy="0"/>
          <a:chOff x="0" y="0"/>
          <a:chExt cx="0" cy="0"/>
        </a:xfrm>
      </p:grpSpPr>
      <p:sp>
        <p:nvSpPr>
          <p:cNvPr id="49" name="Google Shape;49;p5:notes">
            <a:extLst>
              <a:ext uri="{FF2B5EF4-FFF2-40B4-BE49-F238E27FC236}">
                <a16:creationId xmlns:a16="http://schemas.microsoft.com/office/drawing/2014/main" id="{E4B8151C-B9C0-2057-0F3B-8629A02B5DD0}"/>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a:extLst>
              <a:ext uri="{FF2B5EF4-FFF2-40B4-BE49-F238E27FC236}">
                <a16:creationId xmlns:a16="http://schemas.microsoft.com/office/drawing/2014/main" id="{A841E186-1CA9-642A-558E-BC76DB62E6DB}"/>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9570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6: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6: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6: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D5BB6-FA66-AB76-B90C-732ACEB7B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F1092-5B08-8350-EC70-09B5B850228B}"/>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EEAA0069-B652-47FA-5ED3-DB07A814B7C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CE946AFF-AC3B-6C9B-4C10-0425E1D741C3}"/>
              </a:ext>
            </a:extLst>
          </p:cNvPr>
          <p:cNvSpPr>
            <a:spLocks noGrp="1"/>
          </p:cNvSpPr>
          <p:nvPr>
            <p:ph type="sldNum" sz="quarter" idx="10"/>
          </p:nvPr>
        </p:nvSpPr>
        <p:spPr/>
        <p:txBody>
          <a:bodyPr/>
          <a:lstStyle/>
          <a:p>
            <a:pPr>
              <a:defRPr/>
            </a:pPr>
            <a:fld id="{01C81575-24DE-4F6C-A73E-0331B3B2E418}" type="slidenum">
              <a:rPr lang="en-US" smtClean="0"/>
              <a:pPr>
                <a:defRPr/>
              </a:pPr>
              <a:t>14</a:t>
            </a:fld>
            <a:endParaRPr lang="en-US"/>
          </a:p>
        </p:txBody>
      </p:sp>
    </p:spTree>
    <p:extLst>
      <p:ext uri="{BB962C8B-B14F-4D97-AF65-F5344CB8AC3E}">
        <p14:creationId xmlns:p14="http://schemas.microsoft.com/office/powerpoint/2010/main" val="1726830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B0268-2C3E-9C16-BB7A-E2CD23C26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44405-FBF6-C840-0C43-62C9FB873795}"/>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1B028231-B35D-604A-EA68-7532EBBD18E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E68AE70-430C-B6FE-75A2-3EE8B8EA7DBC}"/>
              </a:ext>
            </a:extLst>
          </p:cNvPr>
          <p:cNvSpPr>
            <a:spLocks noGrp="1"/>
          </p:cNvSpPr>
          <p:nvPr>
            <p:ph type="sldNum" sz="quarter" idx="10"/>
          </p:nvPr>
        </p:nvSpPr>
        <p:spPr/>
        <p:txBody>
          <a:bodyPr/>
          <a:lstStyle/>
          <a:p>
            <a:pPr>
              <a:defRPr/>
            </a:pPr>
            <a:fld id="{01C81575-24DE-4F6C-A73E-0331B3B2E418}" type="slidenum">
              <a:rPr lang="en-US" smtClean="0"/>
              <a:pPr>
                <a:defRPr/>
              </a:pPr>
              <a:t>16</a:t>
            </a:fld>
            <a:endParaRPr lang="en-US"/>
          </a:p>
        </p:txBody>
      </p:sp>
    </p:spTree>
    <p:extLst>
      <p:ext uri="{BB962C8B-B14F-4D97-AF65-F5344CB8AC3E}">
        <p14:creationId xmlns:p14="http://schemas.microsoft.com/office/powerpoint/2010/main" val="2342118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22</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5/6/2025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5/6/2025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1C117DA-E63C-A88A-CE36-802FDA28C02B}"/>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414CD9-080C-8955-2368-702D568C63AC}"/>
              </a:ext>
            </a:extLst>
          </p:cNvPr>
          <p:cNvPicPr>
            <a:picLocks noChangeAspect="1"/>
          </p:cNvPicPr>
          <p:nvPr/>
        </p:nvPicPr>
        <p:blipFill>
          <a:blip r:embed="rId2"/>
          <a:stretch>
            <a:fillRect/>
          </a:stretch>
        </p:blipFill>
        <p:spPr>
          <a:xfrm>
            <a:off x="2057400" y="838200"/>
            <a:ext cx="7695613" cy="5451933"/>
          </a:xfrm>
          <a:prstGeom prst="rect">
            <a:avLst/>
          </a:prstGeom>
        </p:spPr>
      </p:pic>
    </p:spTree>
    <p:extLst>
      <p:ext uri="{BB962C8B-B14F-4D97-AF65-F5344CB8AC3E}">
        <p14:creationId xmlns:p14="http://schemas.microsoft.com/office/powerpoint/2010/main" val="3556648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p3"/>
          <p:cNvSpPr txBox="1"/>
          <p:nvPr/>
        </p:nvSpPr>
        <p:spPr>
          <a:xfrm>
            <a:off x="0" y="4323472"/>
            <a:ext cx="12192000" cy="2534527"/>
          </a:xfrm>
          <a:prstGeom prst="rect">
            <a:avLst/>
          </a:prstGeom>
          <a:noFill/>
          <a:ln>
            <a:noFill/>
          </a:ln>
        </p:spPr>
        <p:txBody>
          <a:bodyPr spcFirstLastPara="1" wrap="square" lIns="91425" tIns="45700" rIns="91425" bIns="45700" anchor="t" anchorCtr="0">
            <a:noAutofit/>
          </a:bodyPr>
          <a:lstStyle/>
          <a:p>
            <a:pPr>
              <a:spcBef>
                <a:spcPts val="0"/>
              </a:spcBef>
              <a:spcAft>
                <a:spcPts val="0"/>
              </a:spcAft>
            </a:pPr>
            <a:endParaRPr sz="2400" dirty="0">
              <a:solidFill>
                <a:srgbClr val="0033CC"/>
              </a:solidFill>
              <a:latin typeface="Trebuchet MS"/>
              <a:ea typeface="Trebuchet MS"/>
              <a:cs typeface="Trebuchet MS"/>
              <a:sym typeface="Trebuchet MS"/>
            </a:endParaRPr>
          </a:p>
        </p:txBody>
      </p:sp>
      <p:sp>
        <p:nvSpPr>
          <p:cNvPr id="6" name="TextBox 5">
            <a:extLst>
              <a:ext uri="{FF2B5EF4-FFF2-40B4-BE49-F238E27FC236}">
                <a16:creationId xmlns:a16="http://schemas.microsoft.com/office/drawing/2014/main" id="{79CFA518-D372-62E3-1BFC-9EE1EB0AA9EE}"/>
              </a:ext>
            </a:extLst>
          </p:cNvPr>
          <p:cNvSpPr txBox="1"/>
          <p:nvPr/>
        </p:nvSpPr>
        <p:spPr>
          <a:xfrm>
            <a:off x="479376" y="1455162"/>
            <a:ext cx="10873208" cy="4278094"/>
          </a:xfrm>
          <a:prstGeom prst="rect">
            <a:avLst/>
          </a:prstGeom>
          <a:noFill/>
        </p:spPr>
        <p:txBody>
          <a:bodyPr wrap="square">
            <a:sp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UE22CS320A</a:t>
            </a:r>
            <a:r>
              <a:rPr lang="en-IN" sz="3600" dirty="0">
                <a:latin typeface="Times New Roman" panose="02020603050405020304" pitchFamily="18" charset="0"/>
                <a:cs typeface="Times New Roman" panose="02020603050405020304" pitchFamily="18" charset="0"/>
              </a:rPr>
              <a:t> </a:t>
            </a:r>
            <a:r>
              <a:rPr lang="en-IN" sz="3600" b="1" dirty="0">
                <a:solidFill>
                  <a:srgbClr val="FF0000"/>
                </a:solidFill>
                <a:latin typeface="Times New Roman" panose="02020603050405020304" pitchFamily="18" charset="0"/>
                <a:cs typeface="Times New Roman" panose="02020603050405020304" pitchFamily="18" charset="0"/>
              </a:rPr>
              <a:t>– Project Phase – 2</a:t>
            </a:r>
          </a:p>
          <a:p>
            <a:pPr algn="ctr"/>
            <a:r>
              <a:rPr lang="en-US" sz="3600" dirty="0">
                <a:solidFill>
                  <a:srgbClr val="FF0000"/>
                </a:solidFill>
                <a:latin typeface="Times New Roman" panose="02020603050405020304" pitchFamily="18" charset="0"/>
                <a:cs typeface="Times New Roman" panose="02020603050405020304" pitchFamily="18" charset="0"/>
              </a:rPr>
              <a:t>Capstone Project – Phase 2 – ESA</a:t>
            </a:r>
            <a:endParaRPr lang="en-US" sz="3200" dirty="0">
              <a:solidFill>
                <a:srgbClr val="FF0000"/>
              </a:solidFill>
              <a:latin typeface="Times New Roman" panose="02020603050405020304" pitchFamily="18" charset="0"/>
              <a:cs typeface="Times New Roman" panose="02020603050405020304" pitchFamily="18" charset="0"/>
            </a:endParaRPr>
          </a:p>
          <a:p>
            <a:pPr algn="ctr"/>
            <a:endParaRPr lang="en-IN" sz="3600" b="1" dirty="0">
              <a:solidFill>
                <a:srgbClr val="FF0000"/>
              </a:solidFill>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TITLE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AVIOS – A</a:t>
            </a:r>
            <a:r>
              <a:rPr lang="en-IN" sz="2000" i="1" dirty="0">
                <a:latin typeface="Times New Roman" panose="02020603050405020304" pitchFamily="18" charset="0"/>
                <a:cs typeface="Times New Roman" panose="02020603050405020304" pitchFamily="18" charset="0"/>
              </a:rPr>
              <a:t>daptive</a:t>
            </a:r>
            <a:r>
              <a:rPr lang="en-IN" sz="2000" b="1" i="1" dirty="0">
                <a:latin typeface="Times New Roman" panose="02020603050405020304" pitchFamily="18" charset="0"/>
                <a:cs typeface="Times New Roman" panose="02020603050405020304" pitchFamily="18" charset="0"/>
              </a:rPr>
              <a:t> V</a:t>
            </a:r>
            <a:r>
              <a:rPr lang="en-IN" sz="2000" i="1" dirty="0">
                <a:latin typeface="Times New Roman" panose="02020603050405020304" pitchFamily="18" charset="0"/>
                <a:cs typeface="Times New Roman" panose="02020603050405020304" pitchFamily="18" charset="0"/>
              </a:rPr>
              <a:t>igilant</a:t>
            </a:r>
            <a:r>
              <a:rPr lang="en-IN" sz="2000" b="1" i="1" dirty="0">
                <a:latin typeface="Times New Roman" panose="02020603050405020304" pitchFamily="18" charset="0"/>
                <a:cs typeface="Times New Roman" panose="02020603050405020304" pitchFamily="18" charset="0"/>
              </a:rPr>
              <a:t> I</a:t>
            </a:r>
            <a:r>
              <a:rPr lang="en-IN" sz="2000" i="1" dirty="0">
                <a:latin typeface="Times New Roman" panose="02020603050405020304" pitchFamily="18" charset="0"/>
                <a:cs typeface="Times New Roman" panose="02020603050405020304" pitchFamily="18" charset="0"/>
              </a:rPr>
              <a:t>ntelligent</a:t>
            </a:r>
            <a:r>
              <a:rPr lang="en-IN" sz="2000" b="1" i="1" dirty="0">
                <a:latin typeface="Times New Roman" panose="02020603050405020304" pitchFamily="18" charset="0"/>
                <a:cs typeface="Times New Roman" panose="02020603050405020304" pitchFamily="18" charset="0"/>
              </a:rPr>
              <a:t> O</a:t>
            </a:r>
            <a:r>
              <a:rPr lang="en-IN" sz="2000" i="1" dirty="0">
                <a:latin typeface="Times New Roman" panose="02020603050405020304" pitchFamily="18" charset="0"/>
                <a:cs typeface="Times New Roman" panose="02020603050405020304" pitchFamily="18" charset="0"/>
              </a:rPr>
              <a:t>perating</a:t>
            </a:r>
            <a:r>
              <a:rPr lang="en-IN" sz="2000" b="1" i="1" dirty="0">
                <a:latin typeface="Times New Roman" panose="02020603050405020304" pitchFamily="18" charset="0"/>
                <a:cs typeface="Times New Roman" panose="02020603050405020304" pitchFamily="18" charset="0"/>
              </a:rPr>
              <a:t> S</a:t>
            </a:r>
            <a:r>
              <a:rPr lang="en-IN" sz="2000" i="1" dirty="0">
                <a:latin typeface="Times New Roman" panose="02020603050405020304" pitchFamily="18" charset="0"/>
                <a:cs typeface="Times New Roman" panose="02020603050405020304" pitchFamily="18" charset="0"/>
              </a:rPr>
              <a:t>ystem</a:t>
            </a:r>
          </a:p>
          <a:p>
            <a:pPr lvl="2"/>
            <a:r>
              <a:rPr lang="en-IN" sz="2000" b="1" i="1" dirty="0">
                <a:latin typeface="Times New Roman" panose="02020603050405020304" pitchFamily="18" charset="0"/>
                <a:cs typeface="Times New Roman" panose="02020603050405020304" pitchFamily="18" charset="0"/>
              </a:rPr>
              <a:t>PROJECT ID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Team 144</a:t>
            </a:r>
            <a:endParaRPr lang="en-IN" sz="2000" b="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GUIDE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Prof. Swetha Patil</a:t>
            </a:r>
          </a:p>
          <a:p>
            <a:pPr lvl="2"/>
            <a:endParaRPr lang="en-IN" sz="2000" b="1" i="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TEAM</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Kurumeti</a:t>
            </a:r>
            <a:r>
              <a:rPr lang="en-IN" sz="1600" b="1" i="1" dirty="0">
                <a:latin typeface="Times New Roman" panose="02020603050405020304" pitchFamily="18" charset="0"/>
                <a:cs typeface="Times New Roman" panose="02020603050405020304" pitchFamily="18" charset="0"/>
              </a:rPr>
              <a:t> Prajval ( PES2UG22CS274 )</a:t>
            </a:r>
          </a:p>
          <a:p>
            <a:pPr marL="1828800" lvl="3" indent="-457200">
              <a:buFont typeface="+mj-lt"/>
              <a:buAutoNum type="arabicPeriod"/>
            </a:pPr>
            <a:r>
              <a:rPr lang="en-IN" sz="1600" b="1" i="1" dirty="0">
                <a:latin typeface="Times New Roman" panose="02020603050405020304" pitchFamily="18" charset="0"/>
                <a:cs typeface="Times New Roman" panose="02020603050405020304" pitchFamily="18" charset="0"/>
              </a:rPr>
              <a:t>Manoj Kumar KS ( PES2UG22CS302 )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Dhanushree</a:t>
            </a:r>
            <a:r>
              <a:rPr lang="en-IN" sz="1600" b="1" i="1" dirty="0">
                <a:latin typeface="Times New Roman" panose="02020603050405020304" pitchFamily="18" charset="0"/>
                <a:cs typeface="Times New Roman" panose="02020603050405020304" pitchFamily="18" charset="0"/>
              </a:rPr>
              <a:t> K ( PES2UG22CS176 )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Nagaratna</a:t>
            </a:r>
            <a:r>
              <a:rPr lang="en-IN" sz="1600" b="1" i="1" dirty="0">
                <a:latin typeface="Times New Roman" panose="02020603050405020304" pitchFamily="18" charset="0"/>
                <a:cs typeface="Times New Roman" panose="02020603050405020304" pitchFamily="18" charset="0"/>
              </a:rPr>
              <a:t> ( PES2UG22CS331 )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066800" y="1752600"/>
            <a:ext cx="8534400" cy="4724400"/>
          </a:xfrm>
          <a:prstGeom prst="rect">
            <a:avLst/>
          </a:prstGeom>
        </p:spPr>
        <p:txBody>
          <a:bodyPr/>
          <a:lstStyle/>
          <a:p>
            <a:pPr marL="685791" indent="-342900" algn="just" eaLnBrk="0" hangingPunct="0">
              <a:spcBef>
                <a:spcPts val="0"/>
              </a:spcBef>
              <a:spcAft>
                <a:spcPts val="0"/>
              </a:spcAft>
              <a:buFont typeface="Wingdings" pitchFamily="2" charset="2"/>
              <a:buChar char="§"/>
              <a:defRPr/>
            </a:pPr>
            <a:r>
              <a:rPr lang="en-US" sz="2000" dirty="0">
                <a:latin typeface="Times New Roman" panose="02020603050405020304" pitchFamily="18" charset="0"/>
                <a:ea typeface="Trebuchet MS"/>
                <a:cs typeface="Times New Roman" panose="02020603050405020304" pitchFamily="18" charset="0"/>
                <a:sym typeface="Trebuchet MS"/>
              </a:rPr>
              <a:t>Abstract </a:t>
            </a:r>
          </a:p>
          <a:p>
            <a:pPr marL="685791" indent="-342900" algn="just" eaLnBrk="0" hangingPunct="0">
              <a:spcBef>
                <a:spcPts val="0"/>
              </a:spcBef>
              <a:spcAft>
                <a:spcPts val="0"/>
              </a:spcAft>
              <a:buFont typeface="Wingdings" pitchFamily="2" charset="2"/>
              <a:buChar char="§"/>
              <a:defRPr/>
            </a:pPr>
            <a:r>
              <a:rPr lang="en-US" sz="2000" kern="0" dirty="0">
                <a:latin typeface="Times New Roman" panose="02020603050405020304" pitchFamily="18" charset="0"/>
                <a:cs typeface="Times New Roman" panose="02020603050405020304" pitchFamily="18" charset="0"/>
              </a:rPr>
              <a:t>Suggestions from Review – 1</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rPr>
              <a:t>Suggestions from Review – 2</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rPr>
              <a:t>Analysis and Critique of Research/Relevance -Application in Real world</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sym typeface="Trebuchet MS"/>
              </a:rPr>
              <a:t>High Level Design</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sym typeface="Trebuchet MS"/>
              </a:rPr>
              <a:t>Design Methodology</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sym typeface="Trebuchet MS"/>
              </a:rPr>
              <a:t>Project Progress (Minimum 20% implementation)</a:t>
            </a:r>
          </a:p>
          <a:p>
            <a:pPr marL="1142991" lvl="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sym typeface="Trebuchet MS"/>
              </a:rPr>
              <a:t>Data Preprocessing and Base Model Implementation </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sym typeface="Trebuchet MS"/>
              </a:rPr>
              <a:t>Individual Contribution </a:t>
            </a:r>
          </a:p>
          <a:p>
            <a:pPr marL="685791" indent="-342900" algn="just" eaLnBrk="0" hangingPunct="0">
              <a:spcBef>
                <a:spcPct val="20000"/>
              </a:spcBef>
              <a:buFont typeface="Wingdings" panose="05000000000000000000" pitchFamily="2" charset="2"/>
              <a:buChar char="§"/>
              <a:defRPr/>
            </a:pPr>
            <a:r>
              <a:rPr lang="en-US" sz="2000" kern="0" dirty="0">
                <a:latin typeface="Times New Roman" panose="02020603050405020304" pitchFamily="18" charset="0"/>
                <a:cs typeface="Times New Roman" panose="02020603050405020304" pitchFamily="18" charset="0"/>
                <a:sym typeface="Trebuchet MS"/>
              </a:rPr>
              <a:t>References</a:t>
            </a:r>
            <a:endParaRPr lang="en-US" sz="2000" dirty="0">
              <a:latin typeface="Times New Roman" panose="02020603050405020304" pitchFamily="18" charset="0"/>
              <a:ea typeface="Trebuchet MS"/>
              <a:cs typeface="Times New Roman" panose="02020603050405020304" pitchFamily="18" charset="0"/>
              <a:sym typeface="Trebuchet MS"/>
            </a:endParaRPr>
          </a:p>
          <a:p>
            <a:pPr marL="685791" indent="-342900" algn="just" eaLnBrk="0" hangingPunct="0">
              <a:spcBef>
                <a:spcPts val="0"/>
              </a:spcBef>
              <a:spcAft>
                <a:spcPts val="0"/>
              </a:spcAft>
              <a:buFont typeface="Wingdings" panose="05000000000000000000" pitchFamily="2" charset="2"/>
              <a:buChar char="§"/>
              <a:defRPr/>
            </a:pPr>
            <a:endParaRPr lang="en-US" sz="2000" dirty="0">
              <a:latin typeface="Times New Roman" panose="02020603050405020304" pitchFamily="18" charset="0"/>
              <a:cs typeface="Times New Roman" panose="02020603050405020304" pitchFamily="18" charset="0"/>
              <a:sym typeface="Trebuchet MS"/>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Outline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p:cNvSpPr txBox="1">
            <a:spLocks/>
          </p:cNvSpPr>
          <p:nvPr/>
        </p:nvSpPr>
        <p:spPr>
          <a:xfrm>
            <a:off x="1199456" y="1953345"/>
            <a:ext cx="8935144" cy="4447455"/>
          </a:xfrm>
          <a:prstGeom prst="rect">
            <a:avLst/>
          </a:prstGeom>
        </p:spPr>
        <p:txBody>
          <a:bodyPr/>
          <a:lstStyle/>
          <a:p>
            <a:pPr marL="342891" algn="just" eaLnBrk="0" hangingPunct="0">
              <a:spcBef>
                <a:spcPct val="20000"/>
              </a:spcBef>
              <a:defRPr/>
            </a:pPr>
            <a:endParaRPr lang="en-IN" sz="2400" kern="0" dirty="0">
              <a:solidFill>
                <a:srgbClr val="0000FF"/>
              </a:solidFill>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Abstract</a:t>
            </a:r>
          </a:p>
        </p:txBody>
      </p:sp>
      <p:sp>
        <p:nvSpPr>
          <p:cNvPr id="6" name="Text Placeholder 5">
            <a:extLst>
              <a:ext uri="{FF2B5EF4-FFF2-40B4-BE49-F238E27FC236}">
                <a16:creationId xmlns:a16="http://schemas.microsoft.com/office/drawing/2014/main" id="{696B3B7D-F24B-732D-B41D-8672E5E21DE1}"/>
              </a:ext>
            </a:extLst>
          </p:cNvPr>
          <p:cNvSpPr>
            <a:spLocks noGrp="1"/>
          </p:cNvSpPr>
          <p:nvPr>
            <p:ph type="body" idx="1"/>
          </p:nvPr>
        </p:nvSpPr>
        <p:spPr>
          <a:xfrm>
            <a:off x="1295400" y="2042821"/>
            <a:ext cx="9525000" cy="2833980"/>
          </a:xfrm>
        </p:spPr>
        <p:txBody>
          <a:bodyPr>
            <a:noAutofit/>
          </a:bodyPr>
          <a:lstStyle/>
          <a:p>
            <a:pPr>
              <a:lnSpc>
                <a:spcPct val="120000"/>
              </a:lnSpc>
            </a:pPr>
            <a:r>
              <a:rPr lang="en-IN" sz="1800" b="1" i="1" dirty="0">
                <a:solidFill>
                  <a:schemeClr val="tx1"/>
                </a:solidFill>
                <a:latin typeface="Times New Roman" panose="02020603050405020304" pitchFamily="18" charset="0"/>
                <a:cs typeface="Times New Roman" panose="02020603050405020304" pitchFamily="18" charset="0"/>
              </a:rPr>
              <a:t>Abstract :</a:t>
            </a:r>
            <a:r>
              <a:rPr lang="en-IN" sz="1800" b="1" i="1" dirty="0">
                <a:latin typeface="Times New Roman" panose="02020603050405020304" pitchFamily="18" charset="0"/>
                <a:cs typeface="Times New Roman" panose="02020603050405020304" pitchFamily="18" charset="0"/>
              </a:rPr>
              <a:t> </a:t>
            </a:r>
          </a:p>
          <a:p>
            <a:pPr>
              <a:lnSpc>
                <a:spcPct val="120000"/>
              </a:lnSpc>
            </a:pPr>
            <a:r>
              <a:rPr lang="en-IN" sz="1800" b="1" i="1" dirty="0">
                <a:latin typeface="Times New Roman" panose="02020603050405020304" pitchFamily="18" charset="0"/>
                <a:cs typeface="Times New Roman" panose="02020603050405020304" pitchFamily="18" charset="0"/>
              </a:rPr>
              <a:t>                  </a:t>
            </a:r>
            <a:r>
              <a:rPr lang="en-IN" sz="1800" dirty="0">
                <a:solidFill>
                  <a:schemeClr val="tx1"/>
                </a:solidFill>
                <a:latin typeface="Times New Roman" panose="02020603050405020304" pitchFamily="18" charset="0"/>
                <a:cs typeface="Times New Roman" panose="02020603050405020304" pitchFamily="18" charset="0"/>
              </a:rPr>
              <a:t>AVIOS – Adaptive Vigilant Intelligent Operating System introduces AI-powered task scheduling in the Linux kernel to dynamically allocate CPU resources based on real-time process behaviour. By leveraging machine learning models in user space to predict optimal time slices (</a:t>
            </a:r>
            <a:r>
              <a:rPr lang="en-IN" sz="1800" dirty="0" err="1">
                <a:solidFill>
                  <a:schemeClr val="tx1"/>
                </a:solidFill>
                <a:latin typeface="Times New Roman" panose="02020603050405020304" pitchFamily="18" charset="0"/>
                <a:cs typeface="Times New Roman" panose="02020603050405020304" pitchFamily="18" charset="0"/>
              </a:rPr>
              <a:t>vruntime</a:t>
            </a:r>
            <a:r>
              <a:rPr lang="en-IN" sz="1800" dirty="0">
                <a:solidFill>
                  <a:schemeClr val="tx1"/>
                </a:solidFill>
                <a:latin typeface="Times New Roman" panose="02020603050405020304" pitchFamily="18" charset="0"/>
                <a:cs typeface="Times New Roman" panose="02020603050405020304" pitchFamily="18" charset="0"/>
              </a:rPr>
              <a:t>) and modifying scheduling policies via system calls, AVIOS enhances system efficiency, reduces latency, and optimizes CPU utilization for diverse workloads.</a:t>
            </a:r>
          </a:p>
          <a:p>
            <a:pPr>
              <a:lnSpc>
                <a:spcPct val="120000"/>
              </a:lnSpc>
            </a:pPr>
            <a:endParaRPr lang="en-IN" sz="1800" b="1"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IN" sz="1800" i="1" dirty="0">
                <a:solidFill>
                  <a:schemeClr val="tx1"/>
                </a:solidFill>
                <a:latin typeface="Times New Roman" panose="02020603050405020304" pitchFamily="18" charset="0"/>
                <a:cs typeface="Times New Roman" panose="02020603050405020304" pitchFamily="18" charset="0"/>
              </a:rPr>
              <a:t>           </a:t>
            </a:r>
          </a:p>
          <a:p>
            <a:endParaRPr lang="en-IN" sz="1800" b="1" i="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30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551384" y="2092332"/>
            <a:ext cx="11089232" cy="4384667"/>
          </a:xfrm>
          <a:prstGeom prst="rect">
            <a:avLst/>
          </a:prstGeom>
        </p:spPr>
        <p:txBody>
          <a:bodyPr/>
          <a:lstStyle/>
          <a:p>
            <a:pPr marL="342891" algn="just" eaLnBrk="0" hangingPunct="0">
              <a:spcBef>
                <a:spcPct val="20000"/>
              </a:spcBef>
              <a:defRPr/>
            </a:pP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Suggestions from Phase-1 </a:t>
            </a:r>
          </a:p>
        </p:txBody>
      </p:sp>
      <p:sp>
        <p:nvSpPr>
          <p:cNvPr id="2" name="TextBox 1">
            <a:extLst>
              <a:ext uri="{FF2B5EF4-FFF2-40B4-BE49-F238E27FC236}">
                <a16:creationId xmlns:a16="http://schemas.microsoft.com/office/drawing/2014/main" id="{30DF8A99-8544-8A07-897A-C26BA99A190A}"/>
              </a:ext>
            </a:extLst>
          </p:cNvPr>
          <p:cNvSpPr txBox="1"/>
          <p:nvPr/>
        </p:nvSpPr>
        <p:spPr>
          <a:xfrm>
            <a:off x="1447800" y="2105333"/>
            <a:ext cx="9536360"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Moving Forward with AI Task Scheduling Feature</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careful consideration and feedback, we have decided to focus on </a:t>
            </a:r>
            <a:r>
              <a:rPr lang="en-US" sz="2000" b="1" dirty="0">
                <a:latin typeface="Times New Roman" panose="02020603050405020304" pitchFamily="18" charset="0"/>
                <a:cs typeface="Times New Roman" panose="02020603050405020304" pitchFamily="18" charset="0"/>
              </a:rPr>
              <a:t>AI-based Task Scheduling</a:t>
            </a:r>
            <a:r>
              <a:rPr lang="en-US" sz="2000" dirty="0">
                <a:latin typeface="Times New Roman" panose="02020603050405020304" pitchFamily="18" charset="0"/>
                <a:cs typeface="Times New Roman" panose="02020603050405020304" pitchFamily="18" charset="0"/>
              </a:rPr>
              <a:t> as the primary feature of our project. This decision is based on its potential to optimize task execution, improve efficiency, and enhance system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67909-E4CC-4A0B-EE3A-AA02B0C4F91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6E7DE4E-46AA-1340-73CA-D4E18F729C13}"/>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15E55302-E536-A760-3901-BBA3DF9D41DB}"/>
              </a:ext>
            </a:extLst>
          </p:cNvPr>
          <p:cNvSpPr txBox="1">
            <a:spLocks/>
          </p:cNvSpPr>
          <p:nvPr/>
        </p:nvSpPr>
        <p:spPr>
          <a:xfrm>
            <a:off x="551384" y="2092332"/>
            <a:ext cx="11089232" cy="4384667"/>
          </a:xfrm>
          <a:prstGeom prst="rect">
            <a:avLst/>
          </a:prstGeom>
        </p:spPr>
        <p:txBody>
          <a:bodyPr/>
          <a:lstStyle/>
          <a:p>
            <a:pPr marL="342891" algn="just" eaLnBrk="0" hangingPunct="0">
              <a:spcBef>
                <a:spcPct val="20000"/>
              </a:spcBef>
              <a:defRPr/>
            </a:pPr>
            <a:endParaRPr lang="en-IN" sz="2400" kern="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CAE5D033-A582-1138-81AD-3A9A3EBD4E30}"/>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Suggestions from Phase-2 </a:t>
            </a:r>
          </a:p>
        </p:txBody>
      </p:sp>
      <p:sp>
        <p:nvSpPr>
          <p:cNvPr id="4" name="Rectangle 2">
            <a:extLst>
              <a:ext uri="{FF2B5EF4-FFF2-40B4-BE49-F238E27FC236}">
                <a16:creationId xmlns:a16="http://schemas.microsoft.com/office/drawing/2014/main" id="{8AD102F7-B587-BD0E-2CD3-AA64D97F1F03}"/>
              </a:ext>
            </a:extLst>
          </p:cNvPr>
          <p:cNvSpPr>
            <a:spLocks noChangeArrowheads="1"/>
          </p:cNvSpPr>
          <p:nvPr/>
        </p:nvSpPr>
        <p:spPr bwMode="auto">
          <a:xfrm>
            <a:off x="1219200" y="2103106"/>
            <a:ext cx="101346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891" algn="just" eaLnBrk="0" hangingPunct="0">
              <a:spcBef>
                <a:spcPct val="20000"/>
              </a:spcBef>
              <a:defRPr/>
            </a:pPr>
            <a:r>
              <a:rPr lang="en-US" dirty="0">
                <a:latin typeface="Times New Roman" panose="02020603050405020304" pitchFamily="18" charset="0"/>
                <a:cs typeface="Times New Roman" panose="02020603050405020304" pitchFamily="18" charset="0"/>
              </a:rPr>
              <a:t>Our project guide, Prof. Swetha Patil, emphasized the importance of continuously enhancing the quality and volume of data used for training our classification models. While our current implementation leverages a Generative Adversarial Network (GAN) to augment a relatively small dataset and synthetically generate diverse task samples, the guide recommended focusing on the collection of real, system-generated data to further improve the accuracy, generalizability, and reliability of our AI models.</a:t>
            </a:r>
            <a:endParaRPr lang="en-IN"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0665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0" y="1157448"/>
            <a:ext cx="107442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Analysis and Critique of Research/Relevance -Application in Real world</a:t>
            </a:r>
          </a:p>
        </p:txBody>
      </p:sp>
      <p:sp>
        <p:nvSpPr>
          <p:cNvPr id="47" name="Google Shape;47;p6"/>
          <p:cNvSpPr txBox="1"/>
          <p:nvPr/>
        </p:nvSpPr>
        <p:spPr>
          <a:xfrm>
            <a:off x="3044456" y="6172200"/>
            <a:ext cx="10439400" cy="2777250"/>
          </a:xfrm>
          <a:prstGeom prst="rect">
            <a:avLst/>
          </a:prstGeom>
          <a:noFill/>
          <a:ln>
            <a:noFill/>
          </a:ln>
        </p:spPr>
        <p:txBody>
          <a:bodyPr spcFirstLastPara="1" wrap="square" lIns="91425" tIns="45700" rIns="91425" bIns="45700" anchor="ctr" anchorCtr="0">
            <a:noAutofit/>
          </a:bodyPr>
          <a:lstStyle/>
          <a:p>
            <a:pPr marL="457200" algn="just">
              <a:spcBef>
                <a:spcPts val="480"/>
              </a:spcBef>
              <a:spcAft>
                <a:spcPts val="0"/>
              </a:spcAft>
            </a:pPr>
            <a:endParaRPr lang="en-US" sz="2400" dirty="0">
              <a:solidFill>
                <a:srgbClr val="0033CC"/>
              </a:solidFill>
              <a:latin typeface="Trebuchet MS"/>
            </a:endParaRPr>
          </a:p>
        </p:txBody>
      </p:sp>
      <p:sp>
        <p:nvSpPr>
          <p:cNvPr id="3" name="Rectangle 2">
            <a:extLst>
              <a:ext uri="{FF2B5EF4-FFF2-40B4-BE49-F238E27FC236}">
                <a16:creationId xmlns:a16="http://schemas.microsoft.com/office/drawing/2014/main" id="{E753EC64-E433-0954-A4AE-F5E1F15A8243}"/>
              </a:ext>
            </a:extLst>
          </p:cNvPr>
          <p:cNvSpPr>
            <a:spLocks noChangeArrowheads="1"/>
          </p:cNvSpPr>
          <p:nvPr/>
        </p:nvSpPr>
        <p:spPr bwMode="auto">
          <a:xfrm>
            <a:off x="1825256" y="371543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DF1B4B12-5EC3-F5E9-129A-69E1C7CDF65D}"/>
              </a:ext>
            </a:extLst>
          </p:cNvPr>
          <p:cNvSpPr txBox="1"/>
          <p:nvPr/>
        </p:nvSpPr>
        <p:spPr>
          <a:xfrm>
            <a:off x="1219200" y="1773921"/>
            <a:ext cx="9525000" cy="4219104"/>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Strengths:</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Foundational CPU scheduling strategies such as the Completely Fair Scheduler (CFS) provide a well-established model for ensuring equitable CPU time distribution among processes.</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Emerging research has explored the integration of artificial intelligence for forecasting resource demands, yielding notable performance gains in controlled or simulated settings.</a:t>
            </a:r>
          </a:p>
          <a:p>
            <a:endParaRPr lang="en-US" sz="1600"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Weaknesses:</a:t>
            </a:r>
            <a:endParaRPr lang="en-US"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Static scheduling fails to adapt to varying workloads in real-time.</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Prior works lack dynamic feedback mechanisms and have limited support for mixed-task environments.</a:t>
            </a:r>
          </a:p>
          <a:p>
            <a:endParaRPr lang="en-US" sz="1600"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Identified Gaps and Improvements:</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Limited exploration of adaptive, lightweight AI models in kernel-level scheduling.</a:t>
            </a:r>
          </a:p>
          <a:p>
            <a:pPr marL="742950" lvl="1"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Existing models don't generalize across devices (desktop, mobile, cloud).</a:t>
            </a:r>
          </a:p>
          <a:p>
            <a:pPr marL="742950" lvl="1"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Improvement lies in integrating real-time metrics with reinforcement-based learning strategies.</a:t>
            </a:r>
          </a:p>
          <a:p>
            <a:endParaRPr lang="en-US" sz="1600" dirty="0">
              <a:latin typeface="Times New Roman" panose="02020603050405020304" pitchFamily="18" charset="0"/>
              <a:cs typeface="Times New Roman" panose="02020603050405020304" pitchFamily="18" charset="0"/>
            </a:endParaRPr>
          </a:p>
          <a:p>
            <a:pPr algn="just">
              <a:spcBef>
                <a:spcPts val="480"/>
              </a:spcBef>
              <a:spcAft>
                <a:spcPts val="0"/>
              </a:spcAft>
              <a:buClr>
                <a:schemeClr val="dk1"/>
              </a:buClr>
              <a:buSzPts val="1100"/>
            </a:pPr>
            <a:endParaRPr lang="en-US" sz="1800" dirty="0">
              <a:solidFill>
                <a:srgbClr val="0033CC"/>
              </a:solidFill>
              <a:latin typeface="Trebuchet MS"/>
              <a:ea typeface="Trebuchet MS"/>
              <a:cs typeface="Trebuchet MS"/>
              <a:sym typeface="Trebuchet MS"/>
            </a:endParaRPr>
          </a:p>
        </p:txBody>
      </p:sp>
    </p:spTree>
    <p:extLst>
      <p:ext uri="{BB962C8B-B14F-4D97-AF65-F5344CB8AC3E}">
        <p14:creationId xmlns:p14="http://schemas.microsoft.com/office/powerpoint/2010/main" val="3167076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8BCBB662-2012-8A0C-5E51-CEEA973A6CE3}"/>
            </a:ext>
          </a:extLst>
        </p:cNvPr>
        <p:cNvGrpSpPr/>
        <p:nvPr/>
      </p:nvGrpSpPr>
      <p:grpSpPr>
        <a:xfrm>
          <a:off x="0" y="0"/>
          <a:ext cx="0" cy="0"/>
          <a:chOff x="0" y="0"/>
          <a:chExt cx="0" cy="0"/>
        </a:xfrm>
      </p:grpSpPr>
      <p:sp>
        <p:nvSpPr>
          <p:cNvPr id="45" name="Google Shape;45;p6">
            <a:extLst>
              <a:ext uri="{FF2B5EF4-FFF2-40B4-BE49-F238E27FC236}">
                <a16:creationId xmlns:a16="http://schemas.microsoft.com/office/drawing/2014/main" id="{8D422B48-4F78-3CFD-4817-436A93F46BC7}"/>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a:extLst>
              <a:ext uri="{FF2B5EF4-FFF2-40B4-BE49-F238E27FC236}">
                <a16:creationId xmlns:a16="http://schemas.microsoft.com/office/drawing/2014/main" id="{226D7DDB-C2F0-4EA0-42E6-4E4BDA10BF61}"/>
              </a:ext>
            </a:extLst>
          </p:cNvPr>
          <p:cNvSpPr txBox="1"/>
          <p:nvPr/>
        </p:nvSpPr>
        <p:spPr>
          <a:xfrm>
            <a:off x="1468016" y="1119450"/>
            <a:ext cx="9255967"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Analysis and Critique of Research/Relevance -Application in Real world</a:t>
            </a:r>
          </a:p>
        </p:txBody>
      </p:sp>
      <p:sp>
        <p:nvSpPr>
          <p:cNvPr id="47" name="Google Shape;47;p6">
            <a:extLst>
              <a:ext uri="{FF2B5EF4-FFF2-40B4-BE49-F238E27FC236}">
                <a16:creationId xmlns:a16="http://schemas.microsoft.com/office/drawing/2014/main" id="{AE1B9AEA-CFB9-40C8-D119-19FA62C32ED0}"/>
              </a:ext>
            </a:extLst>
          </p:cNvPr>
          <p:cNvSpPr txBox="1"/>
          <p:nvPr/>
        </p:nvSpPr>
        <p:spPr>
          <a:xfrm>
            <a:off x="3044456" y="6172200"/>
            <a:ext cx="10439400" cy="2777250"/>
          </a:xfrm>
          <a:prstGeom prst="rect">
            <a:avLst/>
          </a:prstGeom>
          <a:noFill/>
          <a:ln>
            <a:noFill/>
          </a:ln>
        </p:spPr>
        <p:txBody>
          <a:bodyPr spcFirstLastPara="1" wrap="square" lIns="91425" tIns="45700" rIns="91425" bIns="45700" anchor="ctr" anchorCtr="0">
            <a:noAutofit/>
          </a:bodyPr>
          <a:lstStyle/>
          <a:p>
            <a:pPr marL="457200" algn="just">
              <a:spcBef>
                <a:spcPts val="480"/>
              </a:spcBef>
              <a:spcAft>
                <a:spcPts val="0"/>
              </a:spcAft>
            </a:pPr>
            <a:endParaRPr lang="en-US" sz="2400" dirty="0">
              <a:solidFill>
                <a:srgbClr val="0033CC"/>
              </a:solidFill>
              <a:latin typeface="Trebuchet MS"/>
            </a:endParaRPr>
          </a:p>
        </p:txBody>
      </p:sp>
      <p:sp>
        <p:nvSpPr>
          <p:cNvPr id="3" name="Rectangle 2">
            <a:extLst>
              <a:ext uri="{FF2B5EF4-FFF2-40B4-BE49-F238E27FC236}">
                <a16:creationId xmlns:a16="http://schemas.microsoft.com/office/drawing/2014/main" id="{8C9D2796-BC25-24EF-FF9D-D80DBAAAF50F}"/>
              </a:ext>
            </a:extLst>
          </p:cNvPr>
          <p:cNvSpPr>
            <a:spLocks noChangeArrowheads="1"/>
          </p:cNvSpPr>
          <p:nvPr/>
        </p:nvSpPr>
        <p:spPr bwMode="auto">
          <a:xfrm>
            <a:off x="1825256" y="371543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C299EDC-3AE6-61BA-DD9A-A071D0CDD511}"/>
              </a:ext>
            </a:extLst>
          </p:cNvPr>
          <p:cNvSpPr txBox="1"/>
          <p:nvPr/>
        </p:nvSpPr>
        <p:spPr>
          <a:xfrm>
            <a:off x="950167" y="1986956"/>
            <a:ext cx="10363200" cy="4124206"/>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Relevance:</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Aligns with current industry challenges like dynamic workloads, multitasking, and energy efficiency.</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Tackles real-world problems in cloud computing, edge devices, and mobile platforms.</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Bridges the gap between AI predictions and OS-level resource control</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providing a more intelligent and responsive system scheduler.</a:t>
            </a:r>
          </a:p>
          <a:p>
            <a:endParaRPr lang="en-US" sz="1600"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Application in the Real World:</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Practical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Can be embedded in Linux-based systems as a plug-in scheduler.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Suitable for environments with diverse task profiles, like gaming, real-time data processing, or multitasking user desktops.</a:t>
            </a:r>
          </a:p>
          <a:p>
            <a:pPr lvl="2"/>
            <a:endParaRPr lang="en-US" sz="1600" dirty="0"/>
          </a:p>
          <a:p>
            <a:pPr>
              <a:buNone/>
            </a:pPr>
            <a:r>
              <a:rPr lang="en-US" b="1" dirty="0">
                <a:latin typeface="Times New Roman" panose="02020603050405020304" pitchFamily="18" charset="0"/>
                <a:cs typeface="Times New Roman" panose="02020603050405020304" pitchFamily="18" charset="0"/>
              </a:rPr>
              <a:t>Use Cases and Scalability:</a:t>
            </a:r>
            <a:endParaRPr lang="en-US"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Data centers to optimize CPU cycles across VMs.</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Smartphones to reduce lag and save battery by postponing background processes.</a:t>
            </a:r>
          </a:p>
          <a:p>
            <a:pPr marL="742950" lvl="1"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Industrial and robotics systems needing real-time performance with adaptive load balancing.</a:t>
            </a:r>
          </a:p>
        </p:txBody>
      </p:sp>
    </p:spTree>
    <p:extLst>
      <p:ext uri="{BB962C8B-B14F-4D97-AF65-F5344CB8AC3E}">
        <p14:creationId xmlns:p14="http://schemas.microsoft.com/office/powerpoint/2010/main" val="702978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082971"/>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High-level design</a:t>
            </a:r>
            <a:endParaRPr lang="en-US" sz="2400" b="1" i="1"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91E7B445-B43F-8F60-E9E3-B5C4CFDB2C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752600"/>
            <a:ext cx="8915400" cy="4761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
          <a:extLst>
            <a:ext uri="{FF2B5EF4-FFF2-40B4-BE49-F238E27FC236}">
              <a16:creationId xmlns:a16="http://schemas.microsoft.com/office/drawing/2014/main" id="{C4335F70-16DD-7B4C-5BE4-0F0D3CF13566}"/>
            </a:ext>
          </a:extLst>
        </p:cNvPr>
        <p:cNvGrpSpPr/>
        <p:nvPr/>
      </p:nvGrpSpPr>
      <p:grpSpPr>
        <a:xfrm>
          <a:off x="0" y="0"/>
          <a:ext cx="0" cy="0"/>
          <a:chOff x="0" y="0"/>
          <a:chExt cx="0" cy="0"/>
        </a:xfrm>
      </p:grpSpPr>
      <p:sp>
        <p:nvSpPr>
          <p:cNvPr id="52" name="Google Shape;52;p7">
            <a:extLst>
              <a:ext uri="{FF2B5EF4-FFF2-40B4-BE49-F238E27FC236}">
                <a16:creationId xmlns:a16="http://schemas.microsoft.com/office/drawing/2014/main" id="{A413169E-1CC7-F685-D62E-22470E89EB18}"/>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a:extLst>
              <a:ext uri="{FF2B5EF4-FFF2-40B4-BE49-F238E27FC236}">
                <a16:creationId xmlns:a16="http://schemas.microsoft.com/office/drawing/2014/main" id="{08126B23-FB1E-145B-E6B0-483F4E2E0403}"/>
              </a:ext>
            </a:extLst>
          </p:cNvPr>
          <p:cNvSpPr txBox="1"/>
          <p:nvPr/>
        </p:nvSpPr>
        <p:spPr>
          <a:xfrm>
            <a:off x="2895600" y="1082971"/>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High-level design</a:t>
            </a:r>
            <a:endParaRPr lang="en-US" sz="24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719736C-92C6-0776-CDAA-BF424B15FADC}"/>
              </a:ext>
            </a:extLst>
          </p:cNvPr>
          <p:cNvSpPr txBox="1"/>
          <p:nvPr/>
        </p:nvSpPr>
        <p:spPr>
          <a:xfrm>
            <a:off x="1371600" y="2667000"/>
            <a:ext cx="9372600"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This architecture follows a </a:t>
            </a:r>
            <a:r>
              <a:rPr lang="en-US" sz="1800" b="1" dirty="0">
                <a:latin typeface="Times New Roman" panose="02020603050405020304" pitchFamily="18" charset="0"/>
                <a:cs typeface="Times New Roman" panose="02020603050405020304" pitchFamily="18" charset="0"/>
              </a:rPr>
              <a:t>Microkernel-based AI-Assisted Scheduling</a:t>
            </a:r>
            <a:r>
              <a:rPr lang="en-US" sz="1800" dirty="0">
                <a:latin typeface="Times New Roman" panose="02020603050405020304" pitchFamily="18" charset="0"/>
                <a:cs typeface="Times New Roman" panose="02020603050405020304" pitchFamily="18" charset="0"/>
              </a:rPr>
              <a:t> approach. The </a:t>
            </a:r>
            <a:r>
              <a:rPr lang="en-US" sz="1800" b="1" dirty="0">
                <a:latin typeface="Times New Roman" panose="02020603050405020304" pitchFamily="18" charset="0"/>
                <a:cs typeface="Times New Roman" panose="02020603050405020304" pitchFamily="18" charset="0"/>
              </a:rPr>
              <a:t>AI Model</a:t>
            </a:r>
            <a:r>
              <a:rPr lang="en-US" sz="1800" dirty="0">
                <a:latin typeface="Times New Roman" panose="02020603050405020304" pitchFamily="18" charset="0"/>
                <a:cs typeface="Times New Roman" panose="02020603050405020304" pitchFamily="18" charset="0"/>
              </a:rPr>
              <a:t> in user space that classifies tasks and analyzes the workload of </a:t>
            </a:r>
            <a:r>
              <a:rPr lang="en-US" sz="1800" b="1" dirty="0">
                <a:latin typeface="Times New Roman" panose="02020603050405020304" pitchFamily="18" charset="0"/>
                <a:cs typeface="Times New Roman" panose="02020603050405020304" pitchFamily="18" charset="0"/>
              </a:rPr>
              <a:t>Program X</a:t>
            </a:r>
            <a:r>
              <a:rPr lang="en-US" sz="1800" dirty="0">
                <a:latin typeface="Times New Roman" panose="02020603050405020304" pitchFamily="18" charset="0"/>
                <a:cs typeface="Times New Roman" panose="02020603050405020304" pitchFamily="18" charset="0"/>
              </a:rPr>
              <a:t> and predicts an optimal </a:t>
            </a:r>
            <a:r>
              <a:rPr lang="en-US" sz="1800" b="1" dirty="0">
                <a:latin typeface="Times New Roman" panose="02020603050405020304" pitchFamily="18" charset="0"/>
                <a:cs typeface="Times New Roman" panose="02020603050405020304" pitchFamily="18" charset="0"/>
              </a:rPr>
              <a:t>Smart Time Slice (STS)</a:t>
            </a:r>
            <a:r>
              <a:rPr lang="en-US" sz="1800" dirty="0">
                <a:latin typeface="Times New Roman" panose="02020603050405020304" pitchFamily="18" charset="0"/>
                <a:cs typeface="Times New Roman" panose="02020603050405020304" pitchFamily="18" charset="0"/>
              </a:rPr>
              <a:t>. It then makes a </a:t>
            </a:r>
            <a:r>
              <a:rPr lang="en-US" sz="1800" b="1" dirty="0">
                <a:latin typeface="Times New Roman" panose="02020603050405020304" pitchFamily="18" charset="0"/>
                <a:cs typeface="Times New Roman" panose="02020603050405020304" pitchFamily="18" charset="0"/>
              </a:rPr>
              <a:t>system call</a:t>
            </a:r>
            <a:r>
              <a:rPr lang="en-US" sz="1800" dirty="0">
                <a:latin typeface="Times New Roman" panose="02020603050405020304" pitchFamily="18" charset="0"/>
                <a:cs typeface="Times New Roman" panose="02020603050405020304" pitchFamily="18" charset="0"/>
              </a:rPr>
              <a:t> to the </a:t>
            </a:r>
            <a:r>
              <a:rPr lang="en-US" sz="1800" b="1" dirty="0">
                <a:latin typeface="Times New Roman" panose="02020603050405020304" pitchFamily="18" charset="0"/>
                <a:cs typeface="Times New Roman" panose="02020603050405020304" pitchFamily="18" charset="0"/>
              </a:rPr>
              <a:t>Modified Scheduler</a:t>
            </a:r>
            <a:r>
              <a:rPr lang="en-US" sz="1800" dirty="0">
                <a:latin typeface="Times New Roman" panose="02020603050405020304" pitchFamily="18" charset="0"/>
                <a:cs typeface="Times New Roman" panose="02020603050405020304" pitchFamily="18" charset="0"/>
              </a:rPr>
              <a:t> in kernel space, which dynamically adjusts CPU allocation based on AI recommendations. The scheduler enforces the AI-determined time slice and assigns CPU cycles accordingly. This approach improves resource efficiency by integrating </a:t>
            </a:r>
            <a:r>
              <a:rPr lang="en-US" sz="1800" b="1" dirty="0">
                <a:latin typeface="Times New Roman" panose="02020603050405020304" pitchFamily="18" charset="0"/>
                <a:cs typeface="Times New Roman" panose="02020603050405020304" pitchFamily="18" charset="0"/>
              </a:rPr>
              <a:t>machine learning-based adaptive scheduling</a:t>
            </a:r>
            <a:r>
              <a:rPr lang="en-US" sz="1800" dirty="0">
                <a:latin typeface="Times New Roman" panose="02020603050405020304" pitchFamily="18" charset="0"/>
                <a:cs typeface="Times New Roman" panose="02020603050405020304" pitchFamily="18" charset="0"/>
              </a:rPr>
              <a:t> while keeping the kernel minimal and modular.</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634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8"/>
          <p:cNvSpPr/>
          <p:nvPr/>
        </p:nvSpPr>
        <p:spPr>
          <a:xfrm>
            <a:off x="3048000" y="1581151"/>
            <a:ext cx="7620000" cy="36513"/>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61" name="Google Shape;61;p8"/>
          <p:cNvSpPr txBox="1"/>
          <p:nvPr/>
        </p:nvSpPr>
        <p:spPr>
          <a:xfrm>
            <a:off x="2895600" y="1143001"/>
            <a:ext cx="7772400" cy="461665"/>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endParaRPr lang="en-US" sz="2400" dirty="0"/>
          </a:p>
        </p:txBody>
      </p:sp>
      <p:sp>
        <p:nvSpPr>
          <p:cNvPr id="62" name="Google Shape;62;p8"/>
          <p:cNvSpPr txBox="1"/>
          <p:nvPr/>
        </p:nvSpPr>
        <p:spPr>
          <a:xfrm>
            <a:off x="762000" y="1362947"/>
            <a:ext cx="9019350" cy="4758900"/>
          </a:xfrm>
          <a:prstGeom prst="rect">
            <a:avLst/>
          </a:prstGeom>
          <a:noFill/>
          <a:ln>
            <a:noFill/>
          </a:ln>
        </p:spPr>
        <p:txBody>
          <a:bodyPr spcFirstLastPara="1" wrap="square" lIns="91425" tIns="45700" rIns="91425" bIns="45700" anchor="ctr" anchorCtr="0">
            <a:noAutofit/>
          </a:bodyPr>
          <a:lstStyle/>
          <a:p>
            <a:pPr algn="just">
              <a:spcBef>
                <a:spcPts val="480"/>
              </a:spcBef>
              <a:spcAft>
                <a:spcPts val="0"/>
              </a:spcAft>
              <a:buClr>
                <a:schemeClr val="dk1"/>
              </a:buClr>
              <a:buSzPts val="1100"/>
            </a:pPr>
            <a:r>
              <a:rPr lang="en-US" sz="2400" b="1" dirty="0">
                <a:latin typeface="Times New Roman" panose="02020603050405020304" pitchFamily="18" charset="0"/>
                <a:ea typeface="Trebuchet MS"/>
                <a:cs typeface="Times New Roman" panose="02020603050405020304" pitchFamily="18" charset="0"/>
                <a:sym typeface="Trebuchet MS"/>
              </a:rPr>
              <a:t>Technologies</a:t>
            </a:r>
          </a:p>
          <a:p>
            <a:pPr marL="742950" lvl="1" indent="-285750" algn="just">
              <a:spcBef>
                <a:spcPts val="480"/>
              </a:spcBef>
              <a:spcAft>
                <a:spcPts val="0"/>
              </a:spcAft>
              <a:buClr>
                <a:schemeClr val="dk1"/>
              </a:buClr>
              <a:buSzPts val="1100"/>
              <a:buFont typeface="Wingdings" panose="05000000000000000000" pitchFamily="2" charset="2"/>
              <a:buChar char="§"/>
            </a:pPr>
            <a:r>
              <a:rPr lang="en-US" sz="2400" dirty="0">
                <a:latin typeface="Times New Roman" panose="02020603050405020304" pitchFamily="18" charset="0"/>
                <a:ea typeface="Trebuchet MS"/>
                <a:cs typeface="Times New Roman" panose="02020603050405020304" pitchFamily="18" charset="0"/>
                <a:sym typeface="Trebuchet MS"/>
              </a:rPr>
              <a:t>Python</a:t>
            </a:r>
          </a:p>
          <a:p>
            <a:pPr marL="742950" lvl="1" indent="-285750" algn="just">
              <a:spcBef>
                <a:spcPts val="480"/>
              </a:spcBef>
              <a:spcAft>
                <a:spcPts val="0"/>
              </a:spcAft>
              <a:buClr>
                <a:schemeClr val="dk1"/>
              </a:buClr>
              <a:buSzPts val="1100"/>
              <a:buFont typeface="Wingdings" panose="05000000000000000000" pitchFamily="2" charset="2"/>
              <a:buChar char="§"/>
            </a:pPr>
            <a:r>
              <a:rPr lang="en-US" sz="2400" dirty="0">
                <a:latin typeface="Times New Roman" panose="02020603050405020304" pitchFamily="18" charset="0"/>
                <a:ea typeface="Trebuchet MS"/>
                <a:cs typeface="Times New Roman" panose="02020603050405020304" pitchFamily="18" charset="0"/>
                <a:sym typeface="Trebuchet MS"/>
              </a:rPr>
              <a:t>C</a:t>
            </a:r>
          </a:p>
          <a:p>
            <a:pPr marL="742950" lvl="1" indent="-285750" algn="just">
              <a:spcBef>
                <a:spcPts val="480"/>
              </a:spcBef>
              <a:spcAft>
                <a:spcPts val="0"/>
              </a:spcAft>
              <a:buClr>
                <a:schemeClr val="dk1"/>
              </a:buClr>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Scikit-Learn (</a:t>
            </a:r>
            <a:r>
              <a:rPr lang="en-IN" sz="2400" dirty="0" err="1">
                <a:latin typeface="Times New Roman" panose="02020603050405020304" pitchFamily="18" charset="0"/>
                <a:cs typeface="Times New Roman" panose="02020603050405020304" pitchFamily="18" charset="0"/>
              </a:rPr>
              <a:t>sklearn</a:t>
            </a:r>
            <a:r>
              <a:rPr lang="en-I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sym typeface="Trebuchet MS"/>
            </a:endParaRPr>
          </a:p>
          <a:p>
            <a:pPr marL="742950" lvl="1" indent="-285750" algn="just">
              <a:spcBef>
                <a:spcPts val="480"/>
              </a:spcBef>
              <a:spcAft>
                <a:spcPts val="0"/>
              </a:spcAft>
              <a:buClr>
                <a:schemeClr val="dk1"/>
              </a:buClr>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Linux Kernel</a:t>
            </a:r>
            <a:endParaRPr lang="en-US" sz="2400" dirty="0">
              <a:latin typeface="Times New Roman" panose="02020603050405020304" pitchFamily="18" charset="0"/>
              <a:cs typeface="Times New Roman" panose="02020603050405020304" pitchFamily="18" charset="0"/>
              <a:sym typeface="Trebuchet MS"/>
            </a:endParaRPr>
          </a:p>
          <a:p>
            <a:pPr marL="742950" lvl="1" indent="-285750" algn="just">
              <a:spcBef>
                <a:spcPts val="480"/>
              </a:spcBef>
              <a:spcAft>
                <a:spcPts val="0"/>
              </a:spcAft>
              <a:buClr>
                <a:schemeClr val="dk1"/>
              </a:buClr>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TensorFlow</a:t>
            </a:r>
            <a:endParaRPr lang="en-US" sz="2400" dirty="0">
              <a:latin typeface="Times New Roman" panose="02020603050405020304" pitchFamily="18" charset="0"/>
              <a:cs typeface="Times New Roman" panose="02020603050405020304" pitchFamily="18" charset="0"/>
              <a:sym typeface="Trebuchet MS"/>
            </a:endParaRPr>
          </a:p>
          <a:p>
            <a:pPr marL="742950" lvl="1" indent="-285750" algn="just">
              <a:spcBef>
                <a:spcPts val="480"/>
              </a:spcBef>
              <a:spcAft>
                <a:spcPts val="0"/>
              </a:spcAft>
              <a:buClr>
                <a:schemeClr val="dk1"/>
              </a:buClr>
              <a:buSzPts val="1100"/>
              <a:buFont typeface="Wingdings" panose="05000000000000000000" pitchFamily="2" charset="2"/>
              <a:buChar char="§"/>
            </a:pPr>
            <a:r>
              <a:rPr lang="en-IN" sz="2400" dirty="0" err="1">
                <a:latin typeface="Times New Roman" panose="02020603050405020304" pitchFamily="18" charset="0"/>
                <a:cs typeface="Times New Roman" panose="02020603050405020304" pitchFamily="18" charset="0"/>
              </a:rPr>
              <a:t>PyTorch</a:t>
            </a:r>
            <a:endParaRPr lang="en-US" sz="2400" dirty="0">
              <a:latin typeface="Times New Roman" panose="02020603050405020304" pitchFamily="18" charset="0"/>
              <a:ea typeface="Trebuchet MS"/>
              <a:cs typeface="Times New Roman" panose="02020603050405020304" pitchFamily="18" charset="0"/>
              <a:sym typeface="Trebuchet MS"/>
            </a:endParaRPr>
          </a:p>
        </p:txBody>
      </p:sp>
      <p:sp>
        <p:nvSpPr>
          <p:cNvPr id="2" name="Google Shape;53;p7">
            <a:extLst>
              <a:ext uri="{FF2B5EF4-FFF2-40B4-BE49-F238E27FC236}">
                <a16:creationId xmlns:a16="http://schemas.microsoft.com/office/drawing/2014/main" id="{4AD8EAA6-9264-448D-B05D-A7D097EAA502}"/>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methodology</a:t>
            </a:r>
            <a:endParaRPr lang="en-US" sz="2400"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F805BF0-084D-5383-FE33-E290DDF43C53}"/>
              </a:ext>
            </a:extLst>
          </p:cNvPr>
          <p:cNvSpPr txBox="1"/>
          <p:nvPr/>
        </p:nvSpPr>
        <p:spPr>
          <a:xfrm>
            <a:off x="4800600" y="2209800"/>
            <a:ext cx="6324600" cy="2657138"/>
          </a:xfrm>
          <a:prstGeom prst="rect">
            <a:avLst/>
          </a:prstGeom>
          <a:noFill/>
        </p:spPr>
        <p:txBody>
          <a:bodyPr wrap="square">
            <a:spAutoFit/>
          </a:bodyPr>
          <a:lstStyle/>
          <a:p>
            <a:pPr algn="just">
              <a:spcBef>
                <a:spcPts val="480"/>
              </a:spcBef>
              <a:spcAft>
                <a:spcPts val="0"/>
              </a:spcAft>
              <a:buClr>
                <a:schemeClr val="dk1"/>
              </a:buClr>
              <a:buSzPts val="1100"/>
            </a:pPr>
            <a:r>
              <a:rPr lang="en-US" sz="2400" b="1" dirty="0">
                <a:latin typeface="Times New Roman" panose="02020603050405020304" pitchFamily="18" charset="0"/>
                <a:ea typeface="Trebuchet MS"/>
                <a:cs typeface="Times New Roman" panose="02020603050405020304" pitchFamily="18" charset="0"/>
                <a:sym typeface="Trebuchet MS"/>
              </a:rPr>
              <a:t>Design Approach: </a:t>
            </a:r>
          </a:p>
          <a:p>
            <a:pPr marL="742950" lvl="1" indent="-285750" algn="just">
              <a:spcBef>
                <a:spcPts val="480"/>
              </a:spcBef>
              <a:spcAft>
                <a:spcPts val="0"/>
              </a:spcAft>
              <a:buClr>
                <a:schemeClr val="dk1"/>
              </a:buClr>
              <a:buSzPts val="1100"/>
              <a:buFont typeface="Wingdings" panose="05000000000000000000" pitchFamily="2" charset="2"/>
              <a:buChar char="§"/>
            </a:pPr>
            <a:r>
              <a:rPr lang="en-US" dirty="0">
                <a:latin typeface="Times New Roman" panose="02020603050405020304" pitchFamily="18" charset="0"/>
                <a:ea typeface="Trebuchet MS"/>
                <a:cs typeface="Times New Roman" panose="02020603050405020304" pitchFamily="18" charset="0"/>
                <a:sym typeface="Trebuchet MS"/>
              </a:rPr>
              <a:t>User Creates Task</a:t>
            </a:r>
          </a:p>
          <a:p>
            <a:pPr marL="742950" lvl="1" indent="-285750" algn="just">
              <a:spcBef>
                <a:spcPts val="480"/>
              </a:spcBef>
              <a:spcAft>
                <a:spcPts val="0"/>
              </a:spcAft>
              <a:buClr>
                <a:schemeClr val="dk1"/>
              </a:buClr>
              <a:buSzPts val="1100"/>
              <a:buFont typeface="Wingdings" panose="05000000000000000000" pitchFamily="2" charset="2"/>
              <a:buChar char="§"/>
            </a:pPr>
            <a:r>
              <a:rPr lang="en-US" dirty="0">
                <a:latin typeface="Times New Roman" panose="02020603050405020304" pitchFamily="18" charset="0"/>
                <a:ea typeface="Trebuchet MS"/>
                <a:cs typeface="Times New Roman" panose="02020603050405020304" pitchFamily="18" charset="0"/>
                <a:sym typeface="Trebuchet MS"/>
              </a:rPr>
              <a:t>Which is scheduled with same priority irrespective of task</a:t>
            </a:r>
          </a:p>
          <a:p>
            <a:pPr marL="742950" lvl="1" indent="-285750" algn="just">
              <a:spcBef>
                <a:spcPts val="480"/>
              </a:spcBef>
              <a:spcAft>
                <a:spcPts val="0"/>
              </a:spcAft>
              <a:buClr>
                <a:schemeClr val="dk1"/>
              </a:buClr>
              <a:buSzPts val="1100"/>
              <a:buFont typeface="Wingdings" panose="05000000000000000000" pitchFamily="2" charset="2"/>
              <a:buChar char="§"/>
            </a:pPr>
            <a:r>
              <a:rPr lang="en-US" dirty="0">
                <a:latin typeface="Times New Roman" panose="02020603050405020304" pitchFamily="18" charset="0"/>
                <a:ea typeface="Trebuchet MS"/>
                <a:cs typeface="Times New Roman" panose="02020603050405020304" pitchFamily="18" charset="0"/>
                <a:sym typeface="Trebuchet MS"/>
              </a:rPr>
              <a:t>After collecting system resources and system workload, we predict the </a:t>
            </a:r>
            <a:r>
              <a:rPr lang="en-US" b="1" dirty="0">
                <a:latin typeface="Times New Roman" panose="02020603050405020304" pitchFamily="18" charset="0"/>
                <a:ea typeface="Trebuchet MS"/>
                <a:cs typeface="Times New Roman" panose="02020603050405020304" pitchFamily="18" charset="0"/>
                <a:sym typeface="Trebuchet MS"/>
              </a:rPr>
              <a:t>virtual runtime (</a:t>
            </a:r>
            <a:r>
              <a:rPr lang="en-US" b="1" dirty="0" err="1">
                <a:latin typeface="Times New Roman" panose="02020603050405020304" pitchFamily="18" charset="0"/>
                <a:ea typeface="Trebuchet MS"/>
                <a:cs typeface="Times New Roman" panose="02020603050405020304" pitchFamily="18" charset="0"/>
                <a:sym typeface="Trebuchet MS"/>
              </a:rPr>
              <a:t>vruntime</a:t>
            </a:r>
            <a:r>
              <a:rPr lang="en-US" b="1" dirty="0">
                <a:latin typeface="Times New Roman" panose="02020603050405020304" pitchFamily="18" charset="0"/>
                <a:ea typeface="Trebuchet MS"/>
                <a:cs typeface="Times New Roman" panose="02020603050405020304" pitchFamily="18" charset="0"/>
                <a:sym typeface="Trebuchet MS"/>
              </a:rPr>
              <a:t>) </a:t>
            </a:r>
            <a:r>
              <a:rPr lang="en-US" dirty="0">
                <a:latin typeface="Times New Roman" panose="02020603050405020304" pitchFamily="18" charset="0"/>
                <a:ea typeface="Trebuchet MS"/>
                <a:cs typeface="Times New Roman" panose="02020603050405020304" pitchFamily="18" charset="0"/>
                <a:sym typeface="Trebuchet MS"/>
              </a:rPr>
              <a:t>and </a:t>
            </a:r>
            <a:r>
              <a:rPr lang="en-US" b="1" i="1" dirty="0">
                <a:latin typeface="Times New Roman" panose="02020603050405020304" pitchFamily="18" charset="0"/>
                <a:ea typeface="Trebuchet MS"/>
                <a:cs typeface="Times New Roman" panose="02020603050405020304" pitchFamily="18" charset="0"/>
                <a:sym typeface="Trebuchet MS"/>
              </a:rPr>
              <a:t>STS</a:t>
            </a:r>
            <a:r>
              <a:rPr lang="en-US" dirty="0">
                <a:latin typeface="Times New Roman" panose="02020603050405020304" pitchFamily="18" charset="0"/>
                <a:ea typeface="Trebuchet MS"/>
                <a:cs typeface="Times New Roman" panose="02020603050405020304" pitchFamily="18" charset="0"/>
                <a:sym typeface="Trebuchet MS"/>
              </a:rPr>
              <a:t> based on collected data.</a:t>
            </a:r>
          </a:p>
          <a:p>
            <a:pPr marL="742950" lvl="1" indent="-285750" algn="just">
              <a:spcBef>
                <a:spcPts val="480"/>
              </a:spcBef>
              <a:spcAft>
                <a:spcPts val="0"/>
              </a:spcAft>
              <a:buClr>
                <a:schemeClr val="dk1"/>
              </a:buClr>
              <a:buSzPts val="11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prediction helps determine the next tasks to be scheduled.</a:t>
            </a:r>
            <a:endParaRPr lang="en-US" dirty="0">
              <a:latin typeface="Times New Roman" panose="02020603050405020304" pitchFamily="18" charset="0"/>
              <a:ea typeface="Trebuchet MS"/>
              <a:cs typeface="Times New Roman" panose="02020603050405020304" pitchFamily="18" charset="0"/>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219200" y="1066800"/>
            <a:ext cx="9525000" cy="830997"/>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Project Progress-Data Preprocessing and Base model implementation</a:t>
            </a:r>
          </a:p>
          <a:p>
            <a:pPr marL="342900" indent="-342900" algn="r">
              <a:spcBef>
                <a:spcPts val="0"/>
              </a:spcBef>
              <a:spcAft>
                <a:spcPts val="0"/>
              </a:spcAft>
            </a:pPr>
            <a:endParaRPr lang="en-US" sz="2400" b="1" i="1" dirty="0">
              <a:latin typeface="Times New Roman" panose="02020603050405020304" pitchFamily="18" charset="0"/>
              <a:cs typeface="Times New Roman" panose="02020603050405020304" pitchFamily="18" charset="0"/>
            </a:endParaRPr>
          </a:p>
        </p:txBody>
      </p:sp>
      <p:sp>
        <p:nvSpPr>
          <p:cNvPr id="6" name="Content Placeholder 2"/>
          <p:cNvSpPr txBox="1">
            <a:spLocks/>
          </p:cNvSpPr>
          <p:nvPr/>
        </p:nvSpPr>
        <p:spPr>
          <a:xfrm>
            <a:off x="1981200" y="1752600"/>
            <a:ext cx="8229600" cy="4724400"/>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p:txBody>
      </p:sp>
      <p:sp>
        <p:nvSpPr>
          <p:cNvPr id="11" name="Rectangle 6">
            <a:extLst>
              <a:ext uri="{FF2B5EF4-FFF2-40B4-BE49-F238E27FC236}">
                <a16:creationId xmlns:a16="http://schemas.microsoft.com/office/drawing/2014/main" id="{35CE776B-3A95-B341-2468-18D70DFE579C}"/>
              </a:ext>
            </a:extLst>
          </p:cNvPr>
          <p:cNvSpPr>
            <a:spLocks noChangeArrowheads="1"/>
          </p:cNvSpPr>
          <p:nvPr/>
        </p:nvSpPr>
        <p:spPr bwMode="auto">
          <a:xfrm>
            <a:off x="762000" y="1753299"/>
            <a:ext cx="5029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and Preprocessing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Sources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intelligent task classification, we gathered real-time system metrics using multiple tools and system interfaces:</a:t>
            </a:r>
          </a:p>
          <a:p>
            <a:pPr marL="742950" lvl="1" indent="-285750" eaLnBrk="0" hangingPunct="0">
              <a:buFont typeface="Wingdings" panose="05000000000000000000" pitchFamily="2" charset="2"/>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Monitoring Tools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psutil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 filesystem,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getrusage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sched_getscheduler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eaLnBrk="0" hangingPunct="0">
              <a:buFont typeface="Wingdings" panose="05000000000000000000" pitchFamily="2" charset="2"/>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Kernel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Tracepoints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 Profilers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ftrace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eBPF</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hangingPunct="0">
              <a:buFont typeface="Wingdings" panose="05000000000000000000" pitchFamily="2" charset="2"/>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Performance Utilities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vmstat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dstat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Features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eaLnBrk="0" hangingPunct="0">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CPU usage, memory usage, I/O stats, execution time</a:t>
            </a:r>
          </a:p>
          <a:p>
            <a:pPr marL="742950" lvl="1" indent="-285750" eaLnBrk="0" hangingPunct="0">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Task priority, arrival time, deadline</a:t>
            </a:r>
          </a:p>
          <a:p>
            <a:pPr marL="742950" lvl="1" indent="-285750" eaLnBrk="0" hangingPunct="0">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switches, task migrations, system load</a:t>
            </a:r>
          </a:p>
          <a:p>
            <a:pPr marL="742950" lvl="1" indent="-285750" eaLnBrk="0" hangingPunct="0">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Task type and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preemptibility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8EF19C4F-C107-4CC6-D5FA-CE605334EEB3}"/>
              </a:ext>
            </a:extLst>
          </p:cNvPr>
          <p:cNvSpPr>
            <a:spLocks noChangeArrowheads="1"/>
          </p:cNvSpPr>
          <p:nvPr/>
        </p:nvSpPr>
        <p:spPr bwMode="auto">
          <a:xfrm>
            <a:off x="6141098" y="1786945"/>
            <a:ext cx="48006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 Steps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high-quality data for ML models: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Value Handling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Dropped incomplete records using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dropna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Irrelevant Feature Removal</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Dropped Task ID and Task Name to reduce noise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Categorical Encoding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Encoded Task Type using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LabelEncoder</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Preemptible (TRUE/FALSE) to numeric</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Scaling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StandardScaler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normalize numerical attributes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(e.g., CPU usage, memory, priority,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4">
            <a:extLst>
              <a:ext uri="{FF2B5EF4-FFF2-40B4-BE49-F238E27FC236}">
                <a16:creationId xmlns:a16="http://schemas.microsoft.com/office/drawing/2014/main" id="{C3BBD4A2-BA2C-1FBC-D842-1867898F2CFF}"/>
              </a:ext>
            </a:extLst>
          </p:cNvPr>
          <p:cNvSpPr txBox="1">
            <a:spLocks noChangeArrowheads="1"/>
          </p:cNvSpPr>
          <p:nvPr/>
        </p:nvSpPr>
        <p:spPr bwMode="auto">
          <a:xfrm>
            <a:off x="1219200" y="1066800"/>
            <a:ext cx="9525000" cy="830997"/>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Project Progress-Data Preprocessing and Base model implementation</a:t>
            </a:r>
          </a:p>
          <a:p>
            <a:pPr marL="342900" indent="-342900" algn="r">
              <a:spcBef>
                <a:spcPts val="0"/>
              </a:spcBef>
              <a:spcAft>
                <a:spcPts val="0"/>
              </a:spcAft>
            </a:pPr>
            <a:endParaRPr lang="en-US" sz="2400" b="1" i="1" dirty="0">
              <a:latin typeface="Times New Roman" panose="02020603050405020304" pitchFamily="18" charset="0"/>
              <a:cs typeface="Times New Roman" panose="02020603050405020304" pitchFamily="18" charset="0"/>
            </a:endParaRPr>
          </a:p>
        </p:txBody>
      </p:sp>
      <p:sp>
        <p:nvSpPr>
          <p:cNvPr id="4" name="Google Shape;52;p7">
            <a:extLst>
              <a:ext uri="{FF2B5EF4-FFF2-40B4-BE49-F238E27FC236}">
                <a16:creationId xmlns:a16="http://schemas.microsoft.com/office/drawing/2014/main" id="{6A6AAD51-3697-1DD8-0AD0-A2437F6E2BEE}"/>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6" name="TextBox 5">
            <a:extLst>
              <a:ext uri="{FF2B5EF4-FFF2-40B4-BE49-F238E27FC236}">
                <a16:creationId xmlns:a16="http://schemas.microsoft.com/office/drawing/2014/main" id="{2AFFCB4A-D3E9-E65C-C6B9-25682E5012FB}"/>
              </a:ext>
            </a:extLst>
          </p:cNvPr>
          <p:cNvSpPr txBox="1"/>
          <p:nvPr/>
        </p:nvSpPr>
        <p:spPr>
          <a:xfrm>
            <a:off x="1524000" y="1950482"/>
            <a:ext cx="7469677"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Data visualization: </a:t>
            </a:r>
            <a:r>
              <a:rPr lang="en-IN" dirty="0">
                <a:latin typeface="Times New Roman" panose="02020603050405020304" pitchFamily="18" charset="0"/>
                <a:cs typeface="Times New Roman" panose="02020603050405020304" pitchFamily="18" charset="0"/>
              </a:rPr>
              <a:t>Task vs Avg. Usage (CPU, memory, io)</a:t>
            </a:r>
          </a:p>
          <a:p>
            <a:r>
              <a:rPr lang="en-IN" b="1"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
            </a:pPr>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ED59BB3-D13A-8286-6373-F762B2F8E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2438400"/>
            <a:ext cx="5943600" cy="3718560"/>
          </a:xfrm>
          <a:prstGeom prst="rect">
            <a:avLst/>
          </a:prstGeom>
        </p:spPr>
      </p:pic>
    </p:spTree>
    <p:extLst>
      <p:ext uri="{BB962C8B-B14F-4D97-AF65-F5344CB8AC3E}">
        <p14:creationId xmlns:p14="http://schemas.microsoft.com/office/powerpoint/2010/main" val="17747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4CCAE-B0B8-B141-429E-0D2D8531E77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736A635-DBA4-0656-B6B3-2C4DC2713867}"/>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a:extLst>
              <a:ext uri="{FF2B5EF4-FFF2-40B4-BE49-F238E27FC236}">
                <a16:creationId xmlns:a16="http://schemas.microsoft.com/office/drawing/2014/main" id="{30C5012B-D287-1718-DF7F-0577A314DD1E}"/>
              </a:ext>
            </a:extLst>
          </p:cNvPr>
          <p:cNvSpPr txBox="1">
            <a:spLocks noChangeArrowheads="1"/>
          </p:cNvSpPr>
          <p:nvPr/>
        </p:nvSpPr>
        <p:spPr bwMode="auto">
          <a:xfrm>
            <a:off x="1219200" y="1066800"/>
            <a:ext cx="9525000" cy="830997"/>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Project Progress-Data Preprocessing and Base model implementation</a:t>
            </a:r>
          </a:p>
          <a:p>
            <a:pPr marL="342900" indent="-342900" algn="r">
              <a:spcBef>
                <a:spcPts val="0"/>
              </a:spcBef>
              <a:spcAft>
                <a:spcPts val="0"/>
              </a:spcAft>
            </a:pPr>
            <a:endParaRPr lang="en-US" sz="2400" b="1" i="1"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1C3DD79-8D75-3AC5-BABF-DD97B45DBA32}"/>
              </a:ext>
            </a:extLst>
          </p:cNvPr>
          <p:cNvSpPr txBox="1">
            <a:spLocks/>
          </p:cNvSpPr>
          <p:nvPr/>
        </p:nvSpPr>
        <p:spPr>
          <a:xfrm>
            <a:off x="1295400" y="1752600"/>
            <a:ext cx="9829800" cy="4724400"/>
          </a:xfrm>
          <a:prstGeom prst="rect">
            <a:avLst/>
          </a:prstGeom>
        </p:spPr>
        <p:txBody>
          <a:bodyPr/>
          <a:lstStyle/>
          <a:p>
            <a:r>
              <a:rPr lang="en-US" sz="2000" dirty="0">
                <a:latin typeface="Times New Roman" panose="02020603050405020304" pitchFamily="18" charset="0"/>
                <a:cs typeface="Times New Roman" panose="02020603050405020304" pitchFamily="18" charset="0"/>
              </a:rPr>
              <a:t>We have started implementing a task classification system using models like Random Forest, SVM, and others. Our focus is on training and evaluating these model’s using metrics like accuracy and precision. We are refining features, tuning hyperparameters, and analyzing misclassifications to improve performance. Through iterative testing, we aim to select the most effective model for accurate and efficient classification. Below are the Accuracy results of models we trained till now: </a:t>
            </a: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Random forest: </a:t>
            </a:r>
            <a:r>
              <a:rPr lang="en-US" sz="2000" dirty="0">
                <a:latin typeface="Times New Roman" panose="02020603050405020304" pitchFamily="18" charset="0"/>
                <a:cs typeface="Times New Roman" panose="02020603050405020304" pitchFamily="18" charset="0"/>
              </a:rPr>
              <a:t>95.01%</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SVM: </a:t>
            </a:r>
            <a:r>
              <a:rPr lang="en-US" sz="2000" dirty="0">
                <a:latin typeface="Times New Roman" panose="02020603050405020304" pitchFamily="18" charset="0"/>
                <a:cs typeface="Times New Roman" panose="02020603050405020304" pitchFamily="18" charset="0"/>
              </a:rPr>
              <a:t>89.88%</a:t>
            </a:r>
          </a:p>
          <a:p>
            <a:pPr marL="285750" indent="-285750">
              <a:buFont typeface="Wingdings" panose="05000000000000000000" pitchFamily="2" charset="2"/>
              <a:buChar char="§"/>
            </a:pPr>
            <a:r>
              <a:rPr lang="en-US" sz="2000" b="1" dirty="0" err="1">
                <a:latin typeface="Times New Roman" panose="02020603050405020304" pitchFamily="18" charset="0"/>
                <a:cs typeface="Times New Roman" panose="02020603050405020304" pitchFamily="18" charset="0"/>
              </a:rPr>
              <a:t>XgBoost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92.49%</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KNN: </a:t>
            </a:r>
            <a:r>
              <a:rPr lang="en-US" sz="2000" dirty="0">
                <a:latin typeface="Times New Roman" panose="02020603050405020304" pitchFamily="18" charset="0"/>
                <a:cs typeface="Times New Roman" panose="02020603050405020304" pitchFamily="18" charset="0"/>
              </a:rPr>
              <a:t>86%</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MLP: </a:t>
            </a:r>
            <a:r>
              <a:rPr lang="en-US" sz="2000" dirty="0">
                <a:latin typeface="Times New Roman" panose="02020603050405020304" pitchFamily="18" charset="0"/>
                <a:cs typeface="Times New Roman" panose="02020603050405020304" pitchFamily="18" charset="0"/>
              </a:rPr>
              <a:t>91.83%</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D57C605-39F6-D939-F1B9-A713B34FCB0D}"/>
              </a:ext>
            </a:extLst>
          </p:cNvPr>
          <p:cNvSpPr txBox="1"/>
          <p:nvPr/>
        </p:nvSpPr>
        <p:spPr>
          <a:xfrm>
            <a:off x="1295400" y="5483423"/>
            <a:ext cx="2385589" cy="307777"/>
          </a:xfrm>
          <a:prstGeom prst="rect">
            <a:avLst/>
          </a:prstGeom>
          <a:noFill/>
        </p:spPr>
        <p:txBody>
          <a:bodyPr wrap="none" rtlCol="0">
            <a:spAutoFit/>
          </a:bodyPr>
          <a:lstStyle/>
          <a:p>
            <a:r>
              <a:rPr lang="en-IN" sz="1400" dirty="0">
                <a:latin typeface="Times New Roman" panose="02020603050405020304" pitchFamily="18" charset="0"/>
                <a:cs typeface="Times New Roman" panose="02020603050405020304" pitchFamily="18" charset="0"/>
              </a:rPr>
              <a:t>(Results after cross validation)</a:t>
            </a:r>
          </a:p>
        </p:txBody>
      </p:sp>
    </p:spTree>
    <p:extLst>
      <p:ext uri="{BB962C8B-B14F-4D97-AF65-F5344CB8AC3E}">
        <p14:creationId xmlns:p14="http://schemas.microsoft.com/office/powerpoint/2010/main" val="1781744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E8B1D-BF7B-8198-55F0-3472157FEF20}"/>
            </a:ext>
          </a:extLst>
        </p:cNvPr>
        <p:cNvGrpSpPr/>
        <p:nvPr/>
      </p:nvGrpSpPr>
      <p:grpSpPr>
        <a:xfrm>
          <a:off x="0" y="0"/>
          <a:ext cx="0" cy="0"/>
          <a:chOff x="0" y="0"/>
          <a:chExt cx="0" cy="0"/>
        </a:xfrm>
      </p:grpSpPr>
      <p:sp>
        <p:nvSpPr>
          <p:cNvPr id="3" name="Text Box 34">
            <a:extLst>
              <a:ext uri="{FF2B5EF4-FFF2-40B4-BE49-F238E27FC236}">
                <a16:creationId xmlns:a16="http://schemas.microsoft.com/office/drawing/2014/main" id="{0081156D-8642-C034-8EDE-630F782F30D9}"/>
              </a:ext>
            </a:extLst>
          </p:cNvPr>
          <p:cNvSpPr txBox="1">
            <a:spLocks noChangeArrowheads="1"/>
          </p:cNvSpPr>
          <p:nvPr/>
        </p:nvSpPr>
        <p:spPr bwMode="auto">
          <a:xfrm>
            <a:off x="1219200" y="1066800"/>
            <a:ext cx="9525000" cy="830997"/>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Project Progress-Data Preprocessing and Base model implementation</a:t>
            </a:r>
          </a:p>
          <a:p>
            <a:pPr marL="342900" indent="-342900" algn="r">
              <a:spcBef>
                <a:spcPts val="0"/>
              </a:spcBef>
              <a:spcAft>
                <a:spcPts val="0"/>
              </a:spcAft>
            </a:pPr>
            <a:endParaRPr lang="en-US" sz="2400" b="1" i="1" dirty="0">
              <a:latin typeface="Times New Roman" panose="02020603050405020304" pitchFamily="18" charset="0"/>
              <a:cs typeface="Times New Roman" panose="02020603050405020304" pitchFamily="18" charset="0"/>
            </a:endParaRPr>
          </a:p>
        </p:txBody>
      </p:sp>
      <p:sp>
        <p:nvSpPr>
          <p:cNvPr id="4" name="Google Shape;52;p7">
            <a:extLst>
              <a:ext uri="{FF2B5EF4-FFF2-40B4-BE49-F238E27FC236}">
                <a16:creationId xmlns:a16="http://schemas.microsoft.com/office/drawing/2014/main" id="{E2F26182-3AD1-AAD9-4C2E-20420588D2A3}"/>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pic>
        <p:nvPicPr>
          <p:cNvPr id="5" name="Picture 4">
            <a:extLst>
              <a:ext uri="{FF2B5EF4-FFF2-40B4-BE49-F238E27FC236}">
                <a16:creationId xmlns:a16="http://schemas.microsoft.com/office/drawing/2014/main" id="{CB55FF94-DE5D-F6D9-6827-CBAC7FA47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0951" y="2294540"/>
            <a:ext cx="5430098" cy="3801069"/>
          </a:xfrm>
          <a:prstGeom prst="rect">
            <a:avLst/>
          </a:prstGeom>
        </p:spPr>
      </p:pic>
      <p:sp>
        <p:nvSpPr>
          <p:cNvPr id="6" name="TextBox 5">
            <a:extLst>
              <a:ext uri="{FF2B5EF4-FFF2-40B4-BE49-F238E27FC236}">
                <a16:creationId xmlns:a16="http://schemas.microsoft.com/office/drawing/2014/main" id="{6FC6D1D0-3955-1DCD-7732-FFB7FFF35653}"/>
              </a:ext>
            </a:extLst>
          </p:cNvPr>
          <p:cNvSpPr txBox="1"/>
          <p:nvPr/>
        </p:nvSpPr>
        <p:spPr>
          <a:xfrm>
            <a:off x="1905000" y="1957865"/>
            <a:ext cx="6118085" cy="369332"/>
          </a:xfrm>
          <a:prstGeom prst="rect">
            <a:avLst/>
          </a:prstGeom>
          <a:noFill/>
        </p:spPr>
        <p:txBody>
          <a:bodyPr wrap="none" rtlCol="0">
            <a:spAutoFit/>
          </a:bodyPr>
          <a:lstStyle/>
          <a:p>
            <a:r>
              <a:rPr lang="en-IN" b="1" i="1" dirty="0">
                <a:latin typeface="Times New Roman" panose="02020603050405020304" pitchFamily="18" charset="0"/>
                <a:cs typeface="Times New Roman" panose="02020603050405020304" pitchFamily="18" charset="0"/>
              </a:rPr>
              <a:t>Random Forest Confusion matrix (Highest Accuracy model)</a:t>
            </a:r>
          </a:p>
        </p:txBody>
      </p:sp>
    </p:spTree>
    <p:extLst>
      <p:ext uri="{BB962C8B-B14F-4D97-AF65-F5344CB8AC3E}">
        <p14:creationId xmlns:p14="http://schemas.microsoft.com/office/powerpoint/2010/main" val="3314348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FAC8-E554-32A2-BB12-9D83E7755A5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64AC014-F06E-8375-F747-8075E75E976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a:extLst>
              <a:ext uri="{FF2B5EF4-FFF2-40B4-BE49-F238E27FC236}">
                <a16:creationId xmlns:a16="http://schemas.microsoft.com/office/drawing/2014/main" id="{3030717F-F456-6442-1B28-E3D2DDB346EF}"/>
              </a:ext>
            </a:extLst>
          </p:cNvPr>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Individual Contribution</a:t>
            </a:r>
            <a:endParaRPr lang="en-US" sz="2400" b="1" i="1"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D2238785-1325-419C-E83F-AA3D12B884F2}"/>
              </a:ext>
            </a:extLst>
          </p:cNvPr>
          <p:cNvSpPr txBox="1">
            <a:spLocks/>
          </p:cNvSpPr>
          <p:nvPr/>
        </p:nvSpPr>
        <p:spPr>
          <a:xfrm>
            <a:off x="1981200" y="1752600"/>
            <a:ext cx="8229600" cy="4724400"/>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p:txBody>
      </p:sp>
      <p:graphicFrame>
        <p:nvGraphicFramePr>
          <p:cNvPr id="7" name="Table 6">
            <a:extLst>
              <a:ext uri="{FF2B5EF4-FFF2-40B4-BE49-F238E27FC236}">
                <a16:creationId xmlns:a16="http://schemas.microsoft.com/office/drawing/2014/main" id="{EFB42AC6-2811-C82A-3920-B166BD311524}"/>
              </a:ext>
            </a:extLst>
          </p:cNvPr>
          <p:cNvGraphicFramePr>
            <a:graphicFrameLocks noGrp="1"/>
          </p:cNvGraphicFramePr>
          <p:nvPr>
            <p:extLst>
              <p:ext uri="{D42A27DB-BD31-4B8C-83A1-F6EECF244321}">
                <p14:modId xmlns:p14="http://schemas.microsoft.com/office/powerpoint/2010/main" val="2051336430"/>
              </p:ext>
            </p:extLst>
          </p:nvPr>
        </p:nvGraphicFramePr>
        <p:xfrm>
          <a:off x="1066800" y="2177248"/>
          <a:ext cx="10210800" cy="3099597"/>
        </p:xfrm>
        <a:graphic>
          <a:graphicData uri="http://schemas.openxmlformats.org/drawingml/2006/table">
            <a:tbl>
              <a:tblPr firstRow="1" bandRow="1">
                <a:tableStyleId>{5C22544A-7EE6-4342-B048-85BDC9FD1C3A}</a:tableStyleId>
              </a:tblPr>
              <a:tblGrid>
                <a:gridCol w="3403600">
                  <a:extLst>
                    <a:ext uri="{9D8B030D-6E8A-4147-A177-3AD203B41FA5}">
                      <a16:colId xmlns:a16="http://schemas.microsoft.com/office/drawing/2014/main" val="266919097"/>
                    </a:ext>
                  </a:extLst>
                </a:gridCol>
                <a:gridCol w="3403600">
                  <a:extLst>
                    <a:ext uri="{9D8B030D-6E8A-4147-A177-3AD203B41FA5}">
                      <a16:colId xmlns:a16="http://schemas.microsoft.com/office/drawing/2014/main" val="1649338395"/>
                    </a:ext>
                  </a:extLst>
                </a:gridCol>
                <a:gridCol w="3403600">
                  <a:extLst>
                    <a:ext uri="{9D8B030D-6E8A-4147-A177-3AD203B41FA5}">
                      <a16:colId xmlns:a16="http://schemas.microsoft.com/office/drawing/2014/main" val="630187202"/>
                    </a:ext>
                  </a:extLst>
                </a:gridCol>
              </a:tblGrid>
              <a:tr h="539277">
                <a:tc>
                  <a:txBody>
                    <a:bodyPr/>
                    <a:lstStyle/>
                    <a:p>
                      <a:pPr algn="ctr"/>
                      <a:r>
                        <a:rPr lang="en-IN" sz="1600" dirty="0">
                          <a:latin typeface="Times New Roman" panose="02020603050405020304" pitchFamily="18" charset="0"/>
                          <a:cs typeface="Times New Roman" panose="02020603050405020304" pitchFamily="18" charset="0"/>
                        </a:rPr>
                        <a:t>Name</a:t>
                      </a:r>
                    </a:p>
                  </a:txBody>
                  <a:tcPr/>
                </a:tc>
                <a:tc>
                  <a:txBody>
                    <a:bodyPr/>
                    <a:lstStyle/>
                    <a:p>
                      <a:pPr algn="ctr"/>
                      <a:r>
                        <a:rPr lang="en-IN" sz="1600" dirty="0">
                          <a:latin typeface="Times New Roman" panose="02020603050405020304" pitchFamily="18" charset="0"/>
                          <a:cs typeface="Times New Roman" panose="02020603050405020304" pitchFamily="18" charset="0"/>
                        </a:rPr>
                        <a:t>Tasks </a:t>
                      </a:r>
                    </a:p>
                  </a:txBody>
                  <a:tcPr/>
                </a:tc>
                <a:tc>
                  <a:txBody>
                    <a:bodyPr/>
                    <a:lstStyle/>
                    <a:p>
                      <a:pPr algn="ctr"/>
                      <a:r>
                        <a:rPr lang="en-US" dirty="0">
                          <a:latin typeface="Times New Roman" panose="02020603050405020304" pitchFamily="18" charset="0"/>
                          <a:cs typeface="Times New Roman" panose="02020603050405020304" pitchFamily="18" charset="0"/>
                        </a:rPr>
                        <a:t>M</a:t>
                      </a:r>
                      <a:r>
                        <a:rPr lang="en-IN" dirty="0" err="1">
                          <a:latin typeface="Times New Roman" panose="02020603050405020304" pitchFamily="18" charset="0"/>
                          <a:cs typeface="Times New Roman" panose="02020603050405020304" pitchFamily="18" charset="0"/>
                        </a:rPr>
                        <a:t>odels</a:t>
                      </a:r>
                      <a:r>
                        <a:rPr lang="en-IN" dirty="0">
                          <a:latin typeface="Times New Roman" panose="02020603050405020304" pitchFamily="18" charset="0"/>
                          <a:cs typeface="Times New Roman" panose="02020603050405020304" pitchFamily="18" charset="0"/>
                        </a:rPr>
                        <a:t> with accuracy</a:t>
                      </a:r>
                    </a:p>
                  </a:txBody>
                  <a:tcPr/>
                </a:tc>
                <a:extLst>
                  <a:ext uri="{0D108BD9-81ED-4DB2-BD59-A6C34878D82A}">
                    <a16:rowId xmlns:a16="http://schemas.microsoft.com/office/drawing/2014/main" val="3700559899"/>
                  </a:ext>
                </a:extLst>
              </a:tr>
              <a:tr h="539277">
                <a:tc>
                  <a:txBody>
                    <a:bodyPr/>
                    <a:lstStyle/>
                    <a:p>
                      <a:r>
                        <a:rPr lang="en-IN" sz="1600" dirty="0" err="1">
                          <a:latin typeface="Times New Roman" panose="02020603050405020304" pitchFamily="18" charset="0"/>
                          <a:cs typeface="Times New Roman" panose="02020603050405020304" pitchFamily="18" charset="0"/>
                        </a:rPr>
                        <a:t>Kurumeti</a:t>
                      </a:r>
                      <a:r>
                        <a:rPr lang="en-IN" sz="1600" dirty="0">
                          <a:latin typeface="Times New Roman" panose="02020603050405020304" pitchFamily="18" charset="0"/>
                          <a:cs typeface="Times New Roman" panose="02020603050405020304" pitchFamily="18" charset="0"/>
                        </a:rPr>
                        <a:t> Prajval ( PES2UG22CS274 )</a:t>
                      </a:r>
                    </a:p>
                  </a:txBody>
                  <a:tcPr/>
                </a:tc>
                <a:tc>
                  <a:txBody>
                    <a:bodyPr/>
                    <a:lstStyle/>
                    <a:p>
                      <a:r>
                        <a:rPr lang="en-US" sz="1600" dirty="0">
                          <a:latin typeface="Times New Roman" panose="02020603050405020304" pitchFamily="18" charset="0"/>
                          <a:cs typeface="Times New Roman" panose="02020603050405020304" pitchFamily="18" charset="0"/>
                        </a:rPr>
                        <a:t>Generated final dataset with better balanced samples using GAN model.</a:t>
                      </a:r>
                    </a:p>
                    <a:p>
                      <a:r>
                        <a:rPr lang="en-US" sz="1600" dirty="0">
                          <a:latin typeface="Times New Roman" panose="02020603050405020304" pitchFamily="18" charset="0"/>
                          <a:cs typeface="Times New Roman" panose="02020603050405020304" pitchFamily="18" charset="0"/>
                        </a:rPr>
                        <a:t>Trained models for classification.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Random Forest : 95.01%</a:t>
                      </a:r>
                    </a:p>
                  </a:txBody>
                  <a:tcPr/>
                </a:tc>
                <a:extLst>
                  <a:ext uri="{0D108BD9-81ED-4DB2-BD59-A6C34878D82A}">
                    <a16:rowId xmlns:a16="http://schemas.microsoft.com/office/drawing/2014/main" val="1469804451"/>
                  </a:ext>
                </a:extLst>
              </a:tr>
              <a:tr h="539277">
                <a:tc>
                  <a:txBody>
                    <a:bodyPr/>
                    <a:lstStyle/>
                    <a:p>
                      <a:r>
                        <a:rPr lang="en-IN" sz="1600" dirty="0">
                          <a:latin typeface="Times New Roman" panose="02020603050405020304" pitchFamily="18" charset="0"/>
                          <a:cs typeface="Times New Roman" panose="02020603050405020304" pitchFamily="18" charset="0"/>
                        </a:rPr>
                        <a:t>Manoj Kumar KS ( PES2UG22CS302)</a:t>
                      </a:r>
                    </a:p>
                  </a:txBody>
                  <a:tcPr/>
                </a:tc>
                <a:tc>
                  <a:txBody>
                    <a:bodyPr/>
                    <a:lstStyle/>
                    <a:p>
                      <a:r>
                        <a:rPr lang="en-US" sz="1600" dirty="0">
                          <a:latin typeface="Times New Roman" panose="02020603050405020304" pitchFamily="18" charset="0"/>
                          <a:cs typeface="Times New Roman" panose="02020603050405020304" pitchFamily="18" charset="0"/>
                        </a:rPr>
                        <a:t>Generated code for data extraction.</a:t>
                      </a:r>
                    </a:p>
                    <a:p>
                      <a:r>
                        <a:rPr lang="en-US" sz="1600" dirty="0">
                          <a:latin typeface="Times New Roman" panose="02020603050405020304" pitchFamily="18" charset="0"/>
                          <a:cs typeface="Times New Roman" panose="02020603050405020304" pitchFamily="18" charset="0"/>
                        </a:rPr>
                        <a:t>Trained models for classification.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MLP : 91.83% </a:t>
                      </a:r>
                    </a:p>
                    <a:p>
                      <a:r>
                        <a:rPr lang="en-US" sz="1600" dirty="0">
                          <a:latin typeface="Times New Roman" panose="02020603050405020304" pitchFamily="18" charset="0"/>
                          <a:cs typeface="Times New Roman" panose="02020603050405020304" pitchFamily="18" charset="0"/>
                        </a:rPr>
                        <a:t>KNN: 86%</a:t>
                      </a:r>
                    </a:p>
                  </a:txBody>
                  <a:tcPr/>
                </a:tc>
                <a:extLst>
                  <a:ext uri="{0D108BD9-81ED-4DB2-BD59-A6C34878D82A}">
                    <a16:rowId xmlns:a16="http://schemas.microsoft.com/office/drawing/2014/main" val="1980046131"/>
                  </a:ext>
                </a:extLst>
              </a:tr>
              <a:tr h="5392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Dhanushree K ( PES2UG22CS176 )</a:t>
                      </a:r>
                    </a:p>
                  </a:txBody>
                  <a:tcPr/>
                </a:tc>
                <a:tc>
                  <a:txBody>
                    <a:bodyPr/>
                    <a:lstStyle/>
                    <a:p>
                      <a:r>
                        <a:rPr lang="en-US" sz="1600" dirty="0">
                          <a:latin typeface="Times New Roman" panose="02020603050405020304" pitchFamily="18" charset="0"/>
                          <a:cs typeface="Times New Roman" panose="02020603050405020304" pitchFamily="18" charset="0"/>
                        </a:rPr>
                        <a:t>Did data cleaning and preprocessing.</a:t>
                      </a:r>
                    </a:p>
                    <a:p>
                      <a:r>
                        <a:rPr lang="en-US" sz="1600" dirty="0">
                          <a:latin typeface="Times New Roman" panose="02020603050405020304" pitchFamily="18" charset="0"/>
                          <a:cs typeface="Times New Roman" panose="02020603050405020304" pitchFamily="18" charset="0"/>
                        </a:rPr>
                        <a:t>Trained models for classification.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XGBoost:92.68%</a:t>
                      </a:r>
                    </a:p>
                  </a:txBody>
                  <a:tcPr/>
                </a:tc>
                <a:extLst>
                  <a:ext uri="{0D108BD9-81ED-4DB2-BD59-A6C34878D82A}">
                    <a16:rowId xmlns:a16="http://schemas.microsoft.com/office/drawing/2014/main" val="4049011580"/>
                  </a:ext>
                </a:extLst>
              </a:tr>
              <a:tr h="539277">
                <a:tc>
                  <a:txBody>
                    <a:bodyPr/>
                    <a:lstStyle/>
                    <a:p>
                      <a:r>
                        <a:rPr lang="en-IN" sz="1600" dirty="0" err="1">
                          <a:latin typeface="Times New Roman" panose="02020603050405020304" pitchFamily="18" charset="0"/>
                          <a:cs typeface="Times New Roman" panose="02020603050405020304" pitchFamily="18" charset="0"/>
                        </a:rPr>
                        <a:t>Nagaratna</a:t>
                      </a:r>
                      <a:r>
                        <a:rPr lang="en-IN" sz="1600" dirty="0">
                          <a:latin typeface="Times New Roman" panose="02020603050405020304" pitchFamily="18" charset="0"/>
                          <a:cs typeface="Times New Roman" panose="02020603050405020304" pitchFamily="18" charset="0"/>
                        </a:rPr>
                        <a:t> ( PES2UG22CS331 )</a:t>
                      </a:r>
                    </a:p>
                  </a:txBody>
                  <a:tcPr/>
                </a:tc>
                <a:tc>
                  <a:txBody>
                    <a:bodyPr/>
                    <a:lstStyle/>
                    <a:p>
                      <a:r>
                        <a:rPr lang="en-US" sz="1600" dirty="0">
                          <a:latin typeface="Times New Roman" panose="02020603050405020304" pitchFamily="18" charset="0"/>
                          <a:cs typeface="Times New Roman" panose="02020603050405020304" pitchFamily="18" charset="0"/>
                        </a:rPr>
                        <a:t>Analysis and feature engineering.</a:t>
                      </a:r>
                    </a:p>
                    <a:p>
                      <a:r>
                        <a:rPr lang="en-US" sz="1600" dirty="0">
                          <a:latin typeface="Times New Roman" panose="02020603050405020304" pitchFamily="18" charset="0"/>
                          <a:cs typeface="Times New Roman" panose="02020603050405020304" pitchFamily="18" charset="0"/>
                        </a:rPr>
                        <a:t>Trained models for classification.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SVM : 89.88%</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5848773"/>
                  </a:ext>
                </a:extLst>
              </a:tr>
            </a:tbl>
          </a:graphicData>
        </a:graphic>
      </p:graphicFrame>
    </p:spTree>
    <p:extLst>
      <p:ext uri="{BB962C8B-B14F-4D97-AF65-F5344CB8AC3E}">
        <p14:creationId xmlns:p14="http://schemas.microsoft.com/office/powerpoint/2010/main" val="4174743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991544" y="1603873"/>
            <a:ext cx="8839199" cy="4819781"/>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Phase-1: Background Study, Problem Formulation, Literature Survey (Semester 5)</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1-4</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Team formation and role allocation.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Identify areas of interest and domain selection.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brainstorming sessions to define a tentative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detailed background study.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Collect data, identify gaps in existing solutions, and refine the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an extensive literature survey (minimum 10-15 papers).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related work, existing methodologies, and tools.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problem statement.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report containing the background study, refined problem statement, and literature survey.</a:t>
            </a:r>
          </a:p>
          <a:p>
            <a:pPr marL="342891" indent="12700" algn="just" eaLnBrk="0" hangingPunct="0">
              <a:spcBef>
                <a:spcPct val="20000"/>
              </a:spcBef>
              <a:defRPr/>
            </a:pPr>
            <a:endParaRPr lang="en-IN" sz="16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9AD7-84B3-943C-397D-C4E8896516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4E9DBA-EFD3-BAFD-9867-56C66D917D85}"/>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55443B9B-D726-2565-2DBE-09DD54F2FD9D}"/>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3823FA27-ABF5-BB05-1474-EED392F9A528}"/>
              </a:ext>
            </a:extLst>
          </p:cNvPr>
          <p:cNvSpPr txBox="1"/>
          <p:nvPr/>
        </p:nvSpPr>
        <p:spPr>
          <a:xfrm>
            <a:off x="1991544" y="1611378"/>
            <a:ext cx="8839199" cy="3785652"/>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Phase-2: High-Level Design, Part of Implementation (Semester 6)</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5-8</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Define system requirements and specifications.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high-level architecture (flowcharts, block diagrams, UML diagrams).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Select tools, frameworks, and platforms for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Start implementing critical modules (proof of concept).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7:</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testing of implemented modules.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Review design and implementation progress.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8:</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progress report with high-level design and partial implementation details.</a:t>
            </a:r>
          </a:p>
        </p:txBody>
      </p:sp>
    </p:spTree>
    <p:extLst>
      <p:ext uri="{BB962C8B-B14F-4D97-AF65-F5344CB8AC3E}">
        <p14:creationId xmlns:p14="http://schemas.microsoft.com/office/powerpoint/2010/main" val="2247523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34A9-6121-C2C3-4E87-39CBCB95FB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A637CD-F222-9357-0E2C-8D7F3DD269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63871AE-AA72-6BBC-FE27-90D3CD773844}"/>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A6285438-EC1E-4186-30EE-42132C8C7987}"/>
              </a:ext>
            </a:extLst>
          </p:cNvPr>
          <p:cNvSpPr txBox="1"/>
          <p:nvPr/>
        </p:nvSpPr>
        <p:spPr>
          <a:xfrm>
            <a:off x="1991544" y="1603873"/>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Phase-3: Low-Level Design, Complete Implementation, Draft Paper (Semester 7)</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9-12</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9:</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low-level designs (detailed workflows, module-level diagrams).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integrating all system modules.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10:</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Complete system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system-level testing and debugging.</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results and compare them with existing solutions.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Draft a research paper outlining the methodology, implementation, and results.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comprehensive report with low-level designs, full implementation, and the paper draft.</a:t>
            </a:r>
          </a:p>
        </p:txBody>
      </p:sp>
    </p:spTree>
    <p:extLst>
      <p:ext uri="{BB962C8B-B14F-4D97-AF65-F5344CB8AC3E}">
        <p14:creationId xmlns:p14="http://schemas.microsoft.com/office/powerpoint/2010/main" val="2050145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A074-D1B0-AFC9-2302-90D07B92B5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07338-32E0-C2CE-301C-206B3E2C7A3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B275949-50A0-5AE2-8DF2-1EF55613BE8B}"/>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Phase-IV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713312D8-AF3C-6BB2-FBB6-86C91DB82A85}"/>
              </a:ext>
            </a:extLst>
          </p:cNvPr>
          <p:cNvSpPr txBox="1"/>
          <p:nvPr/>
        </p:nvSpPr>
        <p:spPr>
          <a:xfrm>
            <a:off x="2009329" y="1617668"/>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Phase-4: Paper Publication (Semester 8)</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13-16</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research paper (align with Scopus/Web of Science/UGC guidelines).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thorough review, incorporating mentor feedback.</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paper to selected journals or conferences.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preparing the final capstone project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Await feedback from the journal. Address reviewer comments if required.</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Fine-tune the project report and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Publish the paper upon acceptance.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Deliver the final project presentation and submit the complete documentation.</a:t>
            </a:r>
          </a:p>
        </p:txBody>
      </p:sp>
    </p:spTree>
    <p:extLst>
      <p:ext uri="{BB962C8B-B14F-4D97-AF65-F5344CB8AC3E}">
        <p14:creationId xmlns:p14="http://schemas.microsoft.com/office/powerpoint/2010/main" val="2730220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82678"/>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Conclusion</a:t>
            </a:r>
            <a:endParaRPr lang="en-US" sz="2400" b="1" i="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670020D-7F43-013B-ED59-88907EAEE3D7}"/>
              </a:ext>
            </a:extLst>
          </p:cNvPr>
          <p:cNvSpPr txBox="1"/>
          <p:nvPr/>
        </p:nvSpPr>
        <p:spPr>
          <a:xfrm>
            <a:off x="1447800" y="1647710"/>
            <a:ext cx="9522923" cy="4832092"/>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The AVIOS project demonstrates the potential of integrating Artificial Intelligence into core operating system functions—specifically task scheduling. By bridging the gap between traditional static schedulers and dynamic, learning-based models, AVIOS enhances overall system performance and adaptability.</a:t>
            </a:r>
          </a:p>
          <a:p>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Key Takeaways</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AI-driven task classification and scheduling improves CPU utilization, responsiveness, and energy efficiency.</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 robust data pipeline was developed—from real-time metric collection to model-driven scheduling decisions.</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Random Forest and XG Boost models have shown high accuracy in task classification, enabling intelligent resource allocation.</a:t>
            </a:r>
          </a:p>
          <a:p>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Future Scope</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Kernel-level optimization for faster scheduling decisions.</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Real-time feedback loop to enable continuous learning.</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Integration with container orchestration platforms like Kubernetes for large-scale distributed systems.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AVIOS represents a step forward in creating self-optimizing, adaptive operating systems built for the future of computing.</a:t>
            </a:r>
          </a:p>
          <a:p>
            <a:endParaRPr lang="en-US" dirty="0"/>
          </a:p>
          <a:p>
            <a:endParaRPr lang="en-IN" dirty="0"/>
          </a:p>
        </p:txBody>
      </p:sp>
    </p:spTree>
    <p:extLst>
      <p:ext uri="{BB962C8B-B14F-4D97-AF65-F5344CB8AC3E}">
        <p14:creationId xmlns:p14="http://schemas.microsoft.com/office/powerpoint/2010/main" val="786535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346041"/>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935290"/>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References</a:t>
            </a:r>
          </a:p>
        </p:txBody>
      </p:sp>
      <p:sp>
        <p:nvSpPr>
          <p:cNvPr id="6" name="Content Placeholder 2"/>
          <p:cNvSpPr txBox="1">
            <a:spLocks/>
          </p:cNvSpPr>
          <p:nvPr/>
        </p:nvSpPr>
        <p:spPr>
          <a:xfrm>
            <a:off x="1828800" y="1828800"/>
            <a:ext cx="8458200" cy="4724400"/>
          </a:xfrm>
          <a:prstGeom prst="rect">
            <a:avLst/>
          </a:prstGeom>
        </p:spPr>
        <p:txBody>
          <a:bodyPr/>
          <a:lstStyle/>
          <a:p>
            <a:pPr marL="342900" indent="-342900" eaLnBrk="0" hangingPunct="0">
              <a:spcBef>
                <a:spcPct val="20000"/>
              </a:spcBef>
              <a:defRPr/>
            </a:pPr>
            <a:endParaRPr lang="en-IN" sz="1100" kern="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6690C7C-F060-F141-CE1E-1F43765DFF7D}"/>
              </a:ext>
            </a:extLst>
          </p:cNvPr>
          <p:cNvSpPr>
            <a:spLocks noChangeArrowheads="1"/>
          </p:cNvSpPr>
          <p:nvPr/>
        </p:nvSpPr>
        <p:spPr bwMode="auto">
          <a:xfrm>
            <a:off x="983432" y="1630361"/>
            <a:ext cx="5328592"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Hongjiu</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Lu,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ELF: From the Programmer’s Perspective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Technical Report, NYNEX Science and Technology, 500 Westchester Avenue, White Plains, NY 10604, USA, May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Aivazian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Tigran,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2.4 Internals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Linux Documentation Project, August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Maurice Bach,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of the Unix Operating System</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Pearson Education Asia, pp. 159-170,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Fredrik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Vraalsen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Contracts: Predicting and Monitoring Grid Application Behavior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2nd International Workshop on Grid Computing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November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Richard Gibbons,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Historical Application Profiler for Use by Parallel Schedulers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Lecture Notes on Computer Science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1297, pp. 58-75,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Hyok</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-Sung Choi and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-Chul Yun,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Switching and IPC Performance Comparison between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uClinux</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Linux on the ARM9-Based Processor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in Embedded Applications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January 2005. [Online]. .</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Warren Smith, Valerie Taylor, and Ian Foster,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Application Run Times Using Historical Information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Scheduling Strategies for Parallel Processing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IPPS/SPDP'98 Workshop, March 1998.</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Kishore Kumar P. and Atul Negi,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Characterizing Process Execution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Machine Learning Techniques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DpROM</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Workshop Proceedings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HiPC</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 International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9597157-BC6C-C72F-9276-8310A5245824}"/>
              </a:ext>
            </a:extLst>
          </p:cNvPr>
          <p:cNvSpPr txBox="1"/>
          <p:nvPr/>
        </p:nvSpPr>
        <p:spPr>
          <a:xfrm>
            <a:off x="6456040" y="1633201"/>
            <a:ext cx="4464496" cy="3477875"/>
          </a:xfrm>
          <a:prstGeom prst="rect">
            <a:avLst/>
          </a:prstGeom>
          <a:noFill/>
        </p:spPr>
        <p:txBody>
          <a:bodyPr wrap="square" rtlCol="0">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S.R. Garner,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WEKA: The Waikato Environment for Knowledge Analysis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New Zealand Computer Science Research Students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57-64,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Surkanya</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Suranauwarat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Hide Taniguchi,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Implementation, and Initial Evaluation of an Advanced Knowledge-Based Process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ACM SIGOPS Operating Systems Review</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35, pp. 61-81, October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 A. Hall,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Correlation-Based Feature Selection for 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University of Waikato</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7-9, 12-14, April 1999.</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Andrew Marks,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Dynamically Adaptive CPU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Santa Clara University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 June 2003.</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Robert Love,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Development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Pearson Education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Daniel P. Bovet and Marco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Cesati</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the Linux Kernel</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O’Reilly &amp; Associates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Tom Mitchell,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McGraw-Hill International Edition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52-75, 154-183, 230-244,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 Duda and P.E. Hart,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Classification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Wiley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 York, 1973.</a:t>
            </a:r>
            <a:endParaRPr lang="en-IN" sz="1100" dirty="0"/>
          </a:p>
        </p:txBody>
      </p:sp>
    </p:spTree>
    <p:extLst>
      <p:ext uri="{BB962C8B-B14F-4D97-AF65-F5344CB8AC3E}">
        <p14:creationId xmlns:p14="http://schemas.microsoft.com/office/powerpoint/2010/main" val="3902358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9736" y="2828835"/>
            <a:ext cx="4348883" cy="1200329"/>
          </a:xfrm>
          <a:prstGeom prst="rect">
            <a:avLst/>
          </a:prstGeom>
        </p:spPr>
        <p:txBody>
          <a:bodyPr wrap="none">
            <a:spAutoFit/>
          </a:bodyPr>
          <a:lstStyle/>
          <a:p>
            <a:pPr algn="r"/>
            <a:r>
              <a:rPr lang="en-US" sz="7200" b="1" i="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737</TotalTime>
  <Words>2175</Words>
  <Application>Microsoft Office PowerPoint</Application>
  <PresentationFormat>Widescreen</PresentationFormat>
  <Paragraphs>248</Paragraphs>
  <Slides>23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Times New Roman</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Prajval K</cp:lastModifiedBy>
  <cp:revision>198</cp:revision>
  <dcterms:created xsi:type="dcterms:W3CDTF">2020-11-22T08:14:37Z</dcterms:created>
  <dcterms:modified xsi:type="dcterms:W3CDTF">2025-05-06T05:32:43Z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