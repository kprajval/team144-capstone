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57" r:id="rId1"/>
  </p:sldMasterIdLst>
  <p:notesMasterIdLst>
    <p:notesMasterId r:id="rId28"/>
  </p:notesMasterIdLst>
  <p:handoutMasterIdLst>
    <p:handoutMasterId r:id="rId29"/>
  </p:handoutMasterIdLst>
  <p:sldIdLst>
    <p:sldId id="592" r:id="rId2"/>
    <p:sldId id="535" r:id="rId3"/>
    <p:sldId id="593" r:id="rId4"/>
    <p:sldId id="594" r:id="rId5"/>
    <p:sldId id="557" r:id="rId6"/>
    <p:sldId id="573" r:id="rId7"/>
    <p:sldId id="602" r:id="rId8"/>
    <p:sldId id="601" r:id="rId9"/>
    <p:sldId id="562" r:id="rId10"/>
    <p:sldId id="603" r:id="rId11"/>
    <p:sldId id="563" r:id="rId12"/>
    <p:sldId id="571" r:id="rId13"/>
    <p:sldId id="566" r:id="rId14"/>
    <p:sldId id="604" r:id="rId15"/>
    <p:sldId id="605" r:id="rId16"/>
    <p:sldId id="567" r:id="rId17"/>
    <p:sldId id="607" r:id="rId18"/>
    <p:sldId id="564" r:id="rId19"/>
    <p:sldId id="609" r:id="rId20"/>
    <p:sldId id="597" r:id="rId21"/>
    <p:sldId id="598" r:id="rId22"/>
    <p:sldId id="599" r:id="rId23"/>
    <p:sldId id="600" r:id="rId24"/>
    <p:sldId id="596" r:id="rId25"/>
    <p:sldId id="552" r:id="rId26"/>
    <p:sldId id="595" r:id="rId27"/>
  </p:sldIdLst>
  <p:sldSz cx="12192000" cy="6858000"/>
  <p:notesSz cx="7010400" cy="9296400"/>
  <p:defaultTextStyle>
    <a:defPPr>
      <a:defRPr lang="en-US"/>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33CC"/>
    <a:srgbClr val="FF0066"/>
    <a:srgbClr val="0000FF"/>
    <a:srgbClr val="33CC33"/>
    <a:srgbClr val="00FFFF"/>
    <a:srgbClr val="6600FF"/>
    <a:srgbClr val="CC66FF"/>
    <a:srgbClr val="62832D"/>
    <a:srgbClr val="0066FF"/>
    <a:srgbClr val="3399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137" autoAdjust="0"/>
    <p:restoredTop sz="86811" autoAdjust="0"/>
  </p:normalViewPr>
  <p:slideViewPr>
    <p:cSldViewPr>
      <p:cViewPr varScale="1">
        <p:scale>
          <a:sx n="82" d="100"/>
          <a:sy n="82" d="100"/>
        </p:scale>
        <p:origin x="710" y="72"/>
      </p:cViewPr>
      <p:guideLst>
        <p:guide orient="horz" pos="2160"/>
        <p:guide pos="3840"/>
      </p:guideLst>
    </p:cSldViewPr>
  </p:slideViewPr>
  <p:notesTextViewPr>
    <p:cViewPr>
      <p:scale>
        <a:sx n="100" d="100"/>
        <a:sy n="100" d="100"/>
      </p:scale>
      <p:origin x="0" y="0"/>
    </p:cViewPr>
  </p:notesTextViewPr>
  <p:sorterViewPr>
    <p:cViewPr>
      <p:scale>
        <a:sx n="90" d="100"/>
        <a:sy n="90" d="100"/>
      </p:scale>
      <p:origin x="0" y="1308"/>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handoutMaster" Target="handoutMasters/handout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 Id="rId8" Type="http://schemas.openxmlformats.org/officeDocument/2006/relationships/slide" Target="slides/slide7.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2" y="0"/>
            <a:ext cx="3038648" cy="465138"/>
          </a:xfrm>
          <a:prstGeom prst="rect">
            <a:avLst/>
          </a:prstGeom>
        </p:spPr>
        <p:txBody>
          <a:bodyPr vert="horz" lIns="91440" tIns="45720" rIns="91440" bIns="45720" rtlCol="0"/>
          <a:lstStyle>
            <a:lvl1pPr algn="l">
              <a:defRPr sz="1200"/>
            </a:lvl1pPr>
          </a:lstStyle>
          <a:p>
            <a:pPr>
              <a:defRPr/>
            </a:pPr>
            <a:endParaRPr lang="en-US"/>
          </a:p>
        </p:txBody>
      </p:sp>
      <p:sp>
        <p:nvSpPr>
          <p:cNvPr id="3" name="Date Placeholder 2"/>
          <p:cNvSpPr>
            <a:spLocks noGrp="1"/>
          </p:cNvSpPr>
          <p:nvPr>
            <p:ph type="dt" sz="quarter" idx="1"/>
          </p:nvPr>
        </p:nvSpPr>
        <p:spPr>
          <a:xfrm>
            <a:off x="3970135" y="0"/>
            <a:ext cx="3038648" cy="465138"/>
          </a:xfrm>
          <a:prstGeom prst="rect">
            <a:avLst/>
          </a:prstGeom>
        </p:spPr>
        <p:txBody>
          <a:bodyPr vert="horz" lIns="91440" tIns="45720" rIns="91440" bIns="45720" rtlCol="0"/>
          <a:lstStyle>
            <a:lvl1pPr algn="r">
              <a:defRPr sz="1200"/>
            </a:lvl1pPr>
          </a:lstStyle>
          <a:p>
            <a:pPr>
              <a:defRPr/>
            </a:pPr>
            <a:fld id="{26A7C97D-3554-44E0-8E72-665D45387ACC}" type="datetimeFigureOut">
              <a:rPr lang="en-US"/>
              <a:pPr>
                <a:defRPr/>
              </a:pPr>
              <a:t>2/12/2025</a:t>
            </a:fld>
            <a:endParaRPr lang="en-US"/>
          </a:p>
        </p:txBody>
      </p:sp>
      <p:sp>
        <p:nvSpPr>
          <p:cNvPr id="4" name="Footer Placeholder 3"/>
          <p:cNvSpPr>
            <a:spLocks noGrp="1"/>
          </p:cNvSpPr>
          <p:nvPr>
            <p:ph type="ftr" sz="quarter" idx="2"/>
          </p:nvPr>
        </p:nvSpPr>
        <p:spPr>
          <a:xfrm>
            <a:off x="2" y="8829675"/>
            <a:ext cx="3038648" cy="465138"/>
          </a:xfrm>
          <a:prstGeom prst="rect">
            <a:avLst/>
          </a:prstGeom>
        </p:spPr>
        <p:txBody>
          <a:bodyPr vert="horz" lIns="91440" tIns="45720" rIns="91440" bIns="45720" rtlCol="0" anchor="b"/>
          <a:lstStyle>
            <a:lvl1pPr algn="l">
              <a:defRPr sz="1200"/>
            </a:lvl1pPr>
          </a:lstStyle>
          <a:p>
            <a:pPr>
              <a:defRPr/>
            </a:pPr>
            <a:endParaRPr lang="en-US"/>
          </a:p>
        </p:txBody>
      </p:sp>
      <p:sp>
        <p:nvSpPr>
          <p:cNvPr id="5" name="Slide Number Placeholder 4"/>
          <p:cNvSpPr>
            <a:spLocks noGrp="1"/>
          </p:cNvSpPr>
          <p:nvPr>
            <p:ph type="sldNum" sz="quarter" idx="3"/>
          </p:nvPr>
        </p:nvSpPr>
        <p:spPr>
          <a:xfrm>
            <a:off x="3970135" y="8829675"/>
            <a:ext cx="3038648" cy="465138"/>
          </a:xfrm>
          <a:prstGeom prst="rect">
            <a:avLst/>
          </a:prstGeom>
        </p:spPr>
        <p:txBody>
          <a:bodyPr vert="horz" lIns="91440" tIns="45720" rIns="91440" bIns="45720" rtlCol="0" anchor="b"/>
          <a:lstStyle>
            <a:lvl1pPr algn="r">
              <a:defRPr sz="1200"/>
            </a:lvl1pPr>
          </a:lstStyle>
          <a:p>
            <a:pPr>
              <a:defRPr/>
            </a:pPr>
            <a:fld id="{1486DC43-659C-4A17-BDC0-5684401D4FAB}" type="slidenum">
              <a:rPr lang="en-US"/>
              <a:pPr>
                <a:defRPr/>
              </a:pPr>
              <a:t>‹#›</a:t>
            </a:fld>
            <a:endParaRPr 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2" y="0"/>
            <a:ext cx="3038648" cy="465138"/>
          </a:xfrm>
          <a:prstGeom prst="rect">
            <a:avLst/>
          </a:prstGeom>
        </p:spPr>
        <p:txBody>
          <a:bodyPr vert="horz" lIns="91440" tIns="45720" rIns="91440" bIns="45720" rtlCol="0"/>
          <a:lstStyle>
            <a:lvl1pPr algn="l">
              <a:defRPr sz="1200"/>
            </a:lvl1pPr>
          </a:lstStyle>
          <a:p>
            <a:pPr>
              <a:defRPr/>
            </a:pPr>
            <a:endParaRPr lang="en-US"/>
          </a:p>
        </p:txBody>
      </p:sp>
      <p:sp>
        <p:nvSpPr>
          <p:cNvPr id="3" name="Date Placeholder 2"/>
          <p:cNvSpPr>
            <a:spLocks noGrp="1"/>
          </p:cNvSpPr>
          <p:nvPr>
            <p:ph type="dt" idx="1"/>
          </p:nvPr>
        </p:nvSpPr>
        <p:spPr>
          <a:xfrm>
            <a:off x="3970135" y="0"/>
            <a:ext cx="3038648" cy="465138"/>
          </a:xfrm>
          <a:prstGeom prst="rect">
            <a:avLst/>
          </a:prstGeom>
        </p:spPr>
        <p:txBody>
          <a:bodyPr vert="horz" lIns="91440" tIns="45720" rIns="91440" bIns="45720" rtlCol="0"/>
          <a:lstStyle>
            <a:lvl1pPr algn="r">
              <a:defRPr sz="1200"/>
            </a:lvl1pPr>
          </a:lstStyle>
          <a:p>
            <a:pPr>
              <a:defRPr/>
            </a:pPr>
            <a:fld id="{C973BE83-6A1D-4DA3-83D0-ED76C71EFE38}" type="datetimeFigureOut">
              <a:rPr lang="en-US"/>
              <a:pPr>
                <a:defRPr/>
              </a:pPr>
              <a:t>2/12/2025</a:t>
            </a:fld>
            <a:endParaRPr lang="en-US"/>
          </a:p>
        </p:txBody>
      </p:sp>
      <p:sp>
        <p:nvSpPr>
          <p:cNvPr id="4" name="Slide Image Placeholder 3"/>
          <p:cNvSpPr>
            <a:spLocks noGrp="1" noRot="1" noChangeAspect="1"/>
          </p:cNvSpPr>
          <p:nvPr>
            <p:ph type="sldImg" idx="2"/>
          </p:nvPr>
        </p:nvSpPr>
        <p:spPr>
          <a:xfrm>
            <a:off x="407988" y="696913"/>
            <a:ext cx="6196012" cy="3486150"/>
          </a:xfrm>
          <a:prstGeom prst="rect">
            <a:avLst/>
          </a:prstGeom>
          <a:noFill/>
          <a:ln w="12700">
            <a:solidFill>
              <a:prstClr val="black"/>
            </a:solidFill>
          </a:ln>
        </p:spPr>
        <p:txBody>
          <a:bodyPr vert="horz" lIns="91440" tIns="45720" rIns="91440" bIns="45720" rtlCol="0" anchor="ctr"/>
          <a:lstStyle/>
          <a:p>
            <a:pPr lvl="0"/>
            <a:endParaRPr lang="en-US" noProof="0"/>
          </a:p>
        </p:txBody>
      </p:sp>
      <p:sp>
        <p:nvSpPr>
          <p:cNvPr id="5" name="Notes Placeholder 4"/>
          <p:cNvSpPr>
            <a:spLocks noGrp="1"/>
          </p:cNvSpPr>
          <p:nvPr>
            <p:ph type="body" sz="quarter" idx="3"/>
          </p:nvPr>
        </p:nvSpPr>
        <p:spPr>
          <a:xfrm>
            <a:off x="701848" y="4416426"/>
            <a:ext cx="5608320" cy="4183063"/>
          </a:xfrm>
          <a:prstGeom prst="rect">
            <a:avLst/>
          </a:prstGeom>
        </p:spPr>
        <p:txBody>
          <a:bodyPr vert="horz" lIns="91440" tIns="45720" rIns="91440" bIns="45720"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2" y="8829675"/>
            <a:ext cx="3038648" cy="465138"/>
          </a:xfrm>
          <a:prstGeom prst="rect">
            <a:avLst/>
          </a:prstGeom>
        </p:spPr>
        <p:txBody>
          <a:bodyPr vert="horz" lIns="91440" tIns="45720" rIns="91440" bIns="45720" rtlCol="0" anchor="b"/>
          <a:lstStyle>
            <a:lvl1pPr algn="l">
              <a:defRPr sz="1200"/>
            </a:lvl1pPr>
          </a:lstStyle>
          <a:p>
            <a:pPr>
              <a:defRPr/>
            </a:pPr>
            <a:endParaRPr lang="en-US"/>
          </a:p>
        </p:txBody>
      </p:sp>
      <p:sp>
        <p:nvSpPr>
          <p:cNvPr id="7" name="Slide Number Placeholder 6"/>
          <p:cNvSpPr>
            <a:spLocks noGrp="1"/>
          </p:cNvSpPr>
          <p:nvPr>
            <p:ph type="sldNum" sz="quarter" idx="5"/>
          </p:nvPr>
        </p:nvSpPr>
        <p:spPr>
          <a:xfrm>
            <a:off x="3970135" y="8829675"/>
            <a:ext cx="3038648" cy="465138"/>
          </a:xfrm>
          <a:prstGeom prst="rect">
            <a:avLst/>
          </a:prstGeom>
        </p:spPr>
        <p:txBody>
          <a:bodyPr vert="horz" lIns="91440" tIns="45720" rIns="91440" bIns="45720" rtlCol="0" anchor="b"/>
          <a:lstStyle>
            <a:lvl1pPr algn="r">
              <a:defRPr sz="1200"/>
            </a:lvl1pPr>
          </a:lstStyle>
          <a:p>
            <a:pPr>
              <a:defRPr/>
            </a:pPr>
            <a:fld id="{01C81575-24DE-4F6C-A73E-0331B3B2E418}" type="slidenum">
              <a:rPr lang="en-US"/>
              <a:pPr>
                <a:defRPr/>
              </a:pPr>
              <a:t>‹#›</a:t>
            </a:fld>
            <a:endParaRPr 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07988" y="696913"/>
            <a:ext cx="6196012" cy="3486150"/>
          </a:xfrm>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pPr>
              <a:defRPr/>
            </a:pPr>
            <a:fld id="{01C81575-24DE-4F6C-A73E-0331B3B2E418}" type="slidenum">
              <a:rPr lang="en-US" smtClean="0"/>
              <a:pPr>
                <a:defRPr/>
              </a:pPr>
              <a:t>2</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07988" y="696913"/>
            <a:ext cx="6196012" cy="3486150"/>
          </a:xfrm>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pPr>
              <a:defRPr/>
            </a:pPr>
            <a:fld id="{01C81575-24DE-4F6C-A73E-0331B3B2E418}" type="slidenum">
              <a:rPr lang="en-US" smtClean="0"/>
              <a:pPr>
                <a:defRPr/>
              </a:pPr>
              <a:t>3</a:t>
            </a:fld>
            <a:endParaRPr lang="en-US"/>
          </a:p>
        </p:txBody>
      </p:sp>
    </p:spTree>
    <p:extLst>
      <p:ext uri="{BB962C8B-B14F-4D97-AF65-F5344CB8AC3E}">
        <p14:creationId xmlns:p14="http://schemas.microsoft.com/office/powerpoint/2010/main" val="413196607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07988" y="696913"/>
            <a:ext cx="6196012" cy="3486150"/>
          </a:xfrm>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pPr>
              <a:defRPr/>
            </a:pPr>
            <a:fld id="{01C81575-24DE-4F6C-A73E-0331B3B2E418}" type="slidenum">
              <a:rPr lang="en-US" smtClean="0"/>
              <a:pPr>
                <a:defRPr/>
              </a:pPr>
              <a:t>4</a:t>
            </a:fld>
            <a:endParaRPr lang="en-US"/>
          </a:p>
        </p:txBody>
      </p:sp>
    </p:spTree>
    <p:extLst>
      <p:ext uri="{BB962C8B-B14F-4D97-AF65-F5344CB8AC3E}">
        <p14:creationId xmlns:p14="http://schemas.microsoft.com/office/powerpoint/2010/main" val="413196607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07988" y="696913"/>
            <a:ext cx="6196012" cy="3486150"/>
          </a:xfrm>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pPr>
              <a:defRPr/>
            </a:pPr>
            <a:fld id="{01C81575-24DE-4F6C-A73E-0331B3B2E418}" type="slidenum">
              <a:rPr lang="en-US" smtClean="0"/>
              <a:pPr>
                <a:defRPr/>
              </a:pPr>
              <a:t>5</a:t>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07988" y="696913"/>
            <a:ext cx="6196012" cy="3486150"/>
          </a:xfrm>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pPr>
              <a:defRPr/>
            </a:pPr>
            <a:fld id="{01C81575-24DE-4F6C-A73E-0331B3B2E418}" type="slidenum">
              <a:rPr lang="en-US" smtClean="0"/>
              <a:pPr>
                <a:defRPr/>
              </a:pPr>
              <a:t>6</a:t>
            </a:fld>
            <a:endParaRPr lang="en-US"/>
          </a:p>
        </p:txBody>
      </p:sp>
    </p:spTree>
    <p:extLst>
      <p:ext uri="{BB962C8B-B14F-4D97-AF65-F5344CB8AC3E}">
        <p14:creationId xmlns:p14="http://schemas.microsoft.com/office/powerpoint/2010/main" val="405512597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22CE73-4A1D-B42F-D934-E3A8ECD5C51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1303A73-D9EE-408B-27F1-5BEE6D10661A}"/>
              </a:ext>
            </a:extLst>
          </p:cNvPr>
          <p:cNvSpPr>
            <a:spLocks noGrp="1" noRot="1" noChangeAspect="1"/>
          </p:cNvSpPr>
          <p:nvPr>
            <p:ph type="sldImg"/>
          </p:nvPr>
        </p:nvSpPr>
        <p:spPr>
          <a:xfrm>
            <a:off x="407988" y="696913"/>
            <a:ext cx="6196012" cy="3486150"/>
          </a:xfrm>
        </p:spPr>
      </p:sp>
      <p:sp>
        <p:nvSpPr>
          <p:cNvPr id="3" name="Notes Placeholder 2">
            <a:extLst>
              <a:ext uri="{FF2B5EF4-FFF2-40B4-BE49-F238E27FC236}">
                <a16:creationId xmlns:a16="http://schemas.microsoft.com/office/drawing/2014/main" id="{CB482595-33F3-9767-3ED9-50ACFD9339EE}"/>
              </a:ext>
            </a:extLst>
          </p:cNvPr>
          <p:cNvSpPr>
            <a:spLocks noGrp="1"/>
          </p:cNvSpPr>
          <p:nvPr>
            <p:ph type="body" idx="1"/>
          </p:nvPr>
        </p:nvSpPr>
        <p:spPr/>
        <p:txBody>
          <a:bodyPr>
            <a:normAutofit/>
          </a:bodyPr>
          <a:lstStyle/>
          <a:p>
            <a:endParaRPr lang="en-US"/>
          </a:p>
        </p:txBody>
      </p:sp>
      <p:sp>
        <p:nvSpPr>
          <p:cNvPr id="4" name="Slide Number Placeholder 3">
            <a:extLst>
              <a:ext uri="{FF2B5EF4-FFF2-40B4-BE49-F238E27FC236}">
                <a16:creationId xmlns:a16="http://schemas.microsoft.com/office/drawing/2014/main" id="{F6236387-16E8-485A-8C80-256CDD256DFD}"/>
              </a:ext>
            </a:extLst>
          </p:cNvPr>
          <p:cNvSpPr>
            <a:spLocks noGrp="1"/>
          </p:cNvSpPr>
          <p:nvPr>
            <p:ph type="sldNum" sz="quarter" idx="10"/>
          </p:nvPr>
        </p:nvSpPr>
        <p:spPr/>
        <p:txBody>
          <a:bodyPr/>
          <a:lstStyle/>
          <a:p>
            <a:pPr>
              <a:defRPr/>
            </a:pPr>
            <a:fld id="{01C81575-24DE-4F6C-A73E-0331B3B2E418}" type="slidenum">
              <a:rPr lang="en-US" smtClean="0"/>
              <a:pPr>
                <a:defRPr/>
              </a:pPr>
              <a:t>8</a:t>
            </a:fld>
            <a:endParaRPr lang="en-US"/>
          </a:p>
        </p:txBody>
      </p:sp>
    </p:spTree>
    <p:extLst>
      <p:ext uri="{BB962C8B-B14F-4D97-AF65-F5344CB8AC3E}">
        <p14:creationId xmlns:p14="http://schemas.microsoft.com/office/powerpoint/2010/main" val="118940596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
        <p:cNvGrpSpPr/>
        <p:nvPr/>
      </p:nvGrpSpPr>
      <p:grpSpPr>
        <a:xfrm>
          <a:off x="0" y="0"/>
          <a:ext cx="0" cy="0"/>
          <a:chOff x="0" y="0"/>
          <a:chExt cx="0" cy="0"/>
        </a:xfrm>
      </p:grpSpPr>
      <p:sp>
        <p:nvSpPr>
          <p:cNvPr id="42" name="Google Shape;42;p4:notes"/>
          <p:cNvSpPr txBox="1">
            <a:spLocks noGrp="1"/>
          </p:cNvSpPr>
          <p:nvPr>
            <p:ph type="body" idx="1"/>
          </p:nvPr>
        </p:nvSpPr>
        <p:spPr>
          <a:xfrm>
            <a:off x="701848" y="4416426"/>
            <a:ext cx="5608279" cy="4182992"/>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360"/>
              </a:spcBef>
              <a:spcAft>
                <a:spcPts val="0"/>
              </a:spcAft>
              <a:buSzPts val="1400"/>
              <a:buNone/>
            </a:pPr>
            <a:endParaRPr/>
          </a:p>
        </p:txBody>
      </p:sp>
      <p:sp>
        <p:nvSpPr>
          <p:cNvPr id="43" name="Google Shape;43;p4:notes"/>
          <p:cNvSpPr>
            <a:spLocks noGrp="1" noRot="1" noChangeAspect="1"/>
          </p:cNvSpPr>
          <p:nvPr>
            <p:ph type="sldImg" idx="2"/>
          </p:nvPr>
        </p:nvSpPr>
        <p:spPr>
          <a:xfrm>
            <a:off x="407988" y="696913"/>
            <a:ext cx="6196012" cy="34861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
        <p:cNvGrpSpPr/>
        <p:nvPr/>
      </p:nvGrpSpPr>
      <p:grpSpPr>
        <a:xfrm>
          <a:off x="0" y="0"/>
          <a:ext cx="0" cy="0"/>
          <a:chOff x="0" y="0"/>
          <a:chExt cx="0" cy="0"/>
        </a:xfrm>
      </p:grpSpPr>
      <p:sp>
        <p:nvSpPr>
          <p:cNvPr id="49" name="Google Shape;49;p5:notes"/>
          <p:cNvSpPr txBox="1">
            <a:spLocks noGrp="1"/>
          </p:cNvSpPr>
          <p:nvPr>
            <p:ph type="body" idx="1"/>
          </p:nvPr>
        </p:nvSpPr>
        <p:spPr>
          <a:xfrm>
            <a:off x="701848" y="4416426"/>
            <a:ext cx="5608279" cy="4182992"/>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360"/>
              </a:spcBef>
              <a:spcAft>
                <a:spcPts val="0"/>
              </a:spcAft>
              <a:buSzPts val="1400"/>
              <a:buNone/>
            </a:pPr>
            <a:endParaRPr/>
          </a:p>
        </p:txBody>
      </p:sp>
      <p:sp>
        <p:nvSpPr>
          <p:cNvPr id="50" name="Google Shape;50;p5:notes"/>
          <p:cNvSpPr>
            <a:spLocks noGrp="1" noRot="1" noChangeAspect="1"/>
          </p:cNvSpPr>
          <p:nvPr>
            <p:ph type="sldImg" idx="2"/>
          </p:nvPr>
        </p:nvSpPr>
        <p:spPr>
          <a:xfrm>
            <a:off x="407988" y="696913"/>
            <a:ext cx="6196012" cy="34861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
        <p:cNvGrpSpPr/>
        <p:nvPr/>
      </p:nvGrpSpPr>
      <p:grpSpPr>
        <a:xfrm>
          <a:off x="0" y="0"/>
          <a:ext cx="0" cy="0"/>
          <a:chOff x="0" y="0"/>
          <a:chExt cx="0" cy="0"/>
        </a:xfrm>
      </p:grpSpPr>
      <p:sp>
        <p:nvSpPr>
          <p:cNvPr id="42" name="Google Shape;42;p4:notes"/>
          <p:cNvSpPr txBox="1">
            <a:spLocks noGrp="1"/>
          </p:cNvSpPr>
          <p:nvPr>
            <p:ph type="body" idx="1"/>
          </p:nvPr>
        </p:nvSpPr>
        <p:spPr>
          <a:xfrm>
            <a:off x="701848" y="4416426"/>
            <a:ext cx="5608279" cy="4182992"/>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360"/>
              </a:spcBef>
              <a:spcAft>
                <a:spcPts val="0"/>
              </a:spcAft>
              <a:buSzPts val="1400"/>
              <a:buNone/>
            </a:pPr>
            <a:endParaRPr/>
          </a:p>
        </p:txBody>
      </p:sp>
      <p:sp>
        <p:nvSpPr>
          <p:cNvPr id="43" name="Google Shape;43;p4:notes"/>
          <p:cNvSpPr>
            <a:spLocks noGrp="1" noRot="1" noChangeAspect="1"/>
          </p:cNvSpPr>
          <p:nvPr>
            <p:ph type="sldImg" idx="2"/>
          </p:nvPr>
        </p:nvSpPr>
        <p:spPr>
          <a:xfrm>
            <a:off x="407988" y="696913"/>
            <a:ext cx="6196012" cy="34861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79456493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
        <p:cNvGrpSpPr/>
        <p:nvPr/>
      </p:nvGrpSpPr>
      <p:grpSpPr>
        <a:xfrm>
          <a:off x="0" y="0"/>
          <a:ext cx="0" cy="0"/>
          <a:chOff x="0" y="0"/>
          <a:chExt cx="0" cy="0"/>
        </a:xfrm>
      </p:grpSpPr>
      <p:sp>
        <p:nvSpPr>
          <p:cNvPr id="49" name="Google Shape;49;p5:notes"/>
          <p:cNvSpPr txBox="1">
            <a:spLocks noGrp="1"/>
          </p:cNvSpPr>
          <p:nvPr>
            <p:ph type="body" idx="1"/>
          </p:nvPr>
        </p:nvSpPr>
        <p:spPr>
          <a:xfrm>
            <a:off x="701848" y="4416426"/>
            <a:ext cx="5608279" cy="4182992"/>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360"/>
              </a:spcBef>
              <a:spcAft>
                <a:spcPts val="0"/>
              </a:spcAft>
              <a:buSzPts val="1400"/>
              <a:buNone/>
            </a:pPr>
            <a:endParaRPr/>
          </a:p>
        </p:txBody>
      </p:sp>
      <p:sp>
        <p:nvSpPr>
          <p:cNvPr id="50" name="Google Shape;50;p5:notes"/>
          <p:cNvSpPr>
            <a:spLocks noGrp="1" noRot="1" noChangeAspect="1"/>
          </p:cNvSpPr>
          <p:nvPr>
            <p:ph type="sldImg" idx="2"/>
          </p:nvPr>
        </p:nvSpPr>
        <p:spPr>
          <a:xfrm>
            <a:off x="407988" y="696913"/>
            <a:ext cx="6196012" cy="34861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
        <p:cNvGrpSpPr/>
        <p:nvPr/>
      </p:nvGrpSpPr>
      <p:grpSpPr>
        <a:xfrm>
          <a:off x="0" y="0"/>
          <a:ext cx="0" cy="0"/>
          <a:chOff x="0" y="0"/>
          <a:chExt cx="0" cy="0"/>
        </a:xfrm>
      </p:grpSpPr>
      <p:sp>
        <p:nvSpPr>
          <p:cNvPr id="49" name="Google Shape;49;p5:notes"/>
          <p:cNvSpPr txBox="1">
            <a:spLocks noGrp="1"/>
          </p:cNvSpPr>
          <p:nvPr>
            <p:ph type="body" idx="1"/>
          </p:nvPr>
        </p:nvSpPr>
        <p:spPr>
          <a:xfrm>
            <a:off x="701848" y="4416426"/>
            <a:ext cx="5608279" cy="4182992"/>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360"/>
              </a:spcBef>
              <a:spcAft>
                <a:spcPts val="0"/>
              </a:spcAft>
              <a:buSzPts val="1400"/>
              <a:buNone/>
            </a:pPr>
            <a:endParaRPr/>
          </a:p>
        </p:txBody>
      </p:sp>
      <p:sp>
        <p:nvSpPr>
          <p:cNvPr id="50" name="Google Shape;50;p5:notes"/>
          <p:cNvSpPr>
            <a:spLocks noGrp="1" noRot="1" noChangeAspect="1"/>
          </p:cNvSpPr>
          <p:nvPr>
            <p:ph type="sldImg" idx="2"/>
          </p:nvPr>
        </p:nvSpPr>
        <p:spPr>
          <a:xfrm>
            <a:off x="407988" y="696913"/>
            <a:ext cx="6196012" cy="34861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
        <p:cNvGrpSpPr/>
        <p:nvPr/>
      </p:nvGrpSpPr>
      <p:grpSpPr>
        <a:xfrm>
          <a:off x="0" y="0"/>
          <a:ext cx="0" cy="0"/>
          <a:chOff x="0" y="0"/>
          <a:chExt cx="0" cy="0"/>
        </a:xfrm>
      </p:grpSpPr>
      <p:sp>
        <p:nvSpPr>
          <p:cNvPr id="56" name="Google Shape;56;p6:notes"/>
          <p:cNvSpPr>
            <a:spLocks noGrp="1" noRot="1" noChangeAspect="1"/>
          </p:cNvSpPr>
          <p:nvPr>
            <p:ph type="sldImg" idx="2"/>
          </p:nvPr>
        </p:nvSpPr>
        <p:spPr>
          <a:xfrm>
            <a:off x="407988" y="696913"/>
            <a:ext cx="6196012" cy="34861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7" name="Google Shape;57;p6:notes"/>
          <p:cNvSpPr txBox="1">
            <a:spLocks noGrp="1"/>
          </p:cNvSpPr>
          <p:nvPr>
            <p:ph type="body" idx="1"/>
          </p:nvPr>
        </p:nvSpPr>
        <p:spPr>
          <a:xfrm>
            <a:off x="701848" y="4416426"/>
            <a:ext cx="5608320" cy="4183063"/>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58" name="Google Shape;58;p6:notes"/>
          <p:cNvSpPr txBox="1">
            <a:spLocks noGrp="1"/>
          </p:cNvSpPr>
          <p:nvPr>
            <p:ph type="sldNum" idx="12"/>
          </p:nvPr>
        </p:nvSpPr>
        <p:spPr>
          <a:xfrm>
            <a:off x="3970135" y="8829675"/>
            <a:ext cx="3038648" cy="465138"/>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pPr marL="0" lvl="0" indent="0" algn="r" rtl="0">
                <a:lnSpc>
                  <a:spcPct val="100000"/>
                </a:lnSpc>
                <a:spcBef>
                  <a:spcPts val="0"/>
                </a:spcBef>
                <a:spcAft>
                  <a:spcPts val="0"/>
                </a:spcAft>
                <a:buSzPts val="1400"/>
                <a:buNone/>
              </a:pPr>
              <a:t>18</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07988" y="696913"/>
            <a:ext cx="6196012" cy="3486150"/>
          </a:xfrm>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pPr>
              <a:defRPr/>
            </a:pPr>
            <a:fld id="{01C81575-24DE-4F6C-A73E-0331B3B2E418}" type="slidenum">
              <a:rPr lang="en-US" smtClean="0"/>
              <a:pPr>
                <a:defRPr/>
              </a:pPr>
              <a:t>25</a:t>
            </a:fld>
            <a:endParaRPr lang="en-US"/>
          </a:p>
        </p:txBody>
      </p:sp>
    </p:spTree>
    <p:extLst>
      <p:ext uri="{BB962C8B-B14F-4D97-AF65-F5344CB8AC3E}">
        <p14:creationId xmlns:p14="http://schemas.microsoft.com/office/powerpoint/2010/main" val="417462531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2713C8-F183-1D43-AE77-BF9BD4D2AE33}"/>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6E7AF752-0EC0-CF4D-965A-5129A913599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E3E32540-0688-DC4A-809A-52FB3313D316}"/>
              </a:ext>
            </a:extLst>
          </p:cNvPr>
          <p:cNvSpPr>
            <a:spLocks noGrp="1"/>
          </p:cNvSpPr>
          <p:nvPr>
            <p:ph type="dt" sz="half" idx="10"/>
          </p:nvPr>
        </p:nvSpPr>
        <p:spPr/>
        <p:txBody>
          <a:bodyPr/>
          <a:lstStyle/>
          <a:p>
            <a:fld id="{2D1A7037-0853-0447-B5BA-F1548123F733}" type="datetimeFigureOut">
              <a:rPr lang="en-US" smtClean="0"/>
              <a:pPr/>
              <a:t>2/12/2025</a:t>
            </a:fld>
            <a:endParaRPr lang="en-US"/>
          </a:p>
        </p:txBody>
      </p:sp>
      <p:sp>
        <p:nvSpPr>
          <p:cNvPr id="5" name="Footer Placeholder 4">
            <a:extLst>
              <a:ext uri="{FF2B5EF4-FFF2-40B4-BE49-F238E27FC236}">
                <a16:creationId xmlns:a16="http://schemas.microsoft.com/office/drawing/2014/main" id="{0F2CA43E-0611-D047-BC7B-31F920B659D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B6E4123-5713-BC41-BBD0-42ADF35D9634}"/>
              </a:ext>
            </a:extLst>
          </p:cNvPr>
          <p:cNvSpPr>
            <a:spLocks noGrp="1"/>
          </p:cNvSpPr>
          <p:nvPr>
            <p:ph type="sldNum" sz="quarter" idx="12"/>
          </p:nvPr>
        </p:nvSpPr>
        <p:spPr/>
        <p:txBody>
          <a:bodyPr/>
          <a:lstStyle/>
          <a:p>
            <a:fld id="{102F0E29-F314-934F-92DB-8EEB8DA68833}" type="slidenum">
              <a:rPr lang="en-US" smtClean="0"/>
              <a:pPr/>
              <a:t>‹#›</a:t>
            </a:fld>
            <a:endParaRPr lang="en-US"/>
          </a:p>
        </p:txBody>
      </p:sp>
    </p:spTree>
    <p:extLst>
      <p:ext uri="{BB962C8B-B14F-4D97-AF65-F5344CB8AC3E}">
        <p14:creationId xmlns:p14="http://schemas.microsoft.com/office/powerpoint/2010/main" val="219207038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1DED43-C903-1F44-A779-40DF9AEFDEC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E9975D8-34AD-544B-B0E2-83FA77D2FAF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9D24DD5-B8E0-534E-B68A-EF415575E505}"/>
              </a:ext>
            </a:extLst>
          </p:cNvPr>
          <p:cNvSpPr>
            <a:spLocks noGrp="1"/>
          </p:cNvSpPr>
          <p:nvPr>
            <p:ph type="dt" sz="half" idx="10"/>
          </p:nvPr>
        </p:nvSpPr>
        <p:spPr/>
        <p:txBody>
          <a:bodyPr/>
          <a:lstStyle/>
          <a:p>
            <a:fld id="{2D1A7037-0853-0447-B5BA-F1548123F733}" type="datetimeFigureOut">
              <a:rPr lang="en-US" smtClean="0"/>
              <a:pPr/>
              <a:t>2/12/2025</a:t>
            </a:fld>
            <a:endParaRPr lang="en-US"/>
          </a:p>
        </p:txBody>
      </p:sp>
      <p:sp>
        <p:nvSpPr>
          <p:cNvPr id="5" name="Footer Placeholder 4">
            <a:extLst>
              <a:ext uri="{FF2B5EF4-FFF2-40B4-BE49-F238E27FC236}">
                <a16:creationId xmlns:a16="http://schemas.microsoft.com/office/drawing/2014/main" id="{45096688-5BB1-5E48-BD14-BBC9FA67D40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1DC407C-3003-DB44-98B5-0DEC6272B111}"/>
              </a:ext>
            </a:extLst>
          </p:cNvPr>
          <p:cNvSpPr>
            <a:spLocks noGrp="1"/>
          </p:cNvSpPr>
          <p:nvPr>
            <p:ph type="sldNum" sz="quarter" idx="12"/>
          </p:nvPr>
        </p:nvSpPr>
        <p:spPr/>
        <p:txBody>
          <a:bodyPr/>
          <a:lstStyle/>
          <a:p>
            <a:fld id="{102F0E29-F314-934F-92DB-8EEB8DA68833}" type="slidenum">
              <a:rPr lang="en-US" smtClean="0"/>
              <a:pPr/>
              <a:t>‹#›</a:t>
            </a:fld>
            <a:endParaRPr lang="en-US"/>
          </a:p>
        </p:txBody>
      </p:sp>
    </p:spTree>
    <p:extLst>
      <p:ext uri="{BB962C8B-B14F-4D97-AF65-F5344CB8AC3E}">
        <p14:creationId xmlns:p14="http://schemas.microsoft.com/office/powerpoint/2010/main" val="312291666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C5630D-09E2-0742-AED8-D3F732546CDC}"/>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715B2CD3-A564-8044-A4EC-7EBA26298781}"/>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E22A64EE-79C1-8B46-BA9C-199117C7B485}"/>
              </a:ext>
            </a:extLst>
          </p:cNvPr>
          <p:cNvSpPr>
            <a:spLocks noGrp="1"/>
          </p:cNvSpPr>
          <p:nvPr>
            <p:ph type="dt" sz="half" idx="10"/>
          </p:nvPr>
        </p:nvSpPr>
        <p:spPr/>
        <p:txBody>
          <a:bodyPr/>
          <a:lstStyle/>
          <a:p>
            <a:fld id="{2D1A7037-0853-0447-B5BA-F1548123F733}" type="datetimeFigureOut">
              <a:rPr lang="en-US" smtClean="0"/>
              <a:pPr/>
              <a:t>2/12/2025</a:t>
            </a:fld>
            <a:endParaRPr lang="en-US"/>
          </a:p>
        </p:txBody>
      </p:sp>
      <p:sp>
        <p:nvSpPr>
          <p:cNvPr id="5" name="Footer Placeholder 4">
            <a:extLst>
              <a:ext uri="{FF2B5EF4-FFF2-40B4-BE49-F238E27FC236}">
                <a16:creationId xmlns:a16="http://schemas.microsoft.com/office/drawing/2014/main" id="{A851AAB2-DA47-AE48-A088-6FC7C169450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348FF9C-19C9-FA46-8C21-74202499420D}"/>
              </a:ext>
            </a:extLst>
          </p:cNvPr>
          <p:cNvSpPr>
            <a:spLocks noGrp="1"/>
          </p:cNvSpPr>
          <p:nvPr>
            <p:ph type="sldNum" sz="quarter" idx="12"/>
          </p:nvPr>
        </p:nvSpPr>
        <p:spPr/>
        <p:txBody>
          <a:bodyPr/>
          <a:lstStyle/>
          <a:p>
            <a:fld id="{102F0E29-F314-934F-92DB-8EEB8DA68833}" type="slidenum">
              <a:rPr lang="en-US" smtClean="0"/>
              <a:pPr/>
              <a:t>‹#›</a:t>
            </a:fld>
            <a:endParaRPr lang="en-US"/>
          </a:p>
        </p:txBody>
      </p:sp>
    </p:spTree>
    <p:extLst>
      <p:ext uri="{BB962C8B-B14F-4D97-AF65-F5344CB8AC3E}">
        <p14:creationId xmlns:p14="http://schemas.microsoft.com/office/powerpoint/2010/main" val="217179160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7CBAF5-C913-024F-8BE6-64C58F97021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395E6DB7-D3D7-1443-A583-8730715E2532}"/>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53CEB82F-3E99-7441-9B06-6D7C2156AB85}"/>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F426D282-1572-D344-87D1-785DA8576020}"/>
              </a:ext>
            </a:extLst>
          </p:cNvPr>
          <p:cNvSpPr>
            <a:spLocks noGrp="1"/>
          </p:cNvSpPr>
          <p:nvPr>
            <p:ph type="dt" sz="half" idx="10"/>
          </p:nvPr>
        </p:nvSpPr>
        <p:spPr/>
        <p:txBody>
          <a:bodyPr/>
          <a:lstStyle/>
          <a:p>
            <a:fld id="{2D1A7037-0853-0447-B5BA-F1548123F733}" type="datetimeFigureOut">
              <a:rPr lang="en-US" smtClean="0"/>
              <a:pPr/>
              <a:t>2/12/2025</a:t>
            </a:fld>
            <a:endParaRPr lang="en-US"/>
          </a:p>
        </p:txBody>
      </p:sp>
      <p:sp>
        <p:nvSpPr>
          <p:cNvPr id="6" name="Footer Placeholder 5">
            <a:extLst>
              <a:ext uri="{FF2B5EF4-FFF2-40B4-BE49-F238E27FC236}">
                <a16:creationId xmlns:a16="http://schemas.microsoft.com/office/drawing/2014/main" id="{3723D760-065F-6442-AF7E-1A7AAFFCA96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6BF4C15-EC3A-7E41-A2B3-D2AB7D70EB32}"/>
              </a:ext>
            </a:extLst>
          </p:cNvPr>
          <p:cNvSpPr>
            <a:spLocks noGrp="1"/>
          </p:cNvSpPr>
          <p:nvPr>
            <p:ph type="sldNum" sz="quarter" idx="12"/>
          </p:nvPr>
        </p:nvSpPr>
        <p:spPr/>
        <p:txBody>
          <a:bodyPr/>
          <a:lstStyle/>
          <a:p>
            <a:fld id="{102F0E29-F314-934F-92DB-8EEB8DA68833}" type="slidenum">
              <a:rPr lang="en-US" smtClean="0"/>
              <a:pPr/>
              <a:t>‹#›</a:t>
            </a:fld>
            <a:endParaRPr lang="en-US"/>
          </a:p>
        </p:txBody>
      </p:sp>
    </p:spTree>
    <p:extLst>
      <p:ext uri="{BB962C8B-B14F-4D97-AF65-F5344CB8AC3E}">
        <p14:creationId xmlns:p14="http://schemas.microsoft.com/office/powerpoint/2010/main" val="326570479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72CC90-B8AE-8A46-A8A5-F7E8DA615EEE}"/>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58E152C5-AA77-4B47-965C-21A00C1EECE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8C466F8D-3502-5242-9160-E1CDE38E0ABE}"/>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89754302-8F9A-5648-9C5E-6D037F1C754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BA9FC9CD-8823-F145-9952-EFBA9ACD2E8C}"/>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D65EF4D9-655F-4842-A6B8-D44A050122B8}"/>
              </a:ext>
            </a:extLst>
          </p:cNvPr>
          <p:cNvSpPr>
            <a:spLocks noGrp="1"/>
          </p:cNvSpPr>
          <p:nvPr>
            <p:ph type="dt" sz="half" idx="10"/>
          </p:nvPr>
        </p:nvSpPr>
        <p:spPr/>
        <p:txBody>
          <a:bodyPr/>
          <a:lstStyle/>
          <a:p>
            <a:fld id="{2D1A7037-0853-0447-B5BA-F1548123F733}" type="datetimeFigureOut">
              <a:rPr lang="en-US" smtClean="0"/>
              <a:pPr/>
              <a:t>2/12/2025</a:t>
            </a:fld>
            <a:endParaRPr lang="en-US"/>
          </a:p>
        </p:txBody>
      </p:sp>
      <p:sp>
        <p:nvSpPr>
          <p:cNvPr id="8" name="Footer Placeholder 7">
            <a:extLst>
              <a:ext uri="{FF2B5EF4-FFF2-40B4-BE49-F238E27FC236}">
                <a16:creationId xmlns:a16="http://schemas.microsoft.com/office/drawing/2014/main" id="{08E68A74-725F-8F40-8F80-E96287703E59}"/>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29D868FA-8565-A740-9B9C-B3CD6AB33570}"/>
              </a:ext>
            </a:extLst>
          </p:cNvPr>
          <p:cNvSpPr>
            <a:spLocks noGrp="1"/>
          </p:cNvSpPr>
          <p:nvPr>
            <p:ph type="sldNum" sz="quarter" idx="12"/>
          </p:nvPr>
        </p:nvSpPr>
        <p:spPr/>
        <p:txBody>
          <a:bodyPr/>
          <a:lstStyle/>
          <a:p>
            <a:fld id="{102F0E29-F314-934F-92DB-8EEB8DA68833}" type="slidenum">
              <a:rPr lang="en-US" smtClean="0"/>
              <a:pPr/>
              <a:t>‹#›</a:t>
            </a:fld>
            <a:endParaRPr lang="en-US"/>
          </a:p>
        </p:txBody>
      </p:sp>
    </p:spTree>
    <p:extLst>
      <p:ext uri="{BB962C8B-B14F-4D97-AF65-F5344CB8AC3E}">
        <p14:creationId xmlns:p14="http://schemas.microsoft.com/office/powerpoint/2010/main" val="182785404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8DFCE3-1C1E-7448-AF7E-5E46BB14081F}"/>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7B19D5C9-50F6-8546-8D8C-AFACC1BC1B4F}"/>
              </a:ext>
            </a:extLst>
          </p:cNvPr>
          <p:cNvSpPr>
            <a:spLocks noGrp="1"/>
          </p:cNvSpPr>
          <p:nvPr>
            <p:ph type="dt" sz="half" idx="10"/>
          </p:nvPr>
        </p:nvSpPr>
        <p:spPr/>
        <p:txBody>
          <a:bodyPr/>
          <a:lstStyle/>
          <a:p>
            <a:fld id="{2D1A7037-0853-0447-B5BA-F1548123F733}" type="datetimeFigureOut">
              <a:rPr lang="en-US" smtClean="0"/>
              <a:pPr/>
              <a:t>2/12/2025</a:t>
            </a:fld>
            <a:endParaRPr lang="en-US"/>
          </a:p>
        </p:txBody>
      </p:sp>
      <p:sp>
        <p:nvSpPr>
          <p:cNvPr id="4" name="Footer Placeholder 3">
            <a:extLst>
              <a:ext uri="{FF2B5EF4-FFF2-40B4-BE49-F238E27FC236}">
                <a16:creationId xmlns:a16="http://schemas.microsoft.com/office/drawing/2014/main" id="{1DEA0D0C-FCAF-4F4C-AAF5-C9B78C03C47E}"/>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7568836A-EEA3-7347-A63C-8E66DF7B3451}"/>
              </a:ext>
            </a:extLst>
          </p:cNvPr>
          <p:cNvSpPr>
            <a:spLocks noGrp="1"/>
          </p:cNvSpPr>
          <p:nvPr>
            <p:ph type="sldNum" sz="quarter" idx="12"/>
          </p:nvPr>
        </p:nvSpPr>
        <p:spPr/>
        <p:txBody>
          <a:bodyPr/>
          <a:lstStyle/>
          <a:p>
            <a:fld id="{102F0E29-F314-934F-92DB-8EEB8DA68833}" type="slidenum">
              <a:rPr lang="en-US" smtClean="0"/>
              <a:pPr/>
              <a:t>‹#›</a:t>
            </a:fld>
            <a:endParaRPr lang="en-US"/>
          </a:p>
        </p:txBody>
      </p:sp>
    </p:spTree>
    <p:extLst>
      <p:ext uri="{BB962C8B-B14F-4D97-AF65-F5344CB8AC3E}">
        <p14:creationId xmlns:p14="http://schemas.microsoft.com/office/powerpoint/2010/main" val="360228711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E7A43C1-2303-5A41-B234-90D15E2A4B17}"/>
              </a:ext>
            </a:extLst>
          </p:cNvPr>
          <p:cNvSpPr>
            <a:spLocks noGrp="1"/>
          </p:cNvSpPr>
          <p:nvPr>
            <p:ph type="dt" sz="half" idx="10"/>
          </p:nvPr>
        </p:nvSpPr>
        <p:spPr/>
        <p:txBody>
          <a:bodyPr/>
          <a:lstStyle/>
          <a:p>
            <a:fld id="{2D1A7037-0853-0447-B5BA-F1548123F733}" type="datetimeFigureOut">
              <a:rPr lang="en-US" smtClean="0"/>
              <a:pPr/>
              <a:t>2/12/2025</a:t>
            </a:fld>
            <a:endParaRPr lang="en-US"/>
          </a:p>
        </p:txBody>
      </p:sp>
      <p:sp>
        <p:nvSpPr>
          <p:cNvPr id="3" name="Footer Placeholder 2">
            <a:extLst>
              <a:ext uri="{FF2B5EF4-FFF2-40B4-BE49-F238E27FC236}">
                <a16:creationId xmlns:a16="http://schemas.microsoft.com/office/drawing/2014/main" id="{9EA77971-B281-6149-9884-0E9C45F816B3}"/>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B1D0F6F3-1061-E842-B540-6BD0D6CB8D59}"/>
              </a:ext>
            </a:extLst>
          </p:cNvPr>
          <p:cNvSpPr>
            <a:spLocks noGrp="1"/>
          </p:cNvSpPr>
          <p:nvPr>
            <p:ph type="sldNum" sz="quarter" idx="12"/>
          </p:nvPr>
        </p:nvSpPr>
        <p:spPr/>
        <p:txBody>
          <a:bodyPr/>
          <a:lstStyle/>
          <a:p>
            <a:fld id="{102F0E29-F314-934F-92DB-8EEB8DA68833}" type="slidenum">
              <a:rPr lang="en-US" smtClean="0"/>
              <a:pPr/>
              <a:t>‹#›</a:t>
            </a:fld>
            <a:endParaRPr lang="en-US"/>
          </a:p>
        </p:txBody>
      </p:sp>
    </p:spTree>
    <p:extLst>
      <p:ext uri="{BB962C8B-B14F-4D97-AF65-F5344CB8AC3E}">
        <p14:creationId xmlns:p14="http://schemas.microsoft.com/office/powerpoint/2010/main" val="287373287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EB970D-13D5-B346-968D-400B0BCCF66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7019FFE0-37CD-7644-A007-76E5304F121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70210BE7-EA92-B44F-9EEC-94E6F6955C4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3B6D810-D2A1-B549-A5BC-25CCA5CDCD3C}"/>
              </a:ext>
            </a:extLst>
          </p:cNvPr>
          <p:cNvSpPr>
            <a:spLocks noGrp="1"/>
          </p:cNvSpPr>
          <p:nvPr>
            <p:ph type="dt" sz="half" idx="10"/>
          </p:nvPr>
        </p:nvSpPr>
        <p:spPr/>
        <p:txBody>
          <a:bodyPr/>
          <a:lstStyle/>
          <a:p>
            <a:fld id="{2D1A7037-0853-0447-B5BA-F1548123F733}" type="datetimeFigureOut">
              <a:rPr lang="en-US" smtClean="0"/>
              <a:pPr/>
              <a:t>2/12/2025</a:t>
            </a:fld>
            <a:endParaRPr lang="en-US"/>
          </a:p>
        </p:txBody>
      </p:sp>
      <p:sp>
        <p:nvSpPr>
          <p:cNvPr id="6" name="Footer Placeholder 5">
            <a:extLst>
              <a:ext uri="{FF2B5EF4-FFF2-40B4-BE49-F238E27FC236}">
                <a16:creationId xmlns:a16="http://schemas.microsoft.com/office/drawing/2014/main" id="{6AD872D2-2005-3043-A02D-3E2DB9334E5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9F9F01D-1164-4249-AD67-1D51D33C01DC}"/>
              </a:ext>
            </a:extLst>
          </p:cNvPr>
          <p:cNvSpPr>
            <a:spLocks noGrp="1"/>
          </p:cNvSpPr>
          <p:nvPr>
            <p:ph type="sldNum" sz="quarter" idx="12"/>
          </p:nvPr>
        </p:nvSpPr>
        <p:spPr/>
        <p:txBody>
          <a:bodyPr/>
          <a:lstStyle/>
          <a:p>
            <a:fld id="{102F0E29-F314-934F-92DB-8EEB8DA68833}" type="slidenum">
              <a:rPr lang="en-US" smtClean="0"/>
              <a:pPr/>
              <a:t>‹#›</a:t>
            </a:fld>
            <a:endParaRPr lang="en-US"/>
          </a:p>
        </p:txBody>
      </p:sp>
    </p:spTree>
    <p:extLst>
      <p:ext uri="{BB962C8B-B14F-4D97-AF65-F5344CB8AC3E}">
        <p14:creationId xmlns:p14="http://schemas.microsoft.com/office/powerpoint/2010/main" val="358038674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2D3B30-2A71-A043-9BD7-3B8C66BF74A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132B08A9-6B45-4340-8859-996D9B94909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26B1F4B2-96C1-614B-9110-8D1AEE080D3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07DF3EB-6252-5845-AE7D-FB94ECF9F136}"/>
              </a:ext>
            </a:extLst>
          </p:cNvPr>
          <p:cNvSpPr>
            <a:spLocks noGrp="1"/>
          </p:cNvSpPr>
          <p:nvPr>
            <p:ph type="dt" sz="half" idx="10"/>
          </p:nvPr>
        </p:nvSpPr>
        <p:spPr/>
        <p:txBody>
          <a:bodyPr/>
          <a:lstStyle/>
          <a:p>
            <a:fld id="{2D1A7037-0853-0447-B5BA-F1548123F733}" type="datetimeFigureOut">
              <a:rPr lang="en-US" smtClean="0"/>
              <a:pPr/>
              <a:t>2/12/2025</a:t>
            </a:fld>
            <a:endParaRPr lang="en-US"/>
          </a:p>
        </p:txBody>
      </p:sp>
      <p:sp>
        <p:nvSpPr>
          <p:cNvPr id="6" name="Footer Placeholder 5">
            <a:extLst>
              <a:ext uri="{FF2B5EF4-FFF2-40B4-BE49-F238E27FC236}">
                <a16:creationId xmlns:a16="http://schemas.microsoft.com/office/drawing/2014/main" id="{D2D65DB7-EFE7-7446-8DEC-69F1FB47AE2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2A0E09F-0F32-5644-881A-A61CD82461E5}"/>
              </a:ext>
            </a:extLst>
          </p:cNvPr>
          <p:cNvSpPr>
            <a:spLocks noGrp="1"/>
          </p:cNvSpPr>
          <p:nvPr>
            <p:ph type="sldNum" sz="quarter" idx="12"/>
          </p:nvPr>
        </p:nvSpPr>
        <p:spPr/>
        <p:txBody>
          <a:bodyPr/>
          <a:lstStyle/>
          <a:p>
            <a:fld id="{102F0E29-F314-934F-92DB-8EEB8DA68833}" type="slidenum">
              <a:rPr lang="en-US" smtClean="0"/>
              <a:pPr/>
              <a:t>‹#›</a:t>
            </a:fld>
            <a:endParaRPr lang="en-US"/>
          </a:p>
        </p:txBody>
      </p:sp>
    </p:spTree>
    <p:extLst>
      <p:ext uri="{BB962C8B-B14F-4D97-AF65-F5344CB8AC3E}">
        <p14:creationId xmlns:p14="http://schemas.microsoft.com/office/powerpoint/2010/main" val="50459444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image" Target="../media/image1.png"/><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26E61B7-8DCD-1544-BC5D-B4592F60C64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FBAB61D9-7FB3-1343-9555-936FC6036D9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DC2A79E-2DF5-4E41-BDCF-90E9D26B7E0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D1A7037-0853-0447-B5BA-F1548123F733}" type="datetimeFigureOut">
              <a:rPr lang="en-US" smtClean="0"/>
              <a:pPr/>
              <a:t>2/12/2025</a:t>
            </a:fld>
            <a:endParaRPr lang="en-US"/>
          </a:p>
        </p:txBody>
      </p:sp>
      <p:sp>
        <p:nvSpPr>
          <p:cNvPr id="5" name="Footer Placeholder 4">
            <a:extLst>
              <a:ext uri="{FF2B5EF4-FFF2-40B4-BE49-F238E27FC236}">
                <a16:creationId xmlns:a16="http://schemas.microsoft.com/office/drawing/2014/main" id="{556D5DC5-E1CB-B84F-BCAB-EB319B37181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C9712A2C-5C91-4B43-A114-209348A10C9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02F0E29-F314-934F-92DB-8EEB8DA68833}" type="slidenum">
              <a:rPr lang="en-US" smtClean="0"/>
              <a:pPr/>
              <a:t>‹#›</a:t>
            </a:fld>
            <a:endParaRPr lang="en-US"/>
          </a:p>
        </p:txBody>
      </p:sp>
      <p:pic>
        <p:nvPicPr>
          <p:cNvPr id="10" name="Picture 2" descr="PESSAT - All India Online Entrance Exam for Admission to PES University">
            <a:extLst>
              <a:ext uri="{FF2B5EF4-FFF2-40B4-BE49-F238E27FC236}">
                <a16:creationId xmlns:a16="http://schemas.microsoft.com/office/drawing/2014/main" id="{A3B97CAD-824E-EAC1-FC41-3EEEC584AA9C}"/>
              </a:ext>
            </a:extLst>
          </p:cNvPr>
          <p:cNvPicPr>
            <a:picLocks noChangeAspect="1" noChangeArrowheads="1"/>
          </p:cNvPicPr>
          <p:nvPr userDrawn="1"/>
        </p:nvPicPr>
        <p:blipFill>
          <a:blip r:embed="rId11" cstate="print">
            <a:extLst>
              <a:ext uri="{28A0092B-C50C-407E-A947-70E740481C1C}">
                <a14:useLocalDpi xmlns:a14="http://schemas.microsoft.com/office/drawing/2010/main" val="0"/>
              </a:ext>
            </a:extLst>
          </a:blip>
          <a:srcRect/>
          <a:stretch>
            <a:fillRect/>
          </a:stretch>
        </p:blipFill>
        <p:spPr bwMode="auto">
          <a:xfrm>
            <a:off x="10167336" y="264409"/>
            <a:ext cx="1162050" cy="5334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92383200"/>
      </p:ext>
    </p:extLst>
  </p:cSld>
  <p:clrMap bg1="lt1" tx1="dk1" bg2="lt2" tx2="dk2" accent1="accent1" accent2="accent2" accent3="accent3" accent4="accent4" accent5="accent5" accent6="accent6" hlink="hlink" folHlink="folHlink"/>
  <p:sldLayoutIdLst>
    <p:sldLayoutId id="2147483658" r:id="rId1"/>
    <p:sldLayoutId id="2147483659" r:id="rId2"/>
    <p:sldLayoutId id="2147483660" r:id="rId3"/>
    <p:sldLayoutId id="2147483661" r:id="rId4"/>
    <p:sldLayoutId id="2147483662" r:id="rId5"/>
    <p:sldLayoutId id="2147483663" r:id="rId6"/>
    <p:sldLayoutId id="2147483664" r:id="rId7"/>
    <p:sldLayoutId id="2147483665" r:id="rId8"/>
    <p:sldLayoutId id="2147483666" r:id="rId9"/>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Google Shape;26;p3"/>
          <p:cNvSpPr txBox="1"/>
          <p:nvPr/>
        </p:nvSpPr>
        <p:spPr>
          <a:xfrm>
            <a:off x="0" y="4323472"/>
            <a:ext cx="12192000" cy="2534527"/>
          </a:xfrm>
          <a:prstGeom prst="rect">
            <a:avLst/>
          </a:prstGeom>
          <a:noFill/>
          <a:ln>
            <a:noFill/>
          </a:ln>
        </p:spPr>
        <p:txBody>
          <a:bodyPr spcFirstLastPara="1" wrap="square" lIns="91425" tIns="45700" rIns="91425" bIns="45700" anchor="t" anchorCtr="0">
            <a:noAutofit/>
          </a:bodyPr>
          <a:lstStyle/>
          <a:p>
            <a:pPr>
              <a:spcBef>
                <a:spcPts val="0"/>
              </a:spcBef>
              <a:spcAft>
                <a:spcPts val="0"/>
              </a:spcAft>
            </a:pPr>
            <a:endParaRPr sz="2400" dirty="0">
              <a:solidFill>
                <a:srgbClr val="0033CC"/>
              </a:solidFill>
              <a:latin typeface="Trebuchet MS"/>
              <a:ea typeface="Trebuchet MS"/>
              <a:cs typeface="Trebuchet MS"/>
              <a:sym typeface="Trebuchet MS"/>
            </a:endParaRPr>
          </a:p>
        </p:txBody>
      </p:sp>
      <p:sp>
        <p:nvSpPr>
          <p:cNvPr id="6" name="TextBox 5">
            <a:extLst>
              <a:ext uri="{FF2B5EF4-FFF2-40B4-BE49-F238E27FC236}">
                <a16:creationId xmlns:a16="http://schemas.microsoft.com/office/drawing/2014/main" id="{79CFA518-D372-62E3-1BFC-9EE1EB0AA9EE}"/>
              </a:ext>
            </a:extLst>
          </p:cNvPr>
          <p:cNvSpPr txBox="1"/>
          <p:nvPr/>
        </p:nvSpPr>
        <p:spPr>
          <a:xfrm>
            <a:off x="479376" y="1455162"/>
            <a:ext cx="10873208" cy="4278094"/>
          </a:xfrm>
          <a:prstGeom prst="rect">
            <a:avLst/>
          </a:prstGeom>
          <a:noFill/>
        </p:spPr>
        <p:txBody>
          <a:bodyPr wrap="square">
            <a:spAutoFit/>
          </a:bodyPr>
          <a:lstStyle/>
          <a:p>
            <a:pPr algn="ctr"/>
            <a:r>
              <a:rPr lang="en-IN" sz="3600" b="1" dirty="0">
                <a:solidFill>
                  <a:srgbClr val="FF0000"/>
                </a:solidFill>
                <a:latin typeface="Times New Roman" panose="02020603050405020304" pitchFamily="18" charset="0"/>
                <a:cs typeface="Times New Roman" panose="02020603050405020304" pitchFamily="18" charset="0"/>
              </a:rPr>
              <a:t>UE22CS320A</a:t>
            </a:r>
            <a:r>
              <a:rPr lang="en-IN" sz="3600" dirty="0">
                <a:latin typeface="Times New Roman" panose="02020603050405020304" pitchFamily="18" charset="0"/>
                <a:cs typeface="Times New Roman" panose="02020603050405020304" pitchFamily="18" charset="0"/>
              </a:rPr>
              <a:t> </a:t>
            </a:r>
            <a:r>
              <a:rPr lang="en-IN" sz="3600" b="1" dirty="0">
                <a:solidFill>
                  <a:srgbClr val="FF0000"/>
                </a:solidFill>
                <a:latin typeface="Times New Roman" panose="02020603050405020304" pitchFamily="18" charset="0"/>
                <a:cs typeface="Times New Roman" panose="02020603050405020304" pitchFamily="18" charset="0"/>
              </a:rPr>
              <a:t>– Project Phase – 2</a:t>
            </a:r>
          </a:p>
          <a:p>
            <a:pPr algn="ctr"/>
            <a:r>
              <a:rPr lang="en-US" sz="3600" dirty="0">
                <a:solidFill>
                  <a:srgbClr val="FF0000"/>
                </a:solidFill>
                <a:latin typeface="Times New Roman" panose="02020603050405020304" pitchFamily="18" charset="0"/>
                <a:cs typeface="Times New Roman" panose="02020603050405020304" pitchFamily="18" charset="0"/>
              </a:rPr>
              <a:t>Capstone Project –Phase 2 –review 1</a:t>
            </a:r>
            <a:endParaRPr lang="en-US" sz="3200" dirty="0">
              <a:solidFill>
                <a:srgbClr val="FF0000"/>
              </a:solidFill>
              <a:latin typeface="Times New Roman" panose="02020603050405020304" pitchFamily="18" charset="0"/>
              <a:cs typeface="Times New Roman" panose="02020603050405020304" pitchFamily="18" charset="0"/>
            </a:endParaRPr>
          </a:p>
          <a:p>
            <a:pPr algn="ctr"/>
            <a:endParaRPr lang="en-IN" sz="3600" b="1" dirty="0">
              <a:solidFill>
                <a:srgbClr val="FF0000"/>
              </a:solidFill>
              <a:latin typeface="Times New Roman" panose="02020603050405020304" pitchFamily="18" charset="0"/>
              <a:cs typeface="Times New Roman" panose="02020603050405020304" pitchFamily="18" charset="0"/>
            </a:endParaRPr>
          </a:p>
          <a:p>
            <a:pPr lvl="2"/>
            <a:r>
              <a:rPr lang="en-IN" sz="2000" b="1" i="1" dirty="0">
                <a:latin typeface="Times New Roman" panose="02020603050405020304" pitchFamily="18" charset="0"/>
                <a:cs typeface="Times New Roman" panose="02020603050405020304" pitchFamily="18" charset="0"/>
              </a:rPr>
              <a:t>PROJECT TITLE	</a:t>
            </a:r>
            <a:r>
              <a:rPr lang="en-IN" sz="2000" b="1" dirty="0">
                <a:latin typeface="Times New Roman" panose="02020603050405020304" pitchFamily="18" charset="0"/>
                <a:cs typeface="Times New Roman" panose="02020603050405020304" pitchFamily="18" charset="0"/>
              </a:rPr>
              <a:t>:  </a:t>
            </a:r>
            <a:r>
              <a:rPr lang="en-IN" sz="2000" b="1" i="1" dirty="0">
                <a:latin typeface="Times New Roman" panose="02020603050405020304" pitchFamily="18" charset="0"/>
                <a:cs typeface="Times New Roman" panose="02020603050405020304" pitchFamily="18" charset="0"/>
              </a:rPr>
              <a:t> AVIOS – A</a:t>
            </a:r>
            <a:r>
              <a:rPr lang="en-IN" sz="2000" i="1" dirty="0">
                <a:latin typeface="Times New Roman" panose="02020603050405020304" pitchFamily="18" charset="0"/>
                <a:cs typeface="Times New Roman" panose="02020603050405020304" pitchFamily="18" charset="0"/>
              </a:rPr>
              <a:t>daptive</a:t>
            </a:r>
            <a:r>
              <a:rPr lang="en-IN" sz="2000" b="1" i="1" dirty="0">
                <a:latin typeface="Times New Roman" panose="02020603050405020304" pitchFamily="18" charset="0"/>
                <a:cs typeface="Times New Roman" panose="02020603050405020304" pitchFamily="18" charset="0"/>
              </a:rPr>
              <a:t> V</a:t>
            </a:r>
            <a:r>
              <a:rPr lang="en-IN" sz="2000" i="1" dirty="0">
                <a:latin typeface="Times New Roman" panose="02020603050405020304" pitchFamily="18" charset="0"/>
                <a:cs typeface="Times New Roman" panose="02020603050405020304" pitchFamily="18" charset="0"/>
              </a:rPr>
              <a:t>igilant</a:t>
            </a:r>
            <a:r>
              <a:rPr lang="en-IN" sz="2000" b="1" i="1" dirty="0">
                <a:latin typeface="Times New Roman" panose="02020603050405020304" pitchFamily="18" charset="0"/>
                <a:cs typeface="Times New Roman" panose="02020603050405020304" pitchFamily="18" charset="0"/>
              </a:rPr>
              <a:t> I</a:t>
            </a:r>
            <a:r>
              <a:rPr lang="en-IN" sz="2000" i="1" dirty="0">
                <a:latin typeface="Times New Roman" panose="02020603050405020304" pitchFamily="18" charset="0"/>
                <a:cs typeface="Times New Roman" panose="02020603050405020304" pitchFamily="18" charset="0"/>
              </a:rPr>
              <a:t>ntelligent</a:t>
            </a:r>
            <a:r>
              <a:rPr lang="en-IN" sz="2000" b="1" i="1" dirty="0">
                <a:latin typeface="Times New Roman" panose="02020603050405020304" pitchFamily="18" charset="0"/>
                <a:cs typeface="Times New Roman" panose="02020603050405020304" pitchFamily="18" charset="0"/>
              </a:rPr>
              <a:t> O</a:t>
            </a:r>
            <a:r>
              <a:rPr lang="en-IN" sz="2000" i="1" dirty="0">
                <a:latin typeface="Times New Roman" panose="02020603050405020304" pitchFamily="18" charset="0"/>
                <a:cs typeface="Times New Roman" panose="02020603050405020304" pitchFamily="18" charset="0"/>
              </a:rPr>
              <a:t>perating</a:t>
            </a:r>
            <a:r>
              <a:rPr lang="en-IN" sz="2000" b="1" i="1" dirty="0">
                <a:latin typeface="Times New Roman" panose="02020603050405020304" pitchFamily="18" charset="0"/>
                <a:cs typeface="Times New Roman" panose="02020603050405020304" pitchFamily="18" charset="0"/>
              </a:rPr>
              <a:t> S</a:t>
            </a:r>
            <a:r>
              <a:rPr lang="en-IN" sz="2000" i="1" dirty="0">
                <a:latin typeface="Times New Roman" panose="02020603050405020304" pitchFamily="18" charset="0"/>
                <a:cs typeface="Times New Roman" panose="02020603050405020304" pitchFamily="18" charset="0"/>
              </a:rPr>
              <a:t>ystem</a:t>
            </a:r>
          </a:p>
          <a:p>
            <a:pPr lvl="2"/>
            <a:r>
              <a:rPr lang="en-IN" sz="2000" b="1" i="1" dirty="0">
                <a:latin typeface="Times New Roman" panose="02020603050405020304" pitchFamily="18" charset="0"/>
                <a:cs typeface="Times New Roman" panose="02020603050405020304" pitchFamily="18" charset="0"/>
              </a:rPr>
              <a:t>PROJECT ID		</a:t>
            </a:r>
            <a:r>
              <a:rPr lang="en-IN" sz="2000" b="1" dirty="0">
                <a:latin typeface="Times New Roman" panose="02020603050405020304" pitchFamily="18" charset="0"/>
                <a:cs typeface="Times New Roman" panose="02020603050405020304" pitchFamily="18" charset="0"/>
              </a:rPr>
              <a:t>:   </a:t>
            </a:r>
            <a:r>
              <a:rPr lang="en-IN" sz="2000" b="1" i="1" dirty="0">
                <a:latin typeface="Times New Roman" panose="02020603050405020304" pitchFamily="18" charset="0"/>
                <a:cs typeface="Times New Roman" panose="02020603050405020304" pitchFamily="18" charset="0"/>
              </a:rPr>
              <a:t>Team 144</a:t>
            </a:r>
            <a:endParaRPr lang="en-IN" sz="2000" b="1" dirty="0">
              <a:latin typeface="Times New Roman" panose="02020603050405020304" pitchFamily="18" charset="0"/>
              <a:cs typeface="Times New Roman" panose="02020603050405020304" pitchFamily="18" charset="0"/>
            </a:endParaRPr>
          </a:p>
          <a:p>
            <a:pPr lvl="2"/>
            <a:r>
              <a:rPr lang="en-IN" sz="2000" b="1" i="1" dirty="0">
                <a:latin typeface="Times New Roman" panose="02020603050405020304" pitchFamily="18" charset="0"/>
                <a:cs typeface="Times New Roman" panose="02020603050405020304" pitchFamily="18" charset="0"/>
              </a:rPr>
              <a:t>PROJECT GUIDE	</a:t>
            </a:r>
            <a:r>
              <a:rPr lang="en-IN" sz="2000" b="1" dirty="0">
                <a:latin typeface="Times New Roman" panose="02020603050405020304" pitchFamily="18" charset="0"/>
                <a:cs typeface="Times New Roman" panose="02020603050405020304" pitchFamily="18" charset="0"/>
              </a:rPr>
              <a:t>: </a:t>
            </a:r>
            <a:r>
              <a:rPr lang="en-IN" sz="2000" b="1" i="1" dirty="0">
                <a:latin typeface="Times New Roman" panose="02020603050405020304" pitchFamily="18" charset="0"/>
                <a:cs typeface="Times New Roman" panose="02020603050405020304" pitchFamily="18" charset="0"/>
              </a:rPr>
              <a:t>  Prof. Swetha Patil</a:t>
            </a:r>
          </a:p>
          <a:p>
            <a:pPr lvl="2"/>
            <a:endParaRPr lang="en-IN" sz="2000" b="1" i="1" dirty="0">
              <a:latin typeface="Times New Roman" panose="02020603050405020304" pitchFamily="18" charset="0"/>
              <a:cs typeface="Times New Roman" panose="02020603050405020304" pitchFamily="18" charset="0"/>
            </a:endParaRPr>
          </a:p>
          <a:p>
            <a:pPr lvl="2"/>
            <a:r>
              <a:rPr lang="en-IN" sz="2000" b="1" i="1" dirty="0">
                <a:latin typeface="Times New Roman" panose="02020603050405020304" pitchFamily="18" charset="0"/>
                <a:cs typeface="Times New Roman" panose="02020603050405020304" pitchFamily="18" charset="0"/>
              </a:rPr>
              <a:t>PROJECT TEAM</a:t>
            </a:r>
          </a:p>
          <a:p>
            <a:pPr marL="1828800" lvl="3" indent="-457200">
              <a:buFont typeface="+mj-lt"/>
              <a:buAutoNum type="arabicPeriod"/>
            </a:pPr>
            <a:r>
              <a:rPr lang="en-IN" sz="1600" b="1" i="1" dirty="0" err="1">
                <a:latin typeface="Times New Roman" panose="02020603050405020304" pitchFamily="18" charset="0"/>
                <a:cs typeface="Times New Roman" panose="02020603050405020304" pitchFamily="18" charset="0"/>
              </a:rPr>
              <a:t>Kurumeti</a:t>
            </a:r>
            <a:r>
              <a:rPr lang="en-IN" sz="1600" b="1" i="1" dirty="0">
                <a:latin typeface="Times New Roman" panose="02020603050405020304" pitchFamily="18" charset="0"/>
                <a:cs typeface="Times New Roman" panose="02020603050405020304" pitchFamily="18" charset="0"/>
              </a:rPr>
              <a:t> Prajval ( PES2UG22CS274 )</a:t>
            </a:r>
          </a:p>
          <a:p>
            <a:pPr marL="1828800" lvl="3" indent="-457200">
              <a:buFont typeface="+mj-lt"/>
              <a:buAutoNum type="arabicPeriod"/>
            </a:pPr>
            <a:r>
              <a:rPr lang="en-IN" sz="1600" b="1" i="1" dirty="0">
                <a:latin typeface="Times New Roman" panose="02020603050405020304" pitchFamily="18" charset="0"/>
                <a:cs typeface="Times New Roman" panose="02020603050405020304" pitchFamily="18" charset="0"/>
              </a:rPr>
              <a:t>Manoj Kumar KS ( PES2UG22CS302 )</a:t>
            </a:r>
          </a:p>
          <a:p>
            <a:pPr marL="1828800" lvl="3" indent="-457200">
              <a:buFont typeface="+mj-lt"/>
              <a:buAutoNum type="arabicPeriod"/>
            </a:pPr>
            <a:r>
              <a:rPr lang="en-IN" sz="1600" b="1" i="1" dirty="0" err="1">
                <a:latin typeface="Times New Roman" panose="02020603050405020304" pitchFamily="18" charset="0"/>
                <a:cs typeface="Times New Roman" panose="02020603050405020304" pitchFamily="18" charset="0"/>
              </a:rPr>
              <a:t>Dhanushree</a:t>
            </a:r>
            <a:r>
              <a:rPr lang="en-IN" sz="1600" b="1" i="1" dirty="0">
                <a:latin typeface="Times New Roman" panose="02020603050405020304" pitchFamily="18" charset="0"/>
                <a:cs typeface="Times New Roman" panose="02020603050405020304" pitchFamily="18" charset="0"/>
              </a:rPr>
              <a:t> K ( PES2UG22CS176 )</a:t>
            </a:r>
          </a:p>
          <a:p>
            <a:pPr marL="1828800" lvl="3" indent="-457200">
              <a:buFont typeface="+mj-lt"/>
              <a:buAutoNum type="arabicPeriod"/>
            </a:pPr>
            <a:r>
              <a:rPr lang="en-IN" sz="1600" b="1" i="1" dirty="0" err="1">
                <a:latin typeface="Times New Roman" panose="02020603050405020304" pitchFamily="18" charset="0"/>
                <a:cs typeface="Times New Roman" panose="02020603050405020304" pitchFamily="18" charset="0"/>
              </a:rPr>
              <a:t>Nagaratna</a:t>
            </a:r>
            <a:r>
              <a:rPr lang="en-IN" sz="1600" b="1" i="1" dirty="0">
                <a:latin typeface="Times New Roman" panose="02020603050405020304" pitchFamily="18" charset="0"/>
                <a:cs typeface="Times New Roman" panose="02020603050405020304" pitchFamily="18" charset="0"/>
              </a:rPr>
              <a:t> ( PES2UG22CS331 )</a:t>
            </a:r>
            <a:endParaRPr lang="en-IN"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a:spLocks noChangeArrowheads="1"/>
          </p:cNvSpPr>
          <p:nvPr/>
        </p:nvSpPr>
        <p:spPr bwMode="auto">
          <a:xfrm>
            <a:off x="3048000" y="1581155"/>
            <a:ext cx="7620000" cy="36513"/>
          </a:xfrm>
          <a:prstGeom prst="rect">
            <a:avLst/>
          </a:prstGeom>
          <a:solidFill>
            <a:srgbClr val="33CCCC"/>
          </a:solidFill>
          <a:ln w="9525">
            <a:noFill/>
            <a:miter lim="800000"/>
            <a:headEnd/>
            <a:tailEnd/>
          </a:ln>
        </p:spPr>
        <p:txBody>
          <a:bodyPr wrap="none" anchor="ctr"/>
          <a:lstStyle/>
          <a:p>
            <a:endParaRPr lang="en-US"/>
          </a:p>
        </p:txBody>
      </p:sp>
      <p:sp>
        <p:nvSpPr>
          <p:cNvPr id="10" name="Content Placeholder 2"/>
          <p:cNvSpPr txBox="1">
            <a:spLocks/>
          </p:cNvSpPr>
          <p:nvPr/>
        </p:nvSpPr>
        <p:spPr>
          <a:xfrm>
            <a:off x="1343472" y="1772816"/>
            <a:ext cx="8077200" cy="4724400"/>
          </a:xfrm>
          <a:prstGeom prst="rect">
            <a:avLst/>
          </a:prstGeom>
        </p:spPr>
        <p:txBody>
          <a:bodyPr/>
          <a:lstStyle/>
          <a:p>
            <a:pPr marL="685791" indent="-342900" algn="just" eaLnBrk="0" hangingPunct="0">
              <a:spcBef>
                <a:spcPct val="20000"/>
              </a:spcBef>
              <a:buFont typeface="Arial" panose="020B0604020202020204" pitchFamily="34" charset="0"/>
              <a:buChar char="•"/>
              <a:defRPr/>
            </a:pPr>
            <a:r>
              <a:rPr lang="en-IN" sz="2200" kern="0" dirty="0">
                <a:latin typeface="Times New Roman" panose="02020603050405020304" pitchFamily="18" charset="0"/>
                <a:cs typeface="Times New Roman" panose="02020603050405020304" pitchFamily="18" charset="0"/>
              </a:rPr>
              <a:t>Problem Statement</a:t>
            </a:r>
          </a:p>
          <a:p>
            <a:pPr marL="685791" indent="-342900" algn="just" eaLnBrk="0" hangingPunct="0">
              <a:spcBef>
                <a:spcPct val="20000"/>
              </a:spcBef>
              <a:buFont typeface="Arial" panose="020B0604020202020204" pitchFamily="34" charset="0"/>
              <a:buChar char="•"/>
              <a:defRPr/>
            </a:pPr>
            <a:r>
              <a:rPr lang="en-US" sz="2200" kern="0" dirty="0">
                <a:latin typeface="Times New Roman" panose="02020603050405020304" pitchFamily="18" charset="0"/>
                <a:cs typeface="Times New Roman" panose="02020603050405020304" pitchFamily="18" charset="0"/>
              </a:rPr>
              <a:t>Abstract and Scope</a:t>
            </a:r>
          </a:p>
          <a:p>
            <a:pPr marL="685791" indent="-342900" algn="just" eaLnBrk="0" hangingPunct="0">
              <a:spcBef>
                <a:spcPct val="20000"/>
              </a:spcBef>
              <a:buFont typeface="Arial" panose="020B0604020202020204" pitchFamily="34" charset="0"/>
              <a:buChar char="•"/>
              <a:defRPr/>
            </a:pPr>
            <a:r>
              <a:rPr lang="en-US" sz="2200" kern="0" dirty="0">
                <a:latin typeface="Times New Roman" panose="02020603050405020304" pitchFamily="18" charset="0"/>
                <a:cs typeface="Times New Roman" panose="02020603050405020304" pitchFamily="18" charset="0"/>
              </a:rPr>
              <a:t>Suggestions from Phase-1</a:t>
            </a:r>
          </a:p>
          <a:p>
            <a:pPr marL="685791" indent="-342900" algn="just" eaLnBrk="0" hangingPunct="0">
              <a:spcBef>
                <a:spcPct val="20000"/>
              </a:spcBef>
              <a:buFont typeface="Arial" panose="020B0604020202020204" pitchFamily="34" charset="0"/>
              <a:buChar char="•"/>
              <a:defRPr/>
            </a:pPr>
            <a:r>
              <a:rPr lang="en-US" sz="2200" kern="0" dirty="0">
                <a:latin typeface="Times New Roman" panose="02020603050405020304" pitchFamily="18" charset="0"/>
                <a:cs typeface="Times New Roman" panose="02020603050405020304" pitchFamily="18" charset="0"/>
              </a:rPr>
              <a:t>Requirements Specification</a:t>
            </a:r>
          </a:p>
          <a:p>
            <a:pPr marL="685791" indent="-342900" algn="just" eaLnBrk="0" hangingPunct="0">
              <a:spcBef>
                <a:spcPct val="20000"/>
              </a:spcBef>
              <a:buFont typeface="Arial" panose="020B0604020202020204" pitchFamily="34" charset="0"/>
              <a:buChar char="•"/>
              <a:defRPr/>
            </a:pPr>
            <a:r>
              <a:rPr lang="en-US" sz="2200" kern="0" dirty="0">
                <a:latin typeface="Times New Roman" panose="02020603050405020304" pitchFamily="18" charset="0"/>
                <a:cs typeface="Times New Roman" panose="02020603050405020304" pitchFamily="18" charset="0"/>
                <a:sym typeface="Trebuchet MS"/>
              </a:rPr>
              <a:t>Design Approach </a:t>
            </a:r>
          </a:p>
          <a:p>
            <a:pPr marL="685791" indent="-342900" algn="just" eaLnBrk="0" hangingPunct="0">
              <a:spcBef>
                <a:spcPct val="20000"/>
              </a:spcBef>
              <a:buFont typeface="Arial" panose="020B0604020202020204" pitchFamily="34" charset="0"/>
              <a:buChar char="•"/>
              <a:defRPr/>
            </a:pPr>
            <a:r>
              <a:rPr lang="en-US" sz="2200" kern="0" dirty="0">
                <a:latin typeface="Times New Roman" panose="02020603050405020304" pitchFamily="18" charset="0"/>
                <a:cs typeface="Times New Roman" panose="02020603050405020304" pitchFamily="18" charset="0"/>
                <a:sym typeface="Trebuchet MS"/>
              </a:rPr>
              <a:t>Design Constraints, Assumptions &amp; Dependencies</a:t>
            </a:r>
          </a:p>
          <a:p>
            <a:pPr marL="685791" indent="-342900" algn="just" eaLnBrk="0" hangingPunct="0">
              <a:spcBef>
                <a:spcPct val="20000"/>
              </a:spcBef>
              <a:buFont typeface="Arial" panose="020B0604020202020204" pitchFamily="34" charset="0"/>
              <a:buChar char="•"/>
              <a:defRPr/>
            </a:pPr>
            <a:r>
              <a:rPr lang="en-US" sz="2200" kern="0" dirty="0">
                <a:latin typeface="Times New Roman" panose="02020603050405020304" pitchFamily="18" charset="0"/>
                <a:cs typeface="Times New Roman" panose="02020603050405020304" pitchFamily="18" charset="0"/>
                <a:sym typeface="Trebuchet MS"/>
              </a:rPr>
              <a:t>Proposed System / Approach</a:t>
            </a:r>
          </a:p>
          <a:p>
            <a:pPr marL="685791" indent="-342900" algn="just" eaLnBrk="0" hangingPunct="0">
              <a:spcBef>
                <a:spcPct val="20000"/>
              </a:spcBef>
              <a:buFont typeface="Arial" panose="020B0604020202020204" pitchFamily="34" charset="0"/>
              <a:buChar char="•"/>
              <a:defRPr/>
            </a:pPr>
            <a:r>
              <a:rPr lang="en-US" sz="2200" kern="0" dirty="0">
                <a:latin typeface="Times New Roman" panose="02020603050405020304" pitchFamily="18" charset="0"/>
                <a:cs typeface="Times New Roman" panose="02020603050405020304" pitchFamily="18" charset="0"/>
                <a:sym typeface="Trebuchet MS"/>
              </a:rPr>
              <a:t>Architecture</a:t>
            </a:r>
          </a:p>
          <a:p>
            <a:pPr marL="685791" indent="-342900" algn="just" eaLnBrk="0" hangingPunct="0">
              <a:spcBef>
                <a:spcPct val="20000"/>
              </a:spcBef>
              <a:buFont typeface="Arial" panose="020B0604020202020204" pitchFamily="34" charset="0"/>
              <a:buChar char="•"/>
              <a:defRPr/>
            </a:pPr>
            <a:r>
              <a:rPr lang="en-US" sz="2200" kern="0" dirty="0">
                <a:latin typeface="Times New Roman" panose="02020603050405020304" pitchFamily="18" charset="0"/>
                <a:cs typeface="Times New Roman" panose="02020603050405020304" pitchFamily="18" charset="0"/>
                <a:sym typeface="Trebuchet MS"/>
              </a:rPr>
              <a:t>Design Description</a:t>
            </a:r>
          </a:p>
          <a:p>
            <a:pPr marL="685791" indent="-342900" algn="just" eaLnBrk="0" hangingPunct="0">
              <a:spcBef>
                <a:spcPct val="20000"/>
              </a:spcBef>
              <a:buFont typeface="Arial" panose="020B0604020202020204" pitchFamily="34" charset="0"/>
              <a:buChar char="•"/>
              <a:defRPr/>
            </a:pPr>
            <a:r>
              <a:rPr lang="en-US" sz="2200" kern="0" dirty="0">
                <a:latin typeface="Times New Roman" panose="02020603050405020304" pitchFamily="18" charset="0"/>
                <a:cs typeface="Times New Roman" panose="02020603050405020304" pitchFamily="18" charset="0"/>
                <a:sym typeface="Trebuchet MS"/>
              </a:rPr>
              <a:t>Project Progress</a:t>
            </a:r>
          </a:p>
          <a:p>
            <a:pPr marL="685791" indent="-342900" algn="just" eaLnBrk="0" hangingPunct="0">
              <a:spcBef>
                <a:spcPct val="20000"/>
              </a:spcBef>
              <a:buFont typeface="Arial" panose="020B0604020202020204" pitchFamily="34" charset="0"/>
              <a:buChar char="•"/>
              <a:defRPr/>
            </a:pPr>
            <a:r>
              <a:rPr lang="en-US" sz="2200" kern="0" dirty="0">
                <a:latin typeface="Times New Roman" panose="02020603050405020304" pitchFamily="18" charset="0"/>
                <a:cs typeface="Times New Roman" panose="02020603050405020304" pitchFamily="18" charset="0"/>
                <a:sym typeface="Trebuchet MS"/>
              </a:rPr>
              <a:t>References</a:t>
            </a:r>
            <a:endParaRPr lang="en-US" sz="2200" kern="0" dirty="0">
              <a:latin typeface="Times New Roman" panose="02020603050405020304" pitchFamily="18" charset="0"/>
              <a:cs typeface="Times New Roman" panose="02020603050405020304" pitchFamily="18" charset="0"/>
            </a:endParaRPr>
          </a:p>
        </p:txBody>
      </p:sp>
      <p:sp>
        <p:nvSpPr>
          <p:cNvPr id="14" name="Text Box 34"/>
          <p:cNvSpPr txBox="1">
            <a:spLocks noChangeArrowheads="1"/>
          </p:cNvSpPr>
          <p:nvPr/>
        </p:nvSpPr>
        <p:spPr bwMode="auto">
          <a:xfrm>
            <a:off x="4191000" y="1143002"/>
            <a:ext cx="6477000" cy="461665"/>
          </a:xfrm>
          <a:prstGeom prst="rect">
            <a:avLst/>
          </a:prstGeom>
          <a:noFill/>
          <a:ln w="9525">
            <a:noFill/>
            <a:miter lim="800000"/>
            <a:headEnd/>
            <a:tailEnd/>
          </a:ln>
        </p:spPr>
        <p:txBody>
          <a:bodyPr wrap="square">
            <a:spAutoFit/>
          </a:bodyPr>
          <a:lstStyle/>
          <a:p>
            <a:pPr marL="342891" indent="-342891" algn="r" eaLnBrk="0" hangingPunct="0">
              <a:defRPr/>
            </a:pPr>
            <a:r>
              <a:rPr lang="en-US" sz="2400" b="1" i="1" dirty="0">
                <a:solidFill>
                  <a:srgbClr val="FF0000"/>
                </a:solidFill>
                <a:latin typeface="Times New Roman" panose="02020603050405020304" pitchFamily="18" charset="0"/>
                <a:cs typeface="Times New Roman" panose="02020603050405020304" pitchFamily="18" charset="0"/>
              </a:rPr>
              <a:t>Agenda</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a:spLocks noChangeArrowheads="1"/>
          </p:cNvSpPr>
          <p:nvPr/>
        </p:nvSpPr>
        <p:spPr bwMode="auto">
          <a:xfrm>
            <a:off x="3048000" y="1581155"/>
            <a:ext cx="7620000" cy="36513"/>
          </a:xfrm>
          <a:prstGeom prst="rect">
            <a:avLst/>
          </a:prstGeom>
          <a:solidFill>
            <a:srgbClr val="33CCCC"/>
          </a:solidFill>
          <a:ln w="9525">
            <a:noFill/>
            <a:miter lim="800000"/>
            <a:headEnd/>
            <a:tailEnd/>
          </a:ln>
        </p:spPr>
        <p:txBody>
          <a:bodyPr wrap="none" anchor="ctr"/>
          <a:lstStyle/>
          <a:p>
            <a:endParaRPr lang="en-US"/>
          </a:p>
        </p:txBody>
      </p:sp>
      <p:sp>
        <p:nvSpPr>
          <p:cNvPr id="10" name="Content Placeholder 2"/>
          <p:cNvSpPr txBox="1">
            <a:spLocks/>
          </p:cNvSpPr>
          <p:nvPr/>
        </p:nvSpPr>
        <p:spPr>
          <a:xfrm>
            <a:off x="609600" y="1268760"/>
            <a:ext cx="10972800" cy="4896544"/>
          </a:xfrm>
          <a:prstGeom prst="rect">
            <a:avLst/>
          </a:prstGeom>
        </p:spPr>
        <p:txBody>
          <a:bodyPr/>
          <a:lstStyle/>
          <a:p>
            <a:pPr marL="342891" algn="ctr" eaLnBrk="0" hangingPunct="0">
              <a:lnSpc>
                <a:spcPct val="300000"/>
              </a:lnSpc>
              <a:spcBef>
                <a:spcPts val="0"/>
              </a:spcBef>
              <a:spcAft>
                <a:spcPts val="0"/>
              </a:spcAft>
              <a:defRPr/>
            </a:pPr>
            <a:r>
              <a:rPr lang="en-IN" sz="2400" b="1" dirty="0">
                <a:latin typeface="Times New Roman" panose="02020603050405020304" pitchFamily="18" charset="0"/>
                <a:cs typeface="Times New Roman" panose="02020603050405020304" pitchFamily="18" charset="0"/>
              </a:rPr>
              <a:t>Artificial Intelligence based Task Scheduling</a:t>
            </a:r>
          </a:p>
          <a:p>
            <a:r>
              <a:rPr lang="en-US" dirty="0">
                <a:latin typeface="Times New Roman" panose="02020603050405020304" pitchFamily="18" charset="0"/>
                <a:cs typeface="Times New Roman" panose="02020603050405020304" pitchFamily="18" charset="0"/>
              </a:rPr>
              <a:t>Modern operating systems handle diverse workloads, from real-time tasks to background processes, but traditional schedulers like Linux CFS rely on static heuristics, leading to inefficient CPU allocation, higher latency, and increased power consumption. Existing solutions lack adaptability, failing to dynamically optimize resource allocation based on real-time system demands.</a:t>
            </a:r>
          </a:p>
          <a:p>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AVIOS – Adaptive Vigilant Intelligent Operating System aims to bridge this gap by integrating AI into scheduling. By analyzing process behavior, predicting optimal CPU time (</a:t>
            </a:r>
            <a:r>
              <a:rPr lang="en-US" dirty="0" err="1">
                <a:latin typeface="Times New Roman" panose="02020603050405020304" pitchFamily="18" charset="0"/>
                <a:cs typeface="Times New Roman" panose="02020603050405020304" pitchFamily="18" charset="0"/>
              </a:rPr>
              <a:t>vruntime</a:t>
            </a:r>
            <a:r>
              <a:rPr lang="en-US" dirty="0">
                <a:latin typeface="Times New Roman" panose="02020603050405020304" pitchFamily="18" charset="0"/>
                <a:cs typeface="Times New Roman" panose="02020603050405020304" pitchFamily="18" charset="0"/>
              </a:rPr>
              <a:t>), and modifying scheduling policies dynamically, AVIOS ensures: Faster execution for critical tasks , Optimized CPU utilization and </a:t>
            </a:r>
          </a:p>
          <a:p>
            <a:r>
              <a:rPr lang="en-US" dirty="0">
                <a:latin typeface="Times New Roman" panose="02020603050405020304" pitchFamily="18" charset="0"/>
                <a:cs typeface="Times New Roman" panose="02020603050405020304" pitchFamily="18" charset="0"/>
              </a:rPr>
              <a:t>Energy-efficient workload management.</a:t>
            </a:r>
          </a:p>
          <a:p>
            <a:endParaRPr lang="en-US" dirty="0">
              <a:latin typeface="Times New Roman" panose="02020603050405020304" pitchFamily="18" charset="0"/>
              <a:cs typeface="Times New Roman" panose="02020603050405020304" pitchFamily="18" charset="0"/>
            </a:endParaRPr>
          </a:p>
          <a:p>
            <a:r>
              <a:rPr lang="en-IN" dirty="0">
                <a:latin typeface="Times New Roman" panose="02020603050405020304" pitchFamily="18" charset="0"/>
                <a:cs typeface="Times New Roman" panose="02020603050405020304" pitchFamily="18" charset="0"/>
              </a:rPr>
              <a:t>By embedding AI-driven task scheduling into the Linux kernel, AVIOS enhances system responsiveness and performance, making OS scheduling truly adaptive and intelligent.</a:t>
            </a:r>
          </a:p>
          <a:p>
            <a:endParaRPr lang="en-US" dirty="0">
              <a:latin typeface="Times New Roman" panose="02020603050405020304" pitchFamily="18" charset="0"/>
              <a:cs typeface="Times New Roman" panose="02020603050405020304" pitchFamily="18" charset="0"/>
            </a:endParaRPr>
          </a:p>
        </p:txBody>
      </p:sp>
      <p:sp>
        <p:nvSpPr>
          <p:cNvPr id="14" name="Text Box 34"/>
          <p:cNvSpPr txBox="1">
            <a:spLocks noChangeArrowheads="1"/>
          </p:cNvSpPr>
          <p:nvPr/>
        </p:nvSpPr>
        <p:spPr bwMode="auto">
          <a:xfrm>
            <a:off x="4191000" y="1138535"/>
            <a:ext cx="6477000" cy="461665"/>
          </a:xfrm>
          <a:prstGeom prst="rect">
            <a:avLst/>
          </a:prstGeom>
          <a:noFill/>
          <a:ln w="9525">
            <a:noFill/>
            <a:miter lim="800000"/>
            <a:headEnd/>
            <a:tailEnd/>
          </a:ln>
        </p:spPr>
        <p:txBody>
          <a:bodyPr wrap="square">
            <a:spAutoFit/>
          </a:bodyPr>
          <a:lstStyle/>
          <a:p>
            <a:pPr marL="342891" indent="-342891" algn="r" eaLnBrk="0" hangingPunct="0">
              <a:defRPr/>
            </a:pPr>
            <a:r>
              <a:rPr lang="en-IN" sz="2400" b="1" i="1" dirty="0">
                <a:solidFill>
                  <a:srgbClr val="FF0000"/>
                </a:solidFill>
                <a:latin typeface="Times New Roman" panose="02020603050405020304" pitchFamily="18" charset="0"/>
                <a:cs typeface="Times New Roman" panose="02020603050405020304" pitchFamily="18" charset="0"/>
              </a:rPr>
              <a:t>Problem Statement</a:t>
            </a:r>
            <a:endParaRPr lang="en-US" sz="2400" b="1" i="1" dirty="0">
              <a:solidFill>
                <a:srgbClr val="FF000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8781429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a:spLocks noChangeArrowheads="1"/>
          </p:cNvSpPr>
          <p:nvPr/>
        </p:nvSpPr>
        <p:spPr bwMode="auto">
          <a:xfrm>
            <a:off x="3048000" y="1581155"/>
            <a:ext cx="7620000" cy="36513"/>
          </a:xfrm>
          <a:prstGeom prst="rect">
            <a:avLst/>
          </a:prstGeom>
          <a:solidFill>
            <a:srgbClr val="33CCCC"/>
          </a:solidFill>
          <a:ln w="9525">
            <a:noFill/>
            <a:miter lim="800000"/>
            <a:headEnd/>
            <a:tailEnd/>
          </a:ln>
        </p:spPr>
        <p:txBody>
          <a:bodyPr wrap="none" anchor="ctr"/>
          <a:lstStyle/>
          <a:p>
            <a:endParaRPr lang="en-US">
              <a:latin typeface="Times New Roman" panose="02020603050405020304" pitchFamily="18" charset="0"/>
              <a:cs typeface="Times New Roman" panose="02020603050405020304" pitchFamily="18" charset="0"/>
            </a:endParaRPr>
          </a:p>
        </p:txBody>
      </p:sp>
      <p:sp>
        <p:nvSpPr>
          <p:cNvPr id="10" name="Content Placeholder 2"/>
          <p:cNvSpPr txBox="1">
            <a:spLocks/>
          </p:cNvSpPr>
          <p:nvPr/>
        </p:nvSpPr>
        <p:spPr>
          <a:xfrm>
            <a:off x="1199456" y="1953345"/>
            <a:ext cx="8935144" cy="4447455"/>
          </a:xfrm>
          <a:prstGeom prst="rect">
            <a:avLst/>
          </a:prstGeom>
        </p:spPr>
        <p:txBody>
          <a:bodyPr/>
          <a:lstStyle/>
          <a:p>
            <a:pPr marL="342891" algn="just" eaLnBrk="0" hangingPunct="0">
              <a:spcBef>
                <a:spcPct val="20000"/>
              </a:spcBef>
              <a:defRPr/>
            </a:pPr>
            <a:endParaRPr lang="en-IN" sz="2400" kern="0" dirty="0">
              <a:solidFill>
                <a:srgbClr val="0000FF"/>
              </a:solidFill>
              <a:latin typeface="Times New Roman" panose="02020603050405020304" pitchFamily="18" charset="0"/>
              <a:cs typeface="Times New Roman" panose="02020603050405020304" pitchFamily="18" charset="0"/>
            </a:endParaRPr>
          </a:p>
        </p:txBody>
      </p:sp>
      <p:sp>
        <p:nvSpPr>
          <p:cNvPr id="14" name="Text Box 34"/>
          <p:cNvSpPr txBox="1">
            <a:spLocks noChangeArrowheads="1"/>
          </p:cNvSpPr>
          <p:nvPr/>
        </p:nvSpPr>
        <p:spPr bwMode="auto">
          <a:xfrm>
            <a:off x="4191000" y="1143002"/>
            <a:ext cx="6477000" cy="461665"/>
          </a:xfrm>
          <a:prstGeom prst="rect">
            <a:avLst/>
          </a:prstGeom>
          <a:noFill/>
          <a:ln w="9525">
            <a:noFill/>
            <a:miter lim="800000"/>
            <a:headEnd/>
            <a:tailEnd/>
          </a:ln>
        </p:spPr>
        <p:txBody>
          <a:bodyPr wrap="square">
            <a:spAutoFit/>
          </a:bodyPr>
          <a:lstStyle/>
          <a:p>
            <a:pPr marL="342891" indent="-342891" algn="r" eaLnBrk="0" hangingPunct="0">
              <a:defRPr/>
            </a:pPr>
            <a:r>
              <a:rPr lang="en-US" sz="2400" b="1" i="1" dirty="0">
                <a:solidFill>
                  <a:srgbClr val="FF0000"/>
                </a:solidFill>
                <a:latin typeface="Times New Roman" panose="02020603050405020304" pitchFamily="18" charset="0"/>
                <a:cs typeface="Times New Roman" panose="02020603050405020304" pitchFamily="18" charset="0"/>
              </a:rPr>
              <a:t>Abstract and Scope</a:t>
            </a:r>
          </a:p>
        </p:txBody>
      </p:sp>
      <p:sp>
        <p:nvSpPr>
          <p:cNvPr id="6" name="Text Placeholder 5">
            <a:extLst>
              <a:ext uri="{FF2B5EF4-FFF2-40B4-BE49-F238E27FC236}">
                <a16:creationId xmlns:a16="http://schemas.microsoft.com/office/drawing/2014/main" id="{696B3B7D-F24B-732D-B41D-8672E5E21DE1}"/>
              </a:ext>
            </a:extLst>
          </p:cNvPr>
          <p:cNvSpPr>
            <a:spLocks noGrp="1"/>
          </p:cNvSpPr>
          <p:nvPr>
            <p:ph type="body" idx="1"/>
          </p:nvPr>
        </p:nvSpPr>
        <p:spPr>
          <a:xfrm>
            <a:off x="831850" y="2042820"/>
            <a:ext cx="10515600" cy="4815179"/>
          </a:xfrm>
        </p:spPr>
        <p:txBody>
          <a:bodyPr>
            <a:normAutofit fontScale="47500" lnSpcReduction="20000"/>
          </a:bodyPr>
          <a:lstStyle/>
          <a:p>
            <a:pPr>
              <a:lnSpc>
                <a:spcPct val="120000"/>
              </a:lnSpc>
            </a:pPr>
            <a:r>
              <a:rPr lang="en-IN" sz="4400" b="1" i="1" dirty="0">
                <a:solidFill>
                  <a:schemeClr val="tx1"/>
                </a:solidFill>
                <a:latin typeface="Times New Roman" panose="02020603050405020304" pitchFamily="18" charset="0"/>
                <a:cs typeface="Times New Roman" panose="02020603050405020304" pitchFamily="18" charset="0"/>
              </a:rPr>
              <a:t>Abstract :</a:t>
            </a:r>
            <a:r>
              <a:rPr lang="en-IN" sz="4400" b="1" i="1" dirty="0">
                <a:latin typeface="Times New Roman" panose="02020603050405020304" pitchFamily="18" charset="0"/>
                <a:cs typeface="Times New Roman" panose="02020603050405020304" pitchFamily="18" charset="0"/>
              </a:rPr>
              <a:t> </a:t>
            </a:r>
          </a:p>
          <a:p>
            <a:pPr>
              <a:lnSpc>
                <a:spcPct val="120000"/>
              </a:lnSpc>
            </a:pPr>
            <a:r>
              <a:rPr lang="en-IN" sz="3600" b="1" i="1" dirty="0">
                <a:latin typeface="Times New Roman" panose="02020603050405020304" pitchFamily="18" charset="0"/>
                <a:cs typeface="Times New Roman" panose="02020603050405020304" pitchFamily="18" charset="0"/>
              </a:rPr>
              <a:t>                  </a:t>
            </a:r>
            <a:r>
              <a:rPr lang="en-IN" sz="3600" dirty="0">
                <a:solidFill>
                  <a:schemeClr val="tx1"/>
                </a:solidFill>
                <a:latin typeface="Times New Roman" panose="02020603050405020304" pitchFamily="18" charset="0"/>
                <a:cs typeface="Times New Roman" panose="02020603050405020304" pitchFamily="18" charset="0"/>
              </a:rPr>
              <a:t>AVIOS – Adaptive Vigilant Intelligent Operating System introduces AI-powered task scheduling in the Linux kernel to dynamically allocate CPU resources based on real-time process behaviour. By leveraging machine learning models in user space to predict optimal time slices (</a:t>
            </a:r>
            <a:r>
              <a:rPr lang="en-IN" sz="3600" dirty="0" err="1">
                <a:solidFill>
                  <a:schemeClr val="tx1"/>
                </a:solidFill>
                <a:latin typeface="Times New Roman" panose="02020603050405020304" pitchFamily="18" charset="0"/>
                <a:cs typeface="Times New Roman" panose="02020603050405020304" pitchFamily="18" charset="0"/>
              </a:rPr>
              <a:t>vruntime</a:t>
            </a:r>
            <a:r>
              <a:rPr lang="en-IN" sz="3600" dirty="0">
                <a:solidFill>
                  <a:schemeClr val="tx1"/>
                </a:solidFill>
                <a:latin typeface="Times New Roman" panose="02020603050405020304" pitchFamily="18" charset="0"/>
                <a:cs typeface="Times New Roman" panose="02020603050405020304" pitchFamily="18" charset="0"/>
              </a:rPr>
              <a:t>) and modifying scheduling policies via system calls, AVIOS enhances system efficiency, reduces latency, and optimizes CPU utilization for diverse workloads.</a:t>
            </a:r>
          </a:p>
          <a:p>
            <a:pPr>
              <a:lnSpc>
                <a:spcPct val="120000"/>
              </a:lnSpc>
            </a:pPr>
            <a:endParaRPr lang="en-IN" sz="3300" b="1" i="1" dirty="0">
              <a:solidFill>
                <a:schemeClr val="tx1"/>
              </a:solidFill>
              <a:latin typeface="Times New Roman" panose="02020603050405020304" pitchFamily="18" charset="0"/>
              <a:cs typeface="Times New Roman" panose="02020603050405020304" pitchFamily="18" charset="0"/>
            </a:endParaRPr>
          </a:p>
          <a:p>
            <a:pPr>
              <a:lnSpc>
                <a:spcPct val="120000"/>
              </a:lnSpc>
            </a:pPr>
            <a:r>
              <a:rPr lang="en-IN" sz="4400" b="1" i="1" dirty="0">
                <a:solidFill>
                  <a:schemeClr val="tx1"/>
                </a:solidFill>
                <a:latin typeface="Times New Roman" panose="02020603050405020304" pitchFamily="18" charset="0"/>
                <a:cs typeface="Times New Roman" panose="02020603050405020304" pitchFamily="18" charset="0"/>
              </a:rPr>
              <a:t>Scope:</a:t>
            </a:r>
          </a:p>
          <a:p>
            <a:pPr>
              <a:lnSpc>
                <a:spcPct val="120000"/>
              </a:lnSpc>
            </a:pPr>
            <a:r>
              <a:rPr lang="en-IN" sz="3600" b="1" i="1" dirty="0">
                <a:solidFill>
                  <a:schemeClr val="tx1"/>
                </a:solidFill>
                <a:latin typeface="Times New Roman" panose="02020603050405020304" pitchFamily="18" charset="0"/>
                <a:cs typeface="Times New Roman" panose="02020603050405020304" pitchFamily="18" charset="0"/>
              </a:rPr>
              <a:t>            </a:t>
            </a:r>
            <a:r>
              <a:rPr lang="en-US" sz="3600" dirty="0">
                <a:solidFill>
                  <a:schemeClr val="tx1"/>
                </a:solidFill>
                <a:latin typeface="Times New Roman" panose="02020603050405020304" pitchFamily="18" charset="0"/>
                <a:cs typeface="Times New Roman" panose="02020603050405020304" pitchFamily="18" charset="0"/>
              </a:rPr>
              <a:t>AVIOS is designed for high-performance computing, cloud environments, and real-time systems, ensuring adaptive scheduling for diverse workloads. It improves CPU efficiency, energy management, and responsiveness, making it suitable for datacenters, AI/ML workloads, and low-latency applications. Future extensions include integration with cloud-native orchestration systems like Kubernetes for distributed scheduling.</a:t>
            </a:r>
            <a:endParaRPr lang="en-IN" sz="3600" i="1" dirty="0">
              <a:solidFill>
                <a:schemeClr val="tx1"/>
              </a:solidFill>
              <a:latin typeface="Times New Roman" panose="02020603050405020304" pitchFamily="18" charset="0"/>
              <a:cs typeface="Times New Roman" panose="02020603050405020304" pitchFamily="18" charset="0"/>
            </a:endParaRPr>
          </a:p>
          <a:p>
            <a:pPr>
              <a:lnSpc>
                <a:spcPct val="120000"/>
              </a:lnSpc>
            </a:pPr>
            <a:r>
              <a:rPr lang="en-IN" sz="3300" i="1" dirty="0">
                <a:solidFill>
                  <a:schemeClr val="tx1"/>
                </a:solidFill>
                <a:latin typeface="Times New Roman" panose="02020603050405020304" pitchFamily="18" charset="0"/>
                <a:cs typeface="Times New Roman" panose="02020603050405020304" pitchFamily="18" charset="0"/>
              </a:rPr>
              <a:t>           </a:t>
            </a:r>
          </a:p>
          <a:p>
            <a:endParaRPr lang="en-IN" b="1" i="1" dirty="0">
              <a:solidFill>
                <a:schemeClr val="tx1"/>
              </a:solidFill>
              <a:latin typeface="Times New Roman" panose="02020603050405020304" pitchFamily="18" charset="0"/>
              <a:cs typeface="Times New Roman" panose="02020603050405020304" pitchFamily="18" charset="0"/>
            </a:endParaRPr>
          </a:p>
          <a:p>
            <a:pPr algn="just"/>
            <a:r>
              <a:rPr lang="en-US" sz="2000" dirty="0">
                <a:solidFill>
                  <a:schemeClr val="tx1"/>
                </a:solidFill>
                <a:latin typeface="Times New Roman" panose="02020603050405020304" pitchFamily="18" charset="0"/>
                <a:cs typeface="Times New Roman" panose="02020603050405020304" pitchFamily="18" charset="0"/>
              </a:rPr>
              <a:t>  </a:t>
            </a:r>
            <a:endParaRPr lang="en-IN" sz="1800"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83930765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a:spLocks noChangeArrowheads="1"/>
          </p:cNvSpPr>
          <p:nvPr/>
        </p:nvSpPr>
        <p:spPr bwMode="auto">
          <a:xfrm>
            <a:off x="3048000" y="1581155"/>
            <a:ext cx="7620000" cy="36513"/>
          </a:xfrm>
          <a:prstGeom prst="rect">
            <a:avLst/>
          </a:prstGeom>
          <a:solidFill>
            <a:srgbClr val="33CCCC"/>
          </a:solidFill>
          <a:ln w="9525">
            <a:noFill/>
            <a:miter lim="800000"/>
            <a:headEnd/>
            <a:tailEnd/>
          </a:ln>
        </p:spPr>
        <p:txBody>
          <a:bodyPr wrap="none" anchor="ctr"/>
          <a:lstStyle/>
          <a:p>
            <a:endParaRPr lang="en-US"/>
          </a:p>
        </p:txBody>
      </p:sp>
      <p:sp>
        <p:nvSpPr>
          <p:cNvPr id="10" name="Content Placeholder 2"/>
          <p:cNvSpPr txBox="1">
            <a:spLocks/>
          </p:cNvSpPr>
          <p:nvPr/>
        </p:nvSpPr>
        <p:spPr>
          <a:xfrm>
            <a:off x="551384" y="2092332"/>
            <a:ext cx="11089232" cy="4384667"/>
          </a:xfrm>
          <a:prstGeom prst="rect">
            <a:avLst/>
          </a:prstGeom>
        </p:spPr>
        <p:txBody>
          <a:bodyPr/>
          <a:lstStyle/>
          <a:p>
            <a:pPr marL="342891" algn="just" eaLnBrk="0" hangingPunct="0">
              <a:spcBef>
                <a:spcPct val="20000"/>
              </a:spcBef>
              <a:defRPr/>
            </a:pPr>
            <a:endParaRPr lang="en-IN" sz="2400" kern="0" dirty="0">
              <a:solidFill>
                <a:srgbClr val="0000FF"/>
              </a:solidFill>
              <a:latin typeface="Trebuchet MS" pitchFamily="34" charset="0"/>
            </a:endParaRPr>
          </a:p>
        </p:txBody>
      </p:sp>
      <p:sp>
        <p:nvSpPr>
          <p:cNvPr id="14" name="Text Box 34"/>
          <p:cNvSpPr txBox="1">
            <a:spLocks noChangeArrowheads="1"/>
          </p:cNvSpPr>
          <p:nvPr/>
        </p:nvSpPr>
        <p:spPr bwMode="auto">
          <a:xfrm>
            <a:off x="4191000" y="1143002"/>
            <a:ext cx="6477000" cy="461665"/>
          </a:xfrm>
          <a:prstGeom prst="rect">
            <a:avLst/>
          </a:prstGeom>
          <a:noFill/>
          <a:ln w="9525">
            <a:noFill/>
            <a:miter lim="800000"/>
            <a:headEnd/>
            <a:tailEnd/>
          </a:ln>
        </p:spPr>
        <p:txBody>
          <a:bodyPr wrap="square">
            <a:spAutoFit/>
          </a:bodyPr>
          <a:lstStyle/>
          <a:p>
            <a:pPr marL="342891" indent="-342891" algn="r" eaLnBrk="0" hangingPunct="0">
              <a:defRPr/>
            </a:pPr>
            <a:r>
              <a:rPr lang="en-US" sz="2400" b="1" i="1" dirty="0">
                <a:solidFill>
                  <a:srgbClr val="FF0000"/>
                </a:solidFill>
                <a:latin typeface="Times New Roman" panose="02020603050405020304" pitchFamily="18" charset="0"/>
                <a:cs typeface="Times New Roman" panose="02020603050405020304" pitchFamily="18" charset="0"/>
              </a:rPr>
              <a:t>Suggestions from Phase-1 </a:t>
            </a:r>
          </a:p>
        </p:txBody>
      </p:sp>
      <p:sp>
        <p:nvSpPr>
          <p:cNvPr id="2" name="TextBox 1">
            <a:extLst>
              <a:ext uri="{FF2B5EF4-FFF2-40B4-BE49-F238E27FC236}">
                <a16:creationId xmlns:a16="http://schemas.microsoft.com/office/drawing/2014/main" id="{30DF8A99-8544-8A07-897A-C26BA99A190A}"/>
              </a:ext>
            </a:extLst>
          </p:cNvPr>
          <p:cNvSpPr txBox="1"/>
          <p:nvPr/>
        </p:nvSpPr>
        <p:spPr>
          <a:xfrm>
            <a:off x="839416" y="2420888"/>
            <a:ext cx="10297144" cy="1631216"/>
          </a:xfrm>
          <a:prstGeom prst="rect">
            <a:avLst/>
          </a:prstGeom>
          <a:noFill/>
        </p:spPr>
        <p:txBody>
          <a:bodyPr wrap="square" rtlCol="0">
            <a:spAutoFit/>
          </a:bodyPr>
          <a:lstStyle/>
          <a:p>
            <a:r>
              <a:rPr lang="en-US" sz="2000" b="1" dirty="0">
                <a:latin typeface="Times New Roman" panose="02020603050405020304" pitchFamily="18" charset="0"/>
                <a:cs typeface="Times New Roman" panose="02020603050405020304" pitchFamily="18" charset="0"/>
              </a:rPr>
              <a:t>Moving Forward with AI Task Scheduling Feature</a:t>
            </a:r>
          </a:p>
          <a:p>
            <a:endParaRPr lang="en-US" sz="2000" b="1" dirty="0">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After careful consideration and feedback, we have decided to focus on </a:t>
            </a:r>
            <a:r>
              <a:rPr lang="en-US" sz="2000" b="1" dirty="0">
                <a:latin typeface="Times New Roman" panose="02020603050405020304" pitchFamily="18" charset="0"/>
                <a:cs typeface="Times New Roman" panose="02020603050405020304" pitchFamily="18" charset="0"/>
              </a:rPr>
              <a:t>AI-based Task Scheduling</a:t>
            </a:r>
            <a:r>
              <a:rPr lang="en-US" sz="2000" dirty="0">
                <a:latin typeface="Times New Roman" panose="02020603050405020304" pitchFamily="18" charset="0"/>
                <a:cs typeface="Times New Roman" panose="02020603050405020304" pitchFamily="18" charset="0"/>
              </a:rPr>
              <a:t> as the primary feature of our project. This decision is based on its potential to optimize task execution, improve efficiency, and enhance system performance.</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a:spLocks noChangeArrowheads="1"/>
          </p:cNvSpPr>
          <p:nvPr/>
        </p:nvSpPr>
        <p:spPr bwMode="auto">
          <a:xfrm>
            <a:off x="3048000" y="1581155"/>
            <a:ext cx="7620000" cy="36513"/>
          </a:xfrm>
          <a:prstGeom prst="rect">
            <a:avLst/>
          </a:prstGeom>
          <a:solidFill>
            <a:srgbClr val="33CCCC"/>
          </a:solidFill>
          <a:ln w="9525">
            <a:noFill/>
            <a:miter lim="800000"/>
            <a:headEnd/>
            <a:tailEnd/>
          </a:ln>
        </p:spPr>
        <p:txBody>
          <a:bodyPr wrap="none" anchor="ctr"/>
          <a:lstStyle/>
          <a:p>
            <a:endParaRPr lang="en-US"/>
          </a:p>
        </p:txBody>
      </p:sp>
      <p:sp>
        <p:nvSpPr>
          <p:cNvPr id="14" name="Text Box 34"/>
          <p:cNvSpPr txBox="1">
            <a:spLocks noChangeArrowheads="1"/>
          </p:cNvSpPr>
          <p:nvPr/>
        </p:nvSpPr>
        <p:spPr bwMode="auto">
          <a:xfrm>
            <a:off x="4191000" y="1143002"/>
            <a:ext cx="6477000" cy="461665"/>
          </a:xfrm>
          <a:prstGeom prst="rect">
            <a:avLst/>
          </a:prstGeom>
          <a:noFill/>
          <a:ln w="9525">
            <a:noFill/>
            <a:miter lim="800000"/>
            <a:headEnd/>
            <a:tailEnd/>
          </a:ln>
        </p:spPr>
        <p:txBody>
          <a:bodyPr wrap="square">
            <a:spAutoFit/>
          </a:bodyPr>
          <a:lstStyle/>
          <a:p>
            <a:pPr marL="342891" indent="-342891" algn="r" eaLnBrk="0" hangingPunct="0">
              <a:defRPr/>
            </a:pPr>
            <a:r>
              <a:rPr lang="en-US" sz="2400" b="1" i="1" dirty="0">
                <a:solidFill>
                  <a:srgbClr val="FF0000"/>
                </a:solidFill>
                <a:latin typeface="Times New Roman" panose="02020603050405020304" pitchFamily="18" charset="0"/>
                <a:cs typeface="Times New Roman" panose="02020603050405020304" pitchFamily="18" charset="0"/>
              </a:rPr>
              <a:t>Requirements Specification</a:t>
            </a:r>
          </a:p>
        </p:txBody>
      </p:sp>
      <p:sp>
        <p:nvSpPr>
          <p:cNvPr id="3" name="TextBox 2">
            <a:extLst>
              <a:ext uri="{FF2B5EF4-FFF2-40B4-BE49-F238E27FC236}">
                <a16:creationId xmlns:a16="http://schemas.microsoft.com/office/drawing/2014/main" id="{5BF0BE25-1CDD-60D9-A7D7-C82AC7A1E74C}"/>
              </a:ext>
            </a:extLst>
          </p:cNvPr>
          <p:cNvSpPr txBox="1"/>
          <p:nvPr/>
        </p:nvSpPr>
        <p:spPr>
          <a:xfrm>
            <a:off x="263352" y="1700808"/>
            <a:ext cx="5523806" cy="4708981"/>
          </a:xfrm>
          <a:prstGeom prst="rect">
            <a:avLst/>
          </a:prstGeom>
          <a:noFill/>
        </p:spPr>
        <p:txBody>
          <a:bodyPr wrap="square">
            <a:spAutoFit/>
          </a:bodyPr>
          <a:lstStyle/>
          <a:p>
            <a:r>
              <a:rPr lang="en-IN" sz="2000" b="1" dirty="0">
                <a:latin typeface="Times New Roman" panose="02020603050405020304" pitchFamily="18" charset="0"/>
                <a:cs typeface="Times New Roman" panose="02020603050405020304" pitchFamily="18" charset="0"/>
              </a:rPr>
              <a:t>Functional Requirements</a:t>
            </a:r>
          </a:p>
          <a:p>
            <a:endParaRPr lang="en-IN" dirty="0">
              <a:latin typeface="Times New Roman" panose="02020603050405020304" pitchFamily="18" charset="0"/>
              <a:cs typeface="Times New Roman" panose="02020603050405020304" pitchFamily="18" charset="0"/>
            </a:endParaRPr>
          </a:p>
          <a:p>
            <a:r>
              <a:rPr lang="en-IN" dirty="0">
                <a:latin typeface="Times New Roman" panose="02020603050405020304" pitchFamily="18" charset="0"/>
                <a:cs typeface="Times New Roman" panose="02020603050405020304" pitchFamily="18" charset="0"/>
              </a:rPr>
              <a:t>1</a:t>
            </a:r>
            <a:r>
              <a:rPr lang="en-IN" b="1" dirty="0">
                <a:latin typeface="Times New Roman" panose="02020603050405020304" pitchFamily="18" charset="0"/>
                <a:cs typeface="Times New Roman" panose="02020603050405020304" pitchFamily="18" charset="0"/>
              </a:rPr>
              <a:t>)  </a:t>
            </a:r>
            <a:r>
              <a:rPr lang="en-IN" b="1" i="1" dirty="0">
                <a:latin typeface="Times New Roman" panose="02020603050405020304" pitchFamily="18" charset="0"/>
                <a:cs typeface="Times New Roman" panose="02020603050405020304" pitchFamily="18" charset="0"/>
              </a:rPr>
              <a:t>AI-Based Task Scheduling :</a:t>
            </a:r>
            <a:endParaRPr kumimoji="0" lang="en-US" altLang="en-US" i="1"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lvl="1" eaLnBrk="0" hangingPunct="0">
              <a:buFontTx/>
              <a:buChar char="•"/>
            </a:pPr>
            <a:r>
              <a:rPr kumimoji="0" lang="en-US" altLang="en-US" sz="16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 system must classify tasks into real-time (RT) and Resource Intensive Task (RIT) based on resource usage.</a:t>
            </a:r>
          </a:p>
          <a:p>
            <a:pPr lvl="1" eaLnBrk="0" hangingPunct="0">
              <a:buFontTx/>
              <a:buChar char="•"/>
            </a:pPr>
            <a:r>
              <a:rPr kumimoji="0" lang="en-US" altLang="en-US" sz="16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It must predict optimal time slices (STS) for each task using a machine learning model.</a:t>
            </a:r>
          </a:p>
          <a:p>
            <a:pPr lvl="1" eaLnBrk="0" hangingPunct="0">
              <a:buFontTx/>
              <a:buChar char="•"/>
            </a:pPr>
            <a:r>
              <a:rPr kumimoji="0" lang="en-US" altLang="en-US" sz="16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 AI model should dynamically adjust scheduling policies. </a:t>
            </a:r>
          </a:p>
          <a:p>
            <a:endParaRPr lang="en-IN" sz="1600" dirty="0"/>
          </a:p>
          <a:p>
            <a:r>
              <a:rPr lang="en-IN" dirty="0">
                <a:latin typeface="Times New Roman" panose="02020603050405020304" pitchFamily="18" charset="0"/>
                <a:cs typeface="Times New Roman" panose="02020603050405020304" pitchFamily="18" charset="0"/>
              </a:rPr>
              <a:t>2</a:t>
            </a:r>
            <a:r>
              <a:rPr lang="en-IN" i="1" dirty="0">
                <a:latin typeface="Times New Roman" panose="02020603050405020304" pitchFamily="18" charset="0"/>
                <a:cs typeface="Times New Roman" panose="02020603050405020304" pitchFamily="18" charset="0"/>
              </a:rPr>
              <a:t>)</a:t>
            </a:r>
            <a:r>
              <a:rPr lang="en-IN" i="1" dirty="0"/>
              <a:t> </a:t>
            </a:r>
            <a:r>
              <a:rPr lang="en-IN" b="1" i="1" dirty="0">
                <a:latin typeface="Times New Roman" panose="02020603050405020304" pitchFamily="18" charset="0"/>
                <a:cs typeface="Times New Roman" panose="02020603050405020304" pitchFamily="18" charset="0"/>
              </a:rPr>
              <a:t>Kernel-Level Task Execution :</a:t>
            </a:r>
          </a:p>
          <a:p>
            <a:pPr lvl="1" eaLnBrk="0" hangingPunct="0">
              <a:buFontTx/>
              <a:buChar char="•"/>
            </a:pPr>
            <a:r>
              <a:rPr kumimoji="0" lang="en-US" altLang="en-US" sz="16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 modified scheduler must support SCHED_RR (real-time) and SCHED_OTHER (CFS).</a:t>
            </a:r>
          </a:p>
          <a:p>
            <a:pPr lvl="1" eaLnBrk="0" hangingPunct="0">
              <a:buFontTx/>
              <a:buChar char="•"/>
            </a:pPr>
            <a:r>
              <a:rPr kumimoji="0" lang="en-US" altLang="en-US" sz="16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It should ensure low-latency execution for high-priority tasks. </a:t>
            </a:r>
          </a:p>
          <a:p>
            <a:pPr lvl="1" eaLnBrk="0" hangingPunct="0">
              <a:buFontTx/>
              <a:buChar char="•"/>
            </a:pPr>
            <a:r>
              <a:rPr lang="en-IN" sz="1600" dirty="0">
                <a:latin typeface="Times New Roman" panose="02020603050405020304" pitchFamily="18" charset="0"/>
                <a:cs typeface="Times New Roman" panose="02020603050405020304" pitchFamily="18" charset="0"/>
              </a:rPr>
              <a:t> </a:t>
            </a:r>
            <a:r>
              <a:rPr kumimoji="0" lang="en-US" altLang="en-US" sz="16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 scheduler should modify CPU time slice allocation based on AI predictions.</a:t>
            </a:r>
          </a:p>
          <a:p>
            <a:endParaRPr lang="en-IN" b="1" dirty="0"/>
          </a:p>
        </p:txBody>
      </p:sp>
      <p:sp>
        <p:nvSpPr>
          <p:cNvPr id="10" name="TextBox 9">
            <a:extLst>
              <a:ext uri="{FF2B5EF4-FFF2-40B4-BE49-F238E27FC236}">
                <a16:creationId xmlns:a16="http://schemas.microsoft.com/office/drawing/2014/main" id="{4FF357D1-CBBF-AA43-A043-65D337B87E72}"/>
              </a:ext>
            </a:extLst>
          </p:cNvPr>
          <p:cNvSpPr txBox="1"/>
          <p:nvPr/>
        </p:nvSpPr>
        <p:spPr>
          <a:xfrm>
            <a:off x="5787158" y="2205884"/>
            <a:ext cx="6478234" cy="4431983"/>
          </a:xfrm>
          <a:prstGeom prst="rect">
            <a:avLst/>
          </a:prstGeom>
          <a:noFill/>
        </p:spPr>
        <p:txBody>
          <a:bodyPr wrap="square">
            <a:spAutoFit/>
          </a:bodyPr>
          <a:lstStyle/>
          <a:p>
            <a:r>
              <a:rPr lang="en-IN" dirty="0">
                <a:latin typeface="Times New Roman" panose="02020603050405020304" pitchFamily="18" charset="0"/>
                <a:cs typeface="Times New Roman" panose="02020603050405020304" pitchFamily="18" charset="0"/>
              </a:rPr>
              <a:t>3) </a:t>
            </a:r>
            <a:r>
              <a:rPr lang="en-IN" b="1" i="1" dirty="0">
                <a:latin typeface="Times New Roman" panose="02020603050405020304" pitchFamily="18" charset="0"/>
                <a:cs typeface="Times New Roman" panose="02020603050405020304" pitchFamily="18" charset="0"/>
              </a:rPr>
              <a:t>User-Kernel Communication :</a:t>
            </a:r>
          </a:p>
          <a:p>
            <a:pPr lvl="1" eaLnBrk="0" hangingPunct="0">
              <a:buFontTx/>
              <a:buChar char="•"/>
            </a:pPr>
            <a:r>
              <a:rPr kumimoji="0" lang="en-US" altLang="en-US" sz="16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 AI model should send predictions via system calls (</a:t>
            </a:r>
            <a:r>
              <a:rPr kumimoji="0" lang="en-US" altLang="en-US" sz="160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sched_setscheduler</a:t>
            </a:r>
            <a:r>
              <a:rPr kumimoji="0" lang="en-US" altLang="en-US" sz="16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endParaRPr kumimoji="0" lang="en-US" altLang="en-US"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lvl="1" eaLnBrk="0" hangingPunct="0">
              <a:buFontTx/>
              <a:buChar char="•"/>
            </a:pPr>
            <a:r>
              <a:rPr kumimoji="0" lang="en-US" altLang="en-US" sz="16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Alternative </a:t>
            </a:r>
            <a:r>
              <a:rPr kumimoji="0" lang="en-US" altLang="en-US" sz="160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Netlink</a:t>
            </a:r>
            <a:r>
              <a:rPr kumimoji="0" lang="en-US" altLang="en-US" sz="16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sockets may be used for real-time communication.</a:t>
            </a:r>
          </a:p>
          <a:p>
            <a:pPr lvl="1" eaLnBrk="0" hangingPunct="0"/>
            <a:endParaRPr lang="en-IN" sz="1600" dirty="0">
              <a:latin typeface="Times New Roman" panose="02020603050405020304" pitchFamily="18" charset="0"/>
              <a:cs typeface="Times New Roman" panose="02020603050405020304" pitchFamily="18" charset="0"/>
            </a:endParaRPr>
          </a:p>
          <a:p>
            <a:r>
              <a:rPr lang="en-IN" dirty="0">
                <a:latin typeface="Times New Roman" panose="02020603050405020304" pitchFamily="18" charset="0"/>
                <a:cs typeface="Times New Roman" panose="02020603050405020304" pitchFamily="18" charset="0"/>
              </a:rPr>
              <a:t>4) </a:t>
            </a:r>
            <a:r>
              <a:rPr lang="en-IN" b="1" i="1" dirty="0">
                <a:latin typeface="Times New Roman" panose="02020603050405020304" pitchFamily="18" charset="0"/>
                <a:cs typeface="Times New Roman" panose="02020603050405020304" pitchFamily="18" charset="0"/>
              </a:rPr>
              <a:t>Process Monitoring &amp; Data Collection :</a:t>
            </a:r>
          </a:p>
          <a:p>
            <a:pPr lvl="1" eaLnBrk="0" hangingPunct="0">
              <a:buFontTx/>
              <a:buChar char="•"/>
            </a:pPr>
            <a:r>
              <a:rPr kumimoji="0" lang="en-US" altLang="en-US" sz="16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 system must monitor CPU, memory, I/O usage, and context switch rates.</a:t>
            </a:r>
          </a:p>
          <a:p>
            <a:pPr lvl="1" eaLnBrk="0" hangingPunct="0">
              <a:buFontTx/>
              <a:buChar char="•"/>
            </a:pPr>
            <a:r>
              <a:rPr kumimoji="0" lang="en-US" altLang="en-US" sz="16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Data collection should use perf, </a:t>
            </a:r>
            <a:r>
              <a:rPr kumimoji="0" lang="en-US" altLang="en-US" sz="160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psutil</a:t>
            </a:r>
            <a:r>
              <a:rPr kumimoji="0" lang="en-US" altLang="en-US" sz="16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and other Linux monitoring tools.</a:t>
            </a:r>
          </a:p>
          <a:p>
            <a:endParaRPr lang="en-US" sz="1600" dirty="0">
              <a:latin typeface="Times New Roman" panose="02020603050405020304" pitchFamily="18" charset="0"/>
              <a:cs typeface="Times New Roman" panose="02020603050405020304" pitchFamily="18" charset="0"/>
            </a:endParaRPr>
          </a:p>
          <a:p>
            <a:r>
              <a:rPr lang="en-IN" dirty="0">
                <a:latin typeface="Times New Roman" panose="02020603050405020304" pitchFamily="18" charset="0"/>
                <a:cs typeface="Times New Roman" panose="02020603050405020304" pitchFamily="18" charset="0"/>
              </a:rPr>
              <a:t>5)</a:t>
            </a:r>
            <a:r>
              <a:rPr lang="en-IN" dirty="0"/>
              <a:t> </a:t>
            </a:r>
            <a:r>
              <a:rPr lang="en-IN" b="1" i="1" dirty="0">
                <a:latin typeface="Times New Roman" panose="02020603050405020304" pitchFamily="18" charset="0"/>
                <a:cs typeface="Times New Roman" panose="02020603050405020304" pitchFamily="18" charset="0"/>
              </a:rPr>
              <a:t>Integration &amp; Deployment :</a:t>
            </a:r>
          </a:p>
          <a:p>
            <a:pPr lvl="1">
              <a:buFont typeface="Arial" panose="020B0604020202020204" pitchFamily="34" charset="0"/>
              <a:buChar char="•"/>
            </a:pPr>
            <a:r>
              <a:rPr lang="en-IN" b="1" dirty="0">
                <a:latin typeface="Times New Roman" panose="02020603050405020304" pitchFamily="18" charset="0"/>
                <a:cs typeface="Times New Roman" panose="02020603050405020304" pitchFamily="18" charset="0"/>
              </a:rPr>
              <a:t> </a:t>
            </a:r>
            <a:r>
              <a:rPr lang="en-US" sz="1600" dirty="0">
                <a:latin typeface="Times New Roman" panose="02020603050405020304" pitchFamily="18" charset="0"/>
                <a:cs typeface="Times New Roman" panose="02020603050405020304" pitchFamily="18" charset="0"/>
              </a:rPr>
              <a:t>The AI model should be deployable using Docker &amp; Kubernetes for scalability.</a:t>
            </a:r>
          </a:p>
          <a:p>
            <a:pPr lvl="1">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The system should support distributed scheduling with Redis, RabbitMQ, or Kafka.</a:t>
            </a:r>
          </a:p>
          <a:p>
            <a:endParaRPr lang="en-IN"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66899783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9817871-7229-ED20-7622-A29E6E0A26F9}"/>
              </a:ext>
            </a:extLst>
          </p:cNvPr>
          <p:cNvSpPr>
            <a:spLocks noChangeArrowheads="1"/>
          </p:cNvSpPr>
          <p:nvPr/>
        </p:nvSpPr>
        <p:spPr bwMode="auto">
          <a:xfrm>
            <a:off x="3048000" y="1581155"/>
            <a:ext cx="7620000" cy="36513"/>
          </a:xfrm>
          <a:prstGeom prst="rect">
            <a:avLst/>
          </a:prstGeom>
          <a:solidFill>
            <a:srgbClr val="33CCCC"/>
          </a:solidFill>
          <a:ln w="9525">
            <a:noFill/>
            <a:miter lim="800000"/>
            <a:headEnd/>
            <a:tailEnd/>
          </a:ln>
        </p:spPr>
        <p:txBody>
          <a:bodyPr wrap="none" anchor="ctr"/>
          <a:lstStyle/>
          <a:p>
            <a:endParaRPr lang="en-US"/>
          </a:p>
        </p:txBody>
      </p:sp>
      <p:sp>
        <p:nvSpPr>
          <p:cNvPr id="4" name="TextBox 3">
            <a:extLst>
              <a:ext uri="{FF2B5EF4-FFF2-40B4-BE49-F238E27FC236}">
                <a16:creationId xmlns:a16="http://schemas.microsoft.com/office/drawing/2014/main" id="{1CAE89A5-1E4A-D71B-F511-D90E0B8E7EED}"/>
              </a:ext>
            </a:extLst>
          </p:cNvPr>
          <p:cNvSpPr txBox="1"/>
          <p:nvPr/>
        </p:nvSpPr>
        <p:spPr>
          <a:xfrm>
            <a:off x="4570616" y="1154091"/>
            <a:ext cx="6097384" cy="461665"/>
          </a:xfrm>
          <a:prstGeom prst="rect">
            <a:avLst/>
          </a:prstGeom>
          <a:noFill/>
        </p:spPr>
        <p:txBody>
          <a:bodyPr wrap="square">
            <a:spAutoFit/>
          </a:bodyPr>
          <a:lstStyle/>
          <a:p>
            <a:pPr marL="342891" indent="-342891" algn="r" eaLnBrk="0" hangingPunct="0">
              <a:defRPr/>
            </a:pPr>
            <a:r>
              <a:rPr lang="en-US" sz="2400" b="1" i="1" dirty="0">
                <a:solidFill>
                  <a:srgbClr val="FF0000"/>
                </a:solidFill>
                <a:latin typeface="Times New Roman" panose="02020603050405020304" pitchFamily="18" charset="0"/>
                <a:cs typeface="Times New Roman" panose="02020603050405020304" pitchFamily="18" charset="0"/>
              </a:rPr>
              <a:t>Requirements Specification</a:t>
            </a:r>
          </a:p>
        </p:txBody>
      </p:sp>
      <p:sp>
        <p:nvSpPr>
          <p:cNvPr id="6" name="TextBox 5">
            <a:extLst>
              <a:ext uri="{FF2B5EF4-FFF2-40B4-BE49-F238E27FC236}">
                <a16:creationId xmlns:a16="http://schemas.microsoft.com/office/drawing/2014/main" id="{1116DF96-5362-58C1-82BF-0494F4B50C7F}"/>
              </a:ext>
            </a:extLst>
          </p:cNvPr>
          <p:cNvSpPr txBox="1"/>
          <p:nvPr/>
        </p:nvSpPr>
        <p:spPr>
          <a:xfrm>
            <a:off x="407368" y="1772816"/>
            <a:ext cx="6097384" cy="5416868"/>
          </a:xfrm>
          <a:prstGeom prst="rect">
            <a:avLst/>
          </a:prstGeom>
          <a:noFill/>
        </p:spPr>
        <p:txBody>
          <a:bodyPr wrap="square">
            <a:spAutoFit/>
          </a:bodyPr>
          <a:lstStyle/>
          <a:p>
            <a:r>
              <a:rPr lang="en-IN" sz="2000" b="1" dirty="0">
                <a:latin typeface="Times New Roman" panose="02020603050405020304" pitchFamily="18" charset="0"/>
                <a:cs typeface="Times New Roman" panose="02020603050405020304" pitchFamily="18" charset="0"/>
              </a:rPr>
              <a:t>Non-Functional Requirements</a:t>
            </a:r>
          </a:p>
          <a:p>
            <a:endParaRPr lang="en-IN" sz="2000" b="1" dirty="0">
              <a:latin typeface="Times New Roman" panose="02020603050405020304" pitchFamily="18" charset="0"/>
              <a:cs typeface="Times New Roman" panose="02020603050405020304" pitchFamily="18" charset="0"/>
            </a:endParaRPr>
          </a:p>
          <a:p>
            <a:r>
              <a:rPr lang="en-IN" dirty="0">
                <a:latin typeface="Times New Roman" panose="02020603050405020304" pitchFamily="18" charset="0"/>
                <a:cs typeface="Times New Roman" panose="02020603050405020304" pitchFamily="18" charset="0"/>
              </a:rPr>
              <a:t>1)</a:t>
            </a:r>
            <a:r>
              <a:rPr lang="en-US" dirty="0">
                <a:latin typeface="Times New Roman" panose="02020603050405020304" pitchFamily="18" charset="0"/>
                <a:cs typeface="Times New Roman" panose="02020603050405020304" pitchFamily="18" charset="0"/>
              </a:rPr>
              <a:t> </a:t>
            </a:r>
            <a:r>
              <a:rPr lang="en-US" b="1" i="1" dirty="0">
                <a:latin typeface="Times New Roman" panose="02020603050405020304" pitchFamily="18" charset="0"/>
                <a:cs typeface="Times New Roman" panose="02020603050405020304" pitchFamily="18" charset="0"/>
              </a:rPr>
              <a:t>Performance &amp; Efficiency :</a:t>
            </a:r>
          </a:p>
          <a:p>
            <a:pPr lvl="1">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The system should reduce CPU starvation and scheduling latency.</a:t>
            </a:r>
          </a:p>
          <a:p>
            <a:pPr lvl="1">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It must improve CPU utilization by dynamically adjusting task priorities.</a:t>
            </a:r>
          </a:p>
          <a:p>
            <a:endParaRPr lang="en-IN" sz="2000" b="1" dirty="0">
              <a:latin typeface="Times New Roman" panose="02020603050405020304" pitchFamily="18" charset="0"/>
              <a:cs typeface="Times New Roman" panose="02020603050405020304" pitchFamily="18" charset="0"/>
            </a:endParaRPr>
          </a:p>
          <a:p>
            <a:r>
              <a:rPr lang="en-IN" dirty="0">
                <a:latin typeface="Times New Roman" panose="02020603050405020304" pitchFamily="18" charset="0"/>
                <a:cs typeface="Times New Roman" panose="02020603050405020304" pitchFamily="18" charset="0"/>
              </a:rPr>
              <a:t>2) </a:t>
            </a:r>
            <a:r>
              <a:rPr lang="en-IN" b="1" i="1" dirty="0">
                <a:latin typeface="Times New Roman" panose="02020603050405020304" pitchFamily="18" charset="0"/>
                <a:cs typeface="Times New Roman" panose="02020603050405020304" pitchFamily="18" charset="0"/>
              </a:rPr>
              <a:t>Scalability &amp; Flexibility :</a:t>
            </a:r>
          </a:p>
          <a:p>
            <a:pPr lvl="1" eaLnBrk="0" hangingPunct="0">
              <a:buFontTx/>
              <a:buChar char="•"/>
            </a:pPr>
            <a:r>
              <a:rPr kumimoji="0" lang="en-US" altLang="en-US" sz="16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Should handle large-scale task scheduling across multiple cores.</a:t>
            </a:r>
          </a:p>
          <a:p>
            <a:pPr lvl="1" eaLnBrk="0" hangingPunct="0">
              <a:buFontTx/>
              <a:buChar char="•"/>
            </a:pPr>
            <a:r>
              <a:rPr kumimoji="0" lang="en-US" altLang="en-US" sz="16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 system should support containerized deployment via Docker &amp; Kubernetes. </a:t>
            </a:r>
            <a:endParaRPr lang="en-IN" sz="1600" i="1" dirty="0">
              <a:latin typeface="Times New Roman" panose="02020603050405020304" pitchFamily="18" charset="0"/>
              <a:cs typeface="Times New Roman" panose="02020603050405020304" pitchFamily="18" charset="0"/>
            </a:endParaRPr>
          </a:p>
          <a:p>
            <a:endParaRPr lang="en-IN" b="1" i="1" dirty="0">
              <a:latin typeface="Times New Roman" panose="02020603050405020304" pitchFamily="18" charset="0"/>
              <a:cs typeface="Times New Roman" panose="02020603050405020304" pitchFamily="18" charset="0"/>
            </a:endParaRPr>
          </a:p>
          <a:p>
            <a:r>
              <a:rPr lang="en-IN" dirty="0">
                <a:latin typeface="Times New Roman" panose="02020603050405020304" pitchFamily="18" charset="0"/>
                <a:cs typeface="Times New Roman" panose="02020603050405020304" pitchFamily="18" charset="0"/>
              </a:rPr>
              <a:t>3) </a:t>
            </a:r>
            <a:r>
              <a:rPr lang="en-US" b="1" i="1" dirty="0">
                <a:latin typeface="Times New Roman" panose="02020603050405020304" pitchFamily="18" charset="0"/>
                <a:cs typeface="Times New Roman" panose="02020603050405020304" pitchFamily="18" charset="0"/>
              </a:rPr>
              <a:t>Reliability &amp; Fault Tolerance :</a:t>
            </a:r>
          </a:p>
          <a:p>
            <a:pPr lvl="1">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AI-based scheduling should handle unexpected workload variations.</a:t>
            </a:r>
          </a:p>
          <a:p>
            <a:pPr lvl="1">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The system must ensure graceful failure recovery in case of AI model failure.</a:t>
            </a:r>
          </a:p>
          <a:p>
            <a:r>
              <a:rPr lang="en-IN" dirty="0">
                <a:latin typeface="Times New Roman" panose="02020603050405020304" pitchFamily="18" charset="0"/>
                <a:cs typeface="Times New Roman" panose="02020603050405020304" pitchFamily="18" charset="0"/>
              </a:rPr>
              <a:t>      </a:t>
            </a:r>
          </a:p>
          <a:p>
            <a:endParaRPr lang="en-IN" b="1" i="1" dirty="0">
              <a:latin typeface="Times New Roman" panose="02020603050405020304" pitchFamily="18" charset="0"/>
              <a:cs typeface="Times New Roman" panose="02020603050405020304" pitchFamily="18" charset="0"/>
            </a:endParaRPr>
          </a:p>
          <a:p>
            <a:endParaRPr lang="en-IN" dirty="0"/>
          </a:p>
        </p:txBody>
      </p:sp>
      <p:sp>
        <p:nvSpPr>
          <p:cNvPr id="9" name="TextBox 8">
            <a:extLst>
              <a:ext uri="{FF2B5EF4-FFF2-40B4-BE49-F238E27FC236}">
                <a16:creationId xmlns:a16="http://schemas.microsoft.com/office/drawing/2014/main" id="{9C28EFCF-537C-4D4F-AFFF-543979BC520C}"/>
              </a:ext>
            </a:extLst>
          </p:cNvPr>
          <p:cNvSpPr txBox="1"/>
          <p:nvPr/>
        </p:nvSpPr>
        <p:spPr>
          <a:xfrm>
            <a:off x="6600056" y="2348880"/>
            <a:ext cx="5328592" cy="3139321"/>
          </a:xfrm>
          <a:prstGeom prst="rect">
            <a:avLst/>
          </a:prstGeom>
          <a:noFill/>
        </p:spPr>
        <p:txBody>
          <a:bodyPr wrap="square">
            <a:spAutoFit/>
          </a:bodyPr>
          <a:lstStyle/>
          <a:p>
            <a:r>
              <a:rPr lang="en-IN" dirty="0">
                <a:latin typeface="Times New Roman" panose="02020603050405020304" pitchFamily="18" charset="0"/>
                <a:cs typeface="Times New Roman" panose="02020603050405020304" pitchFamily="18" charset="0"/>
              </a:rPr>
              <a:t>4) </a:t>
            </a:r>
            <a:r>
              <a:rPr lang="en-IN" b="1" i="1" dirty="0">
                <a:latin typeface="Times New Roman" panose="02020603050405020304" pitchFamily="18" charset="0"/>
                <a:cs typeface="Times New Roman" panose="02020603050405020304" pitchFamily="18" charset="0"/>
              </a:rPr>
              <a:t>Security &amp; Access Control :</a:t>
            </a:r>
          </a:p>
          <a:p>
            <a:pPr lvl="1" eaLnBrk="0" hangingPunct="0">
              <a:buFontTx/>
              <a:buChar char="•"/>
            </a:pPr>
            <a:r>
              <a:rPr kumimoji="0" lang="en-US" altLang="en-US" sz="16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Only privileged processes should modify scheduling parameters.</a:t>
            </a:r>
          </a:p>
          <a:p>
            <a:pPr lvl="1" eaLnBrk="0" hangingPunct="0">
              <a:buFontTx/>
              <a:buChar char="•"/>
            </a:pPr>
            <a:r>
              <a:rPr kumimoji="0" lang="en-US" altLang="en-US" sz="16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Secure communication between AI and Kernel to prevent unauthorized access. </a:t>
            </a:r>
          </a:p>
          <a:p>
            <a:endParaRPr lang="en-IN" sz="1600" i="1" dirty="0">
              <a:latin typeface="Times New Roman" panose="02020603050405020304" pitchFamily="18" charset="0"/>
              <a:cs typeface="Times New Roman" panose="02020603050405020304" pitchFamily="18" charset="0"/>
            </a:endParaRPr>
          </a:p>
          <a:p>
            <a:r>
              <a:rPr lang="en-IN" dirty="0">
                <a:latin typeface="Times New Roman" panose="02020603050405020304" pitchFamily="18" charset="0"/>
                <a:cs typeface="Times New Roman" panose="02020603050405020304" pitchFamily="18" charset="0"/>
              </a:rPr>
              <a:t>5) </a:t>
            </a:r>
            <a:r>
              <a:rPr lang="en-IN" b="1" i="1" dirty="0">
                <a:latin typeface="Times New Roman" panose="02020603050405020304" pitchFamily="18" charset="0"/>
                <a:cs typeface="Times New Roman" panose="02020603050405020304" pitchFamily="18" charset="0"/>
              </a:rPr>
              <a:t>Observability &amp; Debugging :</a:t>
            </a:r>
          </a:p>
          <a:p>
            <a:pPr lvl="1">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Performance metrics should be monitored via Prometheus &amp; Grafana.</a:t>
            </a:r>
          </a:p>
          <a:p>
            <a:pPr lvl="1">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Logs should be stored for debugging and model evaluation.</a:t>
            </a:r>
          </a:p>
          <a:p>
            <a:endParaRPr lang="en-IN" b="1" i="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37281998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268B72-B3CF-82DE-72EF-F7D9FCA44356}"/>
            </a:ext>
          </a:extLst>
        </p:cNvPr>
        <p:cNvGrpSpPr/>
        <p:nvPr/>
      </p:nvGrpSpPr>
      <p:grpSpPr>
        <a:xfrm>
          <a:off x="0" y="0"/>
          <a:ext cx="0" cy="0"/>
          <a:chOff x="0" y="0"/>
          <a:chExt cx="0" cy="0"/>
        </a:xfrm>
      </p:grpSpPr>
      <p:sp>
        <p:nvSpPr>
          <p:cNvPr id="5" name="Rectangle 4">
            <a:extLst>
              <a:ext uri="{FF2B5EF4-FFF2-40B4-BE49-F238E27FC236}">
                <a16:creationId xmlns:a16="http://schemas.microsoft.com/office/drawing/2014/main" id="{F5179E5D-7040-949E-77DD-7926503EDABC}"/>
              </a:ext>
            </a:extLst>
          </p:cNvPr>
          <p:cNvSpPr>
            <a:spLocks noChangeArrowheads="1"/>
          </p:cNvSpPr>
          <p:nvPr/>
        </p:nvSpPr>
        <p:spPr bwMode="auto">
          <a:xfrm>
            <a:off x="3048000" y="1581155"/>
            <a:ext cx="7620000" cy="36513"/>
          </a:xfrm>
          <a:prstGeom prst="rect">
            <a:avLst/>
          </a:prstGeom>
          <a:solidFill>
            <a:srgbClr val="33CCCC"/>
          </a:solidFill>
          <a:ln w="9525">
            <a:noFill/>
            <a:miter lim="800000"/>
            <a:headEnd/>
            <a:tailEnd/>
          </a:ln>
        </p:spPr>
        <p:txBody>
          <a:bodyPr wrap="none" anchor="ctr"/>
          <a:lstStyle/>
          <a:p>
            <a:endParaRPr lang="en-US"/>
          </a:p>
        </p:txBody>
      </p:sp>
      <p:sp>
        <p:nvSpPr>
          <p:cNvPr id="14" name="Text Box 34">
            <a:extLst>
              <a:ext uri="{FF2B5EF4-FFF2-40B4-BE49-F238E27FC236}">
                <a16:creationId xmlns:a16="http://schemas.microsoft.com/office/drawing/2014/main" id="{C85EA2BB-FBFC-1134-A12C-A857E4F54E55}"/>
              </a:ext>
            </a:extLst>
          </p:cNvPr>
          <p:cNvSpPr txBox="1">
            <a:spLocks noChangeArrowheads="1"/>
          </p:cNvSpPr>
          <p:nvPr/>
        </p:nvSpPr>
        <p:spPr bwMode="auto">
          <a:xfrm>
            <a:off x="4191000" y="1143002"/>
            <a:ext cx="6477000" cy="461665"/>
          </a:xfrm>
          <a:prstGeom prst="rect">
            <a:avLst/>
          </a:prstGeom>
          <a:noFill/>
          <a:ln w="9525">
            <a:noFill/>
            <a:miter lim="800000"/>
            <a:headEnd/>
            <a:tailEnd/>
          </a:ln>
        </p:spPr>
        <p:txBody>
          <a:bodyPr wrap="square">
            <a:spAutoFit/>
          </a:bodyPr>
          <a:lstStyle/>
          <a:p>
            <a:pPr marL="342891" indent="-342891" algn="r" eaLnBrk="0" hangingPunct="0">
              <a:defRPr/>
            </a:pPr>
            <a:r>
              <a:rPr lang="en-US" sz="2400" b="1" i="1" dirty="0">
                <a:solidFill>
                  <a:srgbClr val="FF0000"/>
                </a:solidFill>
                <a:latin typeface="Times New Roman" panose="02020603050405020304" pitchFamily="18" charset="0"/>
                <a:cs typeface="Times New Roman" panose="02020603050405020304" pitchFamily="18" charset="0"/>
              </a:rPr>
              <a:t>Requirements Specification</a:t>
            </a:r>
          </a:p>
        </p:txBody>
      </p:sp>
      <p:grpSp>
        <p:nvGrpSpPr>
          <p:cNvPr id="4" name="Group 3">
            <a:extLst>
              <a:ext uri="{FF2B5EF4-FFF2-40B4-BE49-F238E27FC236}">
                <a16:creationId xmlns:a16="http://schemas.microsoft.com/office/drawing/2014/main" id="{FDCA4998-11A5-1A80-D403-4682C0310E44}"/>
              </a:ext>
            </a:extLst>
          </p:cNvPr>
          <p:cNvGrpSpPr/>
          <p:nvPr/>
        </p:nvGrpSpPr>
        <p:grpSpPr>
          <a:xfrm>
            <a:off x="3287688" y="2055821"/>
            <a:ext cx="7904719" cy="3686476"/>
            <a:chOff x="1383297" y="2096500"/>
            <a:chExt cx="7904719" cy="3686476"/>
          </a:xfrm>
        </p:grpSpPr>
        <p:sp>
          <p:nvSpPr>
            <p:cNvPr id="2" name="Rectangle 1">
              <a:extLst>
                <a:ext uri="{FF2B5EF4-FFF2-40B4-BE49-F238E27FC236}">
                  <a16:creationId xmlns:a16="http://schemas.microsoft.com/office/drawing/2014/main" id="{62118698-E42B-AED8-D73C-FA30120E909B}"/>
                </a:ext>
              </a:extLst>
            </p:cNvPr>
            <p:cNvSpPr>
              <a:spLocks noChangeArrowheads="1"/>
            </p:cNvSpPr>
            <p:nvPr/>
          </p:nvSpPr>
          <p:spPr bwMode="auto">
            <a:xfrm>
              <a:off x="1383297" y="2096500"/>
              <a:ext cx="5216759" cy="31700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defTabSz="914400" rtl="0" eaLnBrk="0" fontAlgn="base" latinLnBrk="0" hangingPunct="0">
                <a:lnSpc>
                  <a:spcPct val="100000"/>
                </a:lnSpc>
                <a:spcBef>
                  <a:spcPct val="0"/>
                </a:spcBef>
                <a:spcAft>
                  <a:spcPct val="0"/>
                </a:spcAft>
                <a:buClrTx/>
                <a:buSzTx/>
                <a:buFontTx/>
                <a:buNone/>
                <a:tabLs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Technologies for AI Task Scheduling</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AutoNum type="arabicPeriod"/>
                <a:tabLst/>
              </a:pPr>
              <a:r>
                <a:rPr kumimoji="0" lang="en-US" altLang="en-US" sz="20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Python </a:t>
              </a:r>
            </a:p>
            <a:p>
              <a:pPr marL="0" marR="0" lvl="0" indent="0" algn="l" defTabSz="914400" rtl="0" eaLnBrk="0" fontAlgn="base" latinLnBrk="0" hangingPunct="0">
                <a:lnSpc>
                  <a:spcPct val="100000"/>
                </a:lnSpc>
                <a:spcBef>
                  <a:spcPct val="0"/>
                </a:spcBef>
                <a:spcAft>
                  <a:spcPct val="0"/>
                </a:spcAft>
                <a:buClrTx/>
                <a:buSzTx/>
                <a:buFontTx/>
                <a:buAutoNum type="arabicPeriod" startAt="2"/>
                <a:tabLst/>
              </a:pPr>
              <a:r>
                <a:rPr kumimoji="0" lang="en-US" altLang="en-US" sz="20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 </a:t>
              </a:r>
            </a:p>
            <a:p>
              <a:pPr marL="0" marR="0" lvl="0" indent="0" algn="l" defTabSz="914400" rtl="0" eaLnBrk="0" fontAlgn="base" latinLnBrk="0" hangingPunct="0">
                <a:lnSpc>
                  <a:spcPct val="100000"/>
                </a:lnSpc>
                <a:spcBef>
                  <a:spcPct val="0"/>
                </a:spcBef>
                <a:spcAft>
                  <a:spcPct val="0"/>
                </a:spcAft>
                <a:buClrTx/>
                <a:buSzTx/>
                <a:buFontTx/>
                <a:buAutoNum type="arabicPeriod" startAt="3"/>
                <a:tabLst/>
              </a:pPr>
              <a:r>
                <a:rPr kumimoji="0" lang="en-US" altLang="en-US" sz="20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Scikit-Learn (</a:t>
              </a:r>
              <a:r>
                <a:rPr kumimoji="0" lang="en-US" altLang="en-US" sz="200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sklearn</a:t>
              </a:r>
              <a:r>
                <a:rPr kumimoji="0" lang="en-US" altLang="en-US" sz="20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p>
            <a:p>
              <a:pPr marL="0" marR="0" lvl="0" indent="0" algn="l" defTabSz="914400" rtl="0" eaLnBrk="0" fontAlgn="base" latinLnBrk="0" hangingPunct="0">
                <a:lnSpc>
                  <a:spcPct val="100000"/>
                </a:lnSpc>
                <a:spcBef>
                  <a:spcPct val="0"/>
                </a:spcBef>
                <a:spcAft>
                  <a:spcPct val="0"/>
                </a:spcAft>
                <a:buClrTx/>
                <a:buSzTx/>
                <a:buFontTx/>
                <a:buAutoNum type="arabicPeriod" startAt="4"/>
                <a:tabLst/>
              </a:pPr>
              <a:r>
                <a:rPr kumimoji="0" lang="en-US" altLang="en-US" sz="20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Linux Kernel </a:t>
              </a:r>
            </a:p>
            <a:p>
              <a:pPr marL="0" marR="0" lvl="0" indent="0" algn="l" defTabSz="914400" rtl="0" eaLnBrk="0" fontAlgn="base" latinLnBrk="0" hangingPunct="0">
                <a:lnSpc>
                  <a:spcPct val="100000"/>
                </a:lnSpc>
                <a:spcBef>
                  <a:spcPct val="0"/>
                </a:spcBef>
                <a:spcAft>
                  <a:spcPct val="0"/>
                </a:spcAft>
                <a:buClrTx/>
                <a:buSzTx/>
                <a:buFontTx/>
                <a:buAutoNum type="arabicPeriod" startAt="5"/>
                <a:tabLst/>
              </a:pPr>
              <a:r>
                <a:rPr kumimoji="0" lang="en-US" altLang="en-US" sz="20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Docker </a:t>
              </a:r>
            </a:p>
            <a:p>
              <a:pPr marL="0" marR="0" lvl="0" indent="0" algn="l" defTabSz="914400" rtl="0" eaLnBrk="0" fontAlgn="base" latinLnBrk="0" hangingPunct="0">
                <a:lnSpc>
                  <a:spcPct val="100000"/>
                </a:lnSpc>
                <a:spcBef>
                  <a:spcPct val="0"/>
                </a:spcBef>
                <a:spcAft>
                  <a:spcPct val="0"/>
                </a:spcAft>
                <a:buClrTx/>
                <a:buSzTx/>
                <a:buFontTx/>
                <a:buAutoNum type="arabicPeriod" startAt="6"/>
                <a:tabLst/>
              </a:pPr>
              <a:r>
                <a:rPr kumimoji="0" lang="en-US" altLang="en-US" sz="20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Redis/RabbitMQ </a:t>
              </a:r>
            </a:p>
            <a:p>
              <a:pPr marL="0" marR="0" lvl="0" indent="0" algn="l" defTabSz="914400" rtl="0" eaLnBrk="0" fontAlgn="base" latinLnBrk="0" hangingPunct="0">
                <a:lnSpc>
                  <a:spcPct val="100000"/>
                </a:lnSpc>
                <a:spcBef>
                  <a:spcPct val="0"/>
                </a:spcBef>
                <a:spcAft>
                  <a:spcPct val="0"/>
                </a:spcAft>
                <a:buClrTx/>
                <a:buSzTx/>
                <a:buFontTx/>
                <a:buAutoNum type="arabicPeriod" startAt="7"/>
                <a:tabLst/>
              </a:pPr>
              <a:r>
                <a:rPr kumimoji="0" lang="en-US" altLang="en-US" sz="20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TensorFlow </a:t>
              </a:r>
            </a:p>
            <a:p>
              <a:pPr marL="0" marR="0" lvl="0" indent="0" algn="l" defTabSz="914400" rtl="0" eaLnBrk="0" fontAlgn="base" latinLnBrk="0" hangingPunct="0">
                <a:lnSpc>
                  <a:spcPct val="100000"/>
                </a:lnSpc>
                <a:spcBef>
                  <a:spcPct val="0"/>
                </a:spcBef>
                <a:spcAft>
                  <a:spcPct val="0"/>
                </a:spcAft>
                <a:buClrTx/>
                <a:buSzTx/>
                <a:buFontTx/>
                <a:buAutoNum type="arabicPeriod" startAt="8"/>
                <a:tabLst/>
              </a:pPr>
              <a:r>
                <a:rPr kumimoji="0" lang="en-US" altLang="en-US" sz="200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PyTorch</a:t>
              </a:r>
              <a:r>
                <a:rPr kumimoji="0" lang="en-US" altLang="en-US" sz="20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p>
          </p:txBody>
        </p:sp>
        <p:sp>
          <p:nvSpPr>
            <p:cNvPr id="3" name="TextBox 2">
              <a:extLst>
                <a:ext uri="{FF2B5EF4-FFF2-40B4-BE49-F238E27FC236}">
                  <a16:creationId xmlns:a16="http://schemas.microsoft.com/office/drawing/2014/main" id="{A6256BFF-370E-5F20-3360-4C2940486084}"/>
                </a:ext>
              </a:extLst>
            </p:cNvPr>
            <p:cNvSpPr txBox="1"/>
            <p:nvPr/>
          </p:nvSpPr>
          <p:spPr>
            <a:xfrm>
              <a:off x="4427984" y="2612877"/>
              <a:ext cx="4860032" cy="3170099"/>
            </a:xfrm>
            <a:prstGeom prst="rect">
              <a:avLst/>
            </a:prstGeom>
            <a:noFill/>
          </p:spPr>
          <p:txBody>
            <a:bodyPr wrap="square" rtlCol="0">
              <a:spAutoFit/>
            </a:bodyPr>
            <a:lstStyle/>
            <a:p>
              <a:pPr marL="0" marR="0" lvl="0" indent="0" algn="l" defTabSz="914400" rtl="0" eaLnBrk="0" fontAlgn="base" latinLnBrk="0" hangingPunct="0">
                <a:lnSpc>
                  <a:spcPct val="100000"/>
                </a:lnSpc>
                <a:spcBef>
                  <a:spcPct val="0"/>
                </a:spcBef>
                <a:spcAft>
                  <a:spcPct val="0"/>
                </a:spcAft>
                <a:buClrTx/>
                <a:buSzTx/>
                <a:buFontTx/>
                <a:buAutoNum type="arabicPeriod" startAt="9"/>
                <a:tabLst/>
              </a:pPr>
              <a:r>
                <a:rPr kumimoji="0" lang="en-US" altLang="en-US" sz="20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Apache Kafka </a:t>
              </a:r>
            </a:p>
            <a:p>
              <a:pPr marL="0" marR="0" lvl="0" indent="0" algn="l" defTabSz="914400" rtl="0" eaLnBrk="0" fontAlgn="base" latinLnBrk="0" hangingPunct="0">
                <a:lnSpc>
                  <a:spcPct val="100000"/>
                </a:lnSpc>
                <a:spcBef>
                  <a:spcPct val="0"/>
                </a:spcBef>
                <a:spcAft>
                  <a:spcPct val="0"/>
                </a:spcAft>
                <a:buClrTx/>
                <a:buSzTx/>
                <a:buFontTx/>
                <a:buAutoNum type="arabicPeriod" startAt="10"/>
                <a:tabLst/>
              </a:pPr>
              <a:r>
                <a:rPr kumimoji="0" lang="en-US" altLang="en-US" sz="20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Kubernetes </a:t>
              </a:r>
            </a:p>
            <a:p>
              <a:pPr marL="0" marR="0" lvl="0" indent="0" algn="l" defTabSz="914400" rtl="0" eaLnBrk="0" fontAlgn="base" latinLnBrk="0" hangingPunct="0">
                <a:lnSpc>
                  <a:spcPct val="100000"/>
                </a:lnSpc>
                <a:spcBef>
                  <a:spcPct val="0"/>
                </a:spcBef>
                <a:spcAft>
                  <a:spcPct val="0"/>
                </a:spcAft>
                <a:buClrTx/>
                <a:buSzTx/>
                <a:buFontTx/>
                <a:buAutoNum type="arabicPeriod" startAt="11"/>
                <a:tabLst/>
              </a:pPr>
              <a:r>
                <a:rPr kumimoji="0" lang="en-US" altLang="en-US" sz="20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OpenMP </a:t>
              </a:r>
            </a:p>
            <a:p>
              <a:pPr marL="0" marR="0" lvl="0" indent="0" algn="l" defTabSz="914400" rtl="0" eaLnBrk="0" fontAlgn="base" latinLnBrk="0" hangingPunct="0">
                <a:lnSpc>
                  <a:spcPct val="100000"/>
                </a:lnSpc>
                <a:spcBef>
                  <a:spcPct val="0"/>
                </a:spcBef>
                <a:spcAft>
                  <a:spcPct val="0"/>
                </a:spcAft>
                <a:buClrTx/>
                <a:buSzTx/>
                <a:buFontTx/>
                <a:buAutoNum type="arabicPeriod" startAt="12"/>
                <a:tabLst/>
              </a:pPr>
              <a:r>
                <a:rPr kumimoji="0" lang="en-US" altLang="en-US" sz="20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MPI </a:t>
              </a:r>
            </a:p>
            <a:p>
              <a:pPr marL="0" marR="0" lvl="0" indent="0" algn="l" defTabSz="914400" rtl="0" eaLnBrk="0" fontAlgn="base" latinLnBrk="0" hangingPunct="0">
                <a:lnSpc>
                  <a:spcPct val="100000"/>
                </a:lnSpc>
                <a:spcBef>
                  <a:spcPct val="0"/>
                </a:spcBef>
                <a:spcAft>
                  <a:spcPct val="0"/>
                </a:spcAft>
                <a:buClrTx/>
                <a:buSzTx/>
                <a:buFontTx/>
                <a:buAutoNum type="arabicPeriod" startAt="13"/>
                <a:tabLst/>
              </a:pPr>
              <a:r>
                <a:rPr kumimoji="0" lang="en-US" altLang="en-US" sz="20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Celery </a:t>
              </a:r>
            </a:p>
            <a:p>
              <a:pPr marL="0" marR="0" lvl="0" indent="0" algn="l" defTabSz="914400" rtl="0" eaLnBrk="0" fontAlgn="base" latinLnBrk="0" hangingPunct="0">
                <a:lnSpc>
                  <a:spcPct val="100000"/>
                </a:lnSpc>
                <a:spcBef>
                  <a:spcPct val="0"/>
                </a:spcBef>
                <a:spcAft>
                  <a:spcPct val="0"/>
                </a:spcAft>
                <a:buClrTx/>
                <a:buSzTx/>
                <a:buFontTx/>
                <a:buAutoNum type="arabicPeriod" startAt="14"/>
                <a:tabLst/>
              </a:pPr>
              <a:r>
                <a:rPr kumimoji="0" lang="en-US" altLang="en-US" sz="20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Prometheus </a:t>
              </a:r>
            </a:p>
            <a:p>
              <a:pPr marL="0" marR="0" lvl="0" indent="0" algn="l" defTabSz="914400" rtl="0" eaLnBrk="0" fontAlgn="base" latinLnBrk="0" hangingPunct="0">
                <a:lnSpc>
                  <a:spcPct val="100000"/>
                </a:lnSpc>
                <a:spcBef>
                  <a:spcPct val="0"/>
                </a:spcBef>
                <a:spcAft>
                  <a:spcPct val="0"/>
                </a:spcAft>
                <a:buClrTx/>
                <a:buSzTx/>
                <a:buFontTx/>
                <a:buAutoNum type="arabicPeriod" startAt="15"/>
                <a:tabLst/>
              </a:pPr>
              <a:r>
                <a:rPr kumimoji="0" lang="en-US" altLang="en-US" sz="20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Grafana </a:t>
              </a:r>
            </a:p>
            <a:p>
              <a:pPr marL="0" marR="0" lvl="0" indent="0" algn="l" defTabSz="914400" rtl="0" eaLnBrk="0" fontAlgn="base" latinLnBrk="0" hangingPunct="0">
                <a:lnSpc>
                  <a:spcPct val="100000"/>
                </a:lnSpc>
                <a:spcBef>
                  <a:spcPct val="0"/>
                </a:spcBef>
                <a:spcAft>
                  <a:spcPct val="0"/>
                </a:spcAft>
                <a:buClrTx/>
                <a:buSzTx/>
                <a:buFontTx/>
                <a:buAutoNum type="arabicPeriod" startAt="16"/>
                <a:tabLst/>
              </a:pPr>
              <a:r>
                <a:rPr kumimoji="0" lang="en-US" altLang="en-US" sz="200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Dask</a:t>
              </a:r>
              <a:r>
                <a:rPr kumimoji="0" lang="en-US" altLang="en-US" sz="20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p>
            <a:p>
              <a:pPr marL="0" marR="0" lvl="0" indent="0" algn="l" defTabSz="914400" rtl="0" eaLnBrk="0" fontAlgn="base" latinLnBrk="0" hangingPunct="0">
                <a:lnSpc>
                  <a:spcPct val="100000"/>
                </a:lnSpc>
                <a:spcBef>
                  <a:spcPct val="0"/>
                </a:spcBef>
                <a:spcAft>
                  <a:spcPct val="0"/>
                </a:spcAft>
                <a:buClrTx/>
                <a:buSzTx/>
                <a:buFontTx/>
                <a:buAutoNum type="arabicPeriod" startAt="17"/>
                <a:tabLst/>
              </a:pPr>
              <a:r>
                <a:rPr kumimoji="0" lang="en-US" altLang="en-US" sz="20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Ray </a:t>
              </a:r>
            </a:p>
            <a:p>
              <a:endParaRPr lang="en-IN" sz="2000" dirty="0"/>
            </a:p>
          </p:txBody>
        </p:sp>
      </p:grpSp>
    </p:spTree>
    <p:extLst>
      <p:ext uri="{BB962C8B-B14F-4D97-AF65-F5344CB8AC3E}">
        <p14:creationId xmlns:p14="http://schemas.microsoft.com/office/powerpoint/2010/main" val="268183814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44"/>
        <p:cNvGrpSpPr/>
        <p:nvPr/>
      </p:nvGrpSpPr>
      <p:grpSpPr>
        <a:xfrm>
          <a:off x="0" y="0"/>
          <a:ext cx="0" cy="0"/>
          <a:chOff x="0" y="0"/>
          <a:chExt cx="0" cy="0"/>
        </a:xfrm>
      </p:grpSpPr>
      <p:sp>
        <p:nvSpPr>
          <p:cNvPr id="45" name="Google Shape;45;p6"/>
          <p:cNvSpPr/>
          <p:nvPr/>
        </p:nvSpPr>
        <p:spPr>
          <a:xfrm>
            <a:off x="3048000" y="1581150"/>
            <a:ext cx="7620000" cy="36600"/>
          </a:xfrm>
          <a:prstGeom prst="rect">
            <a:avLst/>
          </a:prstGeom>
          <a:solidFill>
            <a:srgbClr val="33CCCC"/>
          </a:solidFill>
          <a:ln>
            <a:noFill/>
          </a:ln>
        </p:spPr>
        <p:txBody>
          <a:bodyPr spcFirstLastPara="1" wrap="square" lIns="91425" tIns="45700" rIns="91425" bIns="45700" anchor="ctr" anchorCtr="0">
            <a:noAutofit/>
          </a:bodyPr>
          <a:lstStyle/>
          <a:p>
            <a:pPr>
              <a:spcBef>
                <a:spcPts val="0"/>
              </a:spcBef>
              <a:spcAft>
                <a:spcPts val="0"/>
              </a:spcAft>
              <a:buClr>
                <a:srgbClr val="000000"/>
              </a:buClr>
              <a:buSzPts val="1800"/>
            </a:pPr>
            <a:endParaRPr>
              <a:solidFill>
                <a:schemeClr val="dk1"/>
              </a:solidFill>
              <a:latin typeface="Arial"/>
              <a:ea typeface="Arial"/>
              <a:cs typeface="Arial"/>
              <a:sym typeface="Arial"/>
            </a:endParaRPr>
          </a:p>
        </p:txBody>
      </p:sp>
      <p:sp>
        <p:nvSpPr>
          <p:cNvPr id="46" name="Google Shape;46;p6"/>
          <p:cNvSpPr txBox="1"/>
          <p:nvPr/>
        </p:nvSpPr>
        <p:spPr>
          <a:xfrm>
            <a:off x="2895600" y="1143000"/>
            <a:ext cx="7772400" cy="461700"/>
          </a:xfrm>
          <a:prstGeom prst="rect">
            <a:avLst/>
          </a:prstGeom>
          <a:noFill/>
          <a:ln>
            <a:noFill/>
          </a:ln>
        </p:spPr>
        <p:txBody>
          <a:bodyPr spcFirstLastPara="1" wrap="square" lIns="91425" tIns="45700" rIns="91425" bIns="45700" anchor="t" anchorCtr="0">
            <a:noAutofit/>
          </a:bodyPr>
          <a:lstStyle/>
          <a:p>
            <a:pPr marL="342900" indent="-342900" algn="r">
              <a:spcBef>
                <a:spcPts val="0"/>
              </a:spcBef>
              <a:spcAft>
                <a:spcPts val="0"/>
              </a:spcAft>
              <a:buClr>
                <a:srgbClr val="000000"/>
              </a:buClr>
              <a:buSzPts val="2400"/>
            </a:pPr>
            <a:r>
              <a:rPr lang="en-US" sz="2400" b="1" i="1" dirty="0">
                <a:solidFill>
                  <a:srgbClr val="FF0000"/>
                </a:solidFill>
                <a:latin typeface="Times New Roman" panose="02020603050405020304" pitchFamily="18" charset="0"/>
                <a:ea typeface="Trebuchet MS"/>
                <a:cs typeface="Times New Roman" panose="02020603050405020304" pitchFamily="18" charset="0"/>
                <a:sym typeface="Trebuchet MS"/>
              </a:rPr>
              <a:t>Design Approach </a:t>
            </a:r>
            <a:endParaRPr sz="1400" b="1" i="1" dirty="0">
              <a:solidFill>
                <a:srgbClr val="000000"/>
              </a:solidFill>
              <a:latin typeface="Times New Roman" panose="02020603050405020304" pitchFamily="18" charset="0"/>
              <a:ea typeface="Arial"/>
              <a:cs typeface="Times New Roman" panose="02020603050405020304" pitchFamily="18" charset="0"/>
              <a:sym typeface="Arial"/>
            </a:endParaRPr>
          </a:p>
        </p:txBody>
      </p:sp>
      <p:sp>
        <p:nvSpPr>
          <p:cNvPr id="47" name="Google Shape;47;p6"/>
          <p:cNvSpPr txBox="1"/>
          <p:nvPr/>
        </p:nvSpPr>
        <p:spPr>
          <a:xfrm>
            <a:off x="1631504" y="2528801"/>
            <a:ext cx="9160400" cy="2777250"/>
          </a:xfrm>
          <a:prstGeom prst="rect">
            <a:avLst/>
          </a:prstGeom>
          <a:noFill/>
          <a:ln>
            <a:noFill/>
          </a:ln>
        </p:spPr>
        <p:txBody>
          <a:bodyPr spcFirstLastPara="1" wrap="square" lIns="91425" tIns="45700" rIns="91425" bIns="45700" anchor="ctr" anchorCtr="0">
            <a:noAutofit/>
          </a:bodyPr>
          <a:lstStyle/>
          <a:p>
            <a:pPr marL="342891" algn="just" eaLnBrk="0" hangingPunct="0">
              <a:spcBef>
                <a:spcPct val="20000"/>
              </a:spcBef>
              <a:defRPr/>
            </a:pPr>
            <a:endParaRPr lang="en-US" sz="2400" dirty="0">
              <a:solidFill>
                <a:srgbClr val="0033CC"/>
              </a:solidFill>
              <a:latin typeface="Trebuchet MS"/>
              <a:ea typeface="Trebuchet MS"/>
              <a:cs typeface="Trebuchet MS"/>
              <a:sym typeface="Trebuchet MS"/>
            </a:endParaRPr>
          </a:p>
        </p:txBody>
      </p:sp>
      <p:sp>
        <p:nvSpPr>
          <p:cNvPr id="3" name="TextBox 2">
            <a:extLst>
              <a:ext uri="{FF2B5EF4-FFF2-40B4-BE49-F238E27FC236}">
                <a16:creationId xmlns:a16="http://schemas.microsoft.com/office/drawing/2014/main" id="{CF4A01B2-F0EC-3BE1-B509-7B442A126CA1}"/>
              </a:ext>
            </a:extLst>
          </p:cNvPr>
          <p:cNvSpPr txBox="1"/>
          <p:nvPr/>
        </p:nvSpPr>
        <p:spPr>
          <a:xfrm>
            <a:off x="1127448" y="1835615"/>
            <a:ext cx="9865096" cy="4585871"/>
          </a:xfrm>
          <a:prstGeom prst="rect">
            <a:avLst/>
          </a:prstGeom>
          <a:noFill/>
        </p:spPr>
        <p:txBody>
          <a:bodyPr wrap="square">
            <a:spAutoFit/>
          </a:bodyPr>
          <a:lstStyle/>
          <a:p>
            <a:r>
              <a:rPr lang="en-US" sz="2000" b="1" dirty="0">
                <a:latin typeface="Times New Roman" panose="02020603050405020304" pitchFamily="18" charset="0"/>
                <a:cs typeface="Times New Roman" panose="02020603050405020304" pitchFamily="18" charset="0"/>
              </a:rPr>
              <a:t>What is the design approach followed? And Why?</a:t>
            </a:r>
          </a:p>
          <a:p>
            <a:endParaRPr lang="en-US" sz="2000" dirty="0"/>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 design approach for AVIOS follows an AI-powered dynamic scheduling system, where:</a:t>
            </a:r>
            <a:br>
              <a:rPr kumimoji="0" lang="en-US" altLang="en-US"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r>
              <a:rPr kumimoji="0" lang="en-US" altLang="en-US"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1)  An AI model in user space predicts the optimal time slice (STS) for tasks.</a:t>
            </a:r>
            <a:br>
              <a:rPr kumimoji="0" lang="en-US" altLang="en-US"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r>
              <a:rPr kumimoji="0" lang="en-US" altLang="en-US"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lang="en-US" altLang="en-US" dirty="0">
                <a:latin typeface="Times New Roman" panose="02020603050405020304" pitchFamily="18" charset="0"/>
                <a:cs typeface="Times New Roman" panose="02020603050405020304" pitchFamily="18" charset="0"/>
              </a:rPr>
              <a:t>2)  The L</a:t>
            </a:r>
            <a:r>
              <a:rPr kumimoji="0" lang="en-US" altLang="en-US"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inux kernel scheduler modifies CPU allocation based on these predictions via system calls.</a:t>
            </a:r>
            <a:br>
              <a:rPr kumimoji="0" lang="en-US" altLang="en-US"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r>
              <a:rPr kumimoji="0" lang="en-US" altLang="en-US"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3)  The system dynamically adapts to process behavior, optimizing resource allocation in real-time.</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Why this approach?</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742950" lvl="1" indent="-285750" eaLnBrk="0" hangingPunct="0">
              <a:buFont typeface="Arial" panose="020B0604020202020204" pitchFamily="34" charset="0"/>
              <a:buChar char="•"/>
            </a:pPr>
            <a:r>
              <a:rPr kumimoji="0" lang="en-US" altLang="en-US" b="1" i="1"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Adaptability</a:t>
            </a:r>
            <a:r>
              <a:rPr kumimoji="0" lang="en-US" altLang="en-US"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Unlike traditional schedulers, AI can learn and adjust to different workloads dynamically.</a:t>
            </a:r>
          </a:p>
          <a:p>
            <a:pPr marL="742950" lvl="1" indent="-285750" eaLnBrk="0" hangingPunct="0">
              <a:buFont typeface="Arial" panose="020B0604020202020204" pitchFamily="34" charset="0"/>
              <a:buChar char="•"/>
            </a:pPr>
            <a:r>
              <a:rPr kumimoji="0" lang="en-US" altLang="en-US" b="1" i="1"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Performance Optimization</a:t>
            </a:r>
            <a:r>
              <a:rPr kumimoji="0" lang="en-US" altLang="en-US"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Reduces CPU starvation and ensures efficient utilization.</a:t>
            </a:r>
            <a:endParaRPr lang="en-US" altLang="en-US" dirty="0">
              <a:latin typeface="Times New Roman" panose="02020603050405020304" pitchFamily="18" charset="0"/>
              <a:cs typeface="Times New Roman" panose="02020603050405020304" pitchFamily="18" charset="0"/>
            </a:endParaRPr>
          </a:p>
          <a:p>
            <a:pPr marL="742950" lvl="1" indent="-285750" eaLnBrk="0" hangingPunct="0">
              <a:buFont typeface="Arial" panose="020B0604020202020204" pitchFamily="34" charset="0"/>
              <a:buChar char="•"/>
            </a:pPr>
            <a:r>
              <a:rPr kumimoji="0" lang="en-US" altLang="en-US" b="1" i="1"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Energy Efficiency</a:t>
            </a:r>
            <a:r>
              <a:rPr kumimoji="0" lang="en-US" altLang="en-US"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Prioritizes critical tasks while delaying non-essential ones to save power.</a:t>
            </a:r>
          </a:p>
          <a:p>
            <a:pPr marL="742950" lvl="1" indent="-285750" eaLnBrk="0" hangingPunct="0">
              <a:buFont typeface="Arial" panose="020B0604020202020204" pitchFamily="34" charset="0"/>
              <a:buChar char="•"/>
            </a:pPr>
            <a:r>
              <a:rPr kumimoji="0" lang="en-US" altLang="en-US" b="1" i="1"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Scalability</a:t>
            </a:r>
            <a:r>
              <a:rPr kumimoji="0" lang="en-US" altLang="en-US"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Can be extended to multi-core, cloud, and distributed environments.</a:t>
            </a:r>
          </a:p>
          <a:p>
            <a:endParaRPr lang="en-US" dirty="0">
              <a:latin typeface="Times New Roman" panose="02020603050405020304" pitchFamily="18" charset="0"/>
              <a:cs typeface="Times New Roman" panose="02020603050405020304" pitchFamily="18" charset="0"/>
            </a:endParaRPr>
          </a:p>
          <a:p>
            <a:endParaRPr lang="en-IN"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45;p6">
            <a:extLst>
              <a:ext uri="{FF2B5EF4-FFF2-40B4-BE49-F238E27FC236}">
                <a16:creationId xmlns:a16="http://schemas.microsoft.com/office/drawing/2014/main" id="{B7E53646-DF21-757C-9E3B-DC535015E1DC}"/>
              </a:ext>
            </a:extLst>
          </p:cNvPr>
          <p:cNvSpPr/>
          <p:nvPr/>
        </p:nvSpPr>
        <p:spPr>
          <a:xfrm>
            <a:off x="3048000" y="1581150"/>
            <a:ext cx="7620000" cy="36600"/>
          </a:xfrm>
          <a:prstGeom prst="rect">
            <a:avLst/>
          </a:prstGeom>
          <a:solidFill>
            <a:srgbClr val="33CCCC"/>
          </a:solidFill>
          <a:ln>
            <a:noFill/>
          </a:ln>
        </p:spPr>
        <p:txBody>
          <a:bodyPr spcFirstLastPara="1" wrap="square" lIns="91425" tIns="45700" rIns="91425" bIns="45700" anchor="ctr" anchorCtr="0">
            <a:noAutofit/>
          </a:bodyPr>
          <a:lstStyle/>
          <a:p>
            <a:pPr>
              <a:spcBef>
                <a:spcPts val="0"/>
              </a:spcBef>
              <a:spcAft>
                <a:spcPts val="0"/>
              </a:spcAft>
              <a:buClr>
                <a:srgbClr val="000000"/>
              </a:buClr>
              <a:buSzPts val="1800"/>
            </a:pPr>
            <a:endParaRPr>
              <a:solidFill>
                <a:schemeClr val="dk1"/>
              </a:solidFill>
              <a:latin typeface="Arial"/>
              <a:ea typeface="Arial"/>
              <a:cs typeface="Arial"/>
              <a:sym typeface="Arial"/>
            </a:endParaRPr>
          </a:p>
        </p:txBody>
      </p:sp>
      <p:sp>
        <p:nvSpPr>
          <p:cNvPr id="5" name="TextBox 4">
            <a:extLst>
              <a:ext uri="{FF2B5EF4-FFF2-40B4-BE49-F238E27FC236}">
                <a16:creationId xmlns:a16="http://schemas.microsoft.com/office/drawing/2014/main" id="{243914B7-2B61-54D8-923C-9AC1A77D8298}"/>
              </a:ext>
            </a:extLst>
          </p:cNvPr>
          <p:cNvSpPr txBox="1"/>
          <p:nvPr/>
        </p:nvSpPr>
        <p:spPr>
          <a:xfrm>
            <a:off x="4619328" y="1110571"/>
            <a:ext cx="6048672" cy="461665"/>
          </a:xfrm>
          <a:prstGeom prst="rect">
            <a:avLst/>
          </a:prstGeom>
          <a:noFill/>
        </p:spPr>
        <p:txBody>
          <a:bodyPr wrap="square">
            <a:spAutoFit/>
          </a:bodyPr>
          <a:lstStyle/>
          <a:p>
            <a:pPr marL="342900" indent="-342900" algn="r">
              <a:spcBef>
                <a:spcPts val="0"/>
              </a:spcBef>
              <a:spcAft>
                <a:spcPts val="0"/>
              </a:spcAft>
              <a:buClr>
                <a:srgbClr val="000000"/>
              </a:buClr>
              <a:buSzPts val="2400"/>
            </a:pPr>
            <a:r>
              <a:rPr lang="en-US" sz="2400" b="1" i="1" dirty="0">
                <a:solidFill>
                  <a:srgbClr val="FF0000"/>
                </a:solidFill>
                <a:latin typeface="Times New Roman" panose="02020603050405020304" pitchFamily="18" charset="0"/>
                <a:ea typeface="Trebuchet MS"/>
                <a:cs typeface="Times New Roman" panose="02020603050405020304" pitchFamily="18" charset="0"/>
                <a:sym typeface="Trebuchet MS"/>
              </a:rPr>
              <a:t>Design Approach </a:t>
            </a:r>
            <a:endParaRPr lang="en-US" sz="1400" b="1" i="1" dirty="0">
              <a:solidFill>
                <a:srgbClr val="000000"/>
              </a:solidFill>
              <a:latin typeface="Times New Roman" panose="02020603050405020304" pitchFamily="18" charset="0"/>
              <a:ea typeface="Arial"/>
              <a:cs typeface="Times New Roman" panose="02020603050405020304" pitchFamily="18" charset="0"/>
              <a:sym typeface="Arial"/>
            </a:endParaRPr>
          </a:p>
        </p:txBody>
      </p:sp>
      <p:sp>
        <p:nvSpPr>
          <p:cNvPr id="7" name="TextBox 6">
            <a:extLst>
              <a:ext uri="{FF2B5EF4-FFF2-40B4-BE49-F238E27FC236}">
                <a16:creationId xmlns:a16="http://schemas.microsoft.com/office/drawing/2014/main" id="{A0361E07-DECB-5301-0025-1E23B01C10AD}"/>
              </a:ext>
            </a:extLst>
          </p:cNvPr>
          <p:cNvSpPr txBox="1"/>
          <p:nvPr/>
        </p:nvSpPr>
        <p:spPr>
          <a:xfrm>
            <a:off x="1703512" y="1844824"/>
            <a:ext cx="8640960" cy="3970318"/>
          </a:xfrm>
          <a:prstGeom prst="rect">
            <a:avLst/>
          </a:prstGeom>
          <a:noFill/>
        </p:spPr>
        <p:txBody>
          <a:bodyPr wrap="square">
            <a:spAutoFit/>
          </a:bodyPr>
          <a:lstStyle/>
          <a:p>
            <a:r>
              <a:rPr lang="en-US" b="1" dirty="0">
                <a:latin typeface="Times New Roman" panose="02020603050405020304" pitchFamily="18" charset="0"/>
                <a:cs typeface="Times New Roman" panose="02020603050405020304" pitchFamily="18" charset="0"/>
              </a:rPr>
              <a:t>Benefits:</a:t>
            </a:r>
            <a:endParaRPr lang="en-US" dirty="0">
              <a:latin typeface="Times New Roman" panose="02020603050405020304" pitchFamily="18" charset="0"/>
              <a:cs typeface="Times New Roman" panose="02020603050405020304" pitchFamily="18" charset="0"/>
            </a:endParaRPr>
          </a:p>
          <a:p>
            <a:pPr lvl="1">
              <a:buFont typeface="Arial" panose="020B0604020202020204" pitchFamily="34" charset="0"/>
              <a:buChar char="•"/>
            </a:pPr>
            <a:r>
              <a:rPr lang="en-US" b="1" i="1" dirty="0">
                <a:latin typeface="Times New Roman" panose="02020603050405020304" pitchFamily="18" charset="0"/>
                <a:cs typeface="Times New Roman" panose="02020603050405020304" pitchFamily="18" charset="0"/>
              </a:rPr>
              <a:t>Real-time Optimization</a:t>
            </a:r>
            <a:r>
              <a:rPr lang="en-US" dirty="0">
                <a:latin typeface="Times New Roman" panose="02020603050405020304" pitchFamily="18" charset="0"/>
                <a:cs typeface="Times New Roman" panose="02020603050405020304" pitchFamily="18" charset="0"/>
              </a:rPr>
              <a:t>: AI-driven scheduling minimizes latency for critical tasks.</a:t>
            </a:r>
          </a:p>
          <a:p>
            <a:pPr lvl="1">
              <a:buFont typeface="Arial" panose="020B0604020202020204" pitchFamily="34" charset="0"/>
              <a:buChar char="•"/>
            </a:pPr>
            <a:r>
              <a:rPr lang="en-US" b="1" i="1" dirty="0">
                <a:latin typeface="Times New Roman" panose="02020603050405020304" pitchFamily="18" charset="0"/>
                <a:cs typeface="Times New Roman" panose="02020603050405020304" pitchFamily="18" charset="0"/>
              </a:rPr>
              <a:t>Smart Resource Allocation</a:t>
            </a:r>
            <a:r>
              <a:rPr lang="en-US" dirty="0">
                <a:latin typeface="Times New Roman" panose="02020603050405020304" pitchFamily="18" charset="0"/>
                <a:cs typeface="Times New Roman" panose="02020603050405020304" pitchFamily="18" charset="0"/>
              </a:rPr>
              <a:t>: CPU time is distributed dynamically based on usage patterns.</a:t>
            </a:r>
          </a:p>
          <a:p>
            <a:pPr lvl="1">
              <a:buFont typeface="Arial" panose="020B0604020202020204" pitchFamily="34" charset="0"/>
              <a:buChar char="•"/>
            </a:pPr>
            <a:r>
              <a:rPr lang="en-US" b="1" i="1" dirty="0">
                <a:latin typeface="Times New Roman" panose="02020603050405020304" pitchFamily="18" charset="0"/>
                <a:cs typeface="Times New Roman" panose="02020603050405020304" pitchFamily="18" charset="0"/>
              </a:rPr>
              <a:t>Self-Learning Mechanism</a:t>
            </a:r>
            <a:r>
              <a:rPr lang="en-US" dirty="0">
                <a:latin typeface="Times New Roman" panose="02020603050405020304" pitchFamily="18" charset="0"/>
                <a:cs typeface="Times New Roman" panose="02020603050405020304" pitchFamily="18" charset="0"/>
              </a:rPr>
              <a:t>: AI continuously improves scheduling efficiency over time.</a:t>
            </a:r>
          </a:p>
          <a:p>
            <a:pPr lvl="1"/>
            <a:endParaRPr lang="en-US" dirty="0">
              <a:latin typeface="Times New Roman" panose="02020603050405020304" pitchFamily="18" charset="0"/>
              <a:cs typeface="Times New Roman" panose="02020603050405020304" pitchFamily="18" charset="0"/>
            </a:endParaRPr>
          </a:p>
          <a:p>
            <a:r>
              <a:rPr lang="en-US" b="1" dirty="0">
                <a:latin typeface="Times New Roman" panose="02020603050405020304" pitchFamily="18" charset="0"/>
                <a:cs typeface="Times New Roman" panose="02020603050405020304" pitchFamily="18" charset="0"/>
              </a:rPr>
              <a:t>Drawbacks:</a:t>
            </a:r>
            <a:endParaRPr lang="en-US" dirty="0">
              <a:latin typeface="Times New Roman" panose="02020603050405020304" pitchFamily="18" charset="0"/>
              <a:cs typeface="Times New Roman" panose="02020603050405020304" pitchFamily="18" charset="0"/>
            </a:endParaRPr>
          </a:p>
          <a:p>
            <a:pPr lvl="1">
              <a:buFont typeface="Arial" panose="020B0604020202020204" pitchFamily="34" charset="0"/>
              <a:buChar char="•"/>
            </a:pPr>
            <a:r>
              <a:rPr lang="en-US" b="1" i="1" dirty="0">
                <a:latin typeface="Times New Roman" panose="02020603050405020304" pitchFamily="18" charset="0"/>
                <a:cs typeface="Times New Roman" panose="02020603050405020304" pitchFamily="18" charset="0"/>
              </a:rPr>
              <a:t>Computational Overhead</a:t>
            </a:r>
            <a:r>
              <a:rPr lang="en-US" dirty="0">
                <a:latin typeface="Times New Roman" panose="02020603050405020304" pitchFamily="18" charset="0"/>
                <a:cs typeface="Times New Roman" panose="02020603050405020304" pitchFamily="18" charset="0"/>
              </a:rPr>
              <a:t>: Running an AI model for scheduling introduces some CPU load.</a:t>
            </a:r>
          </a:p>
          <a:p>
            <a:pPr lvl="1">
              <a:buFont typeface="Arial" panose="020B0604020202020204" pitchFamily="34" charset="0"/>
              <a:buChar char="•"/>
            </a:pPr>
            <a:r>
              <a:rPr lang="en-US" b="1" i="1" dirty="0">
                <a:latin typeface="Times New Roman" panose="02020603050405020304" pitchFamily="18" charset="0"/>
                <a:cs typeface="Times New Roman" panose="02020603050405020304" pitchFamily="18" charset="0"/>
              </a:rPr>
              <a:t>Model Training Complexity</a:t>
            </a:r>
            <a:r>
              <a:rPr lang="en-US" dirty="0">
                <a:latin typeface="Times New Roman" panose="02020603050405020304" pitchFamily="18" charset="0"/>
                <a:cs typeface="Times New Roman" panose="02020603050405020304" pitchFamily="18" charset="0"/>
              </a:rPr>
              <a:t>: Requires high-quality data to ensure accurate predictions.</a:t>
            </a:r>
          </a:p>
          <a:p>
            <a:pPr lvl="1">
              <a:buFont typeface="Arial" panose="020B0604020202020204" pitchFamily="34" charset="0"/>
              <a:buChar char="•"/>
            </a:pPr>
            <a:r>
              <a:rPr lang="en-US" b="1" i="1" dirty="0">
                <a:latin typeface="Times New Roman" panose="02020603050405020304" pitchFamily="18" charset="0"/>
                <a:cs typeface="Times New Roman" panose="02020603050405020304" pitchFamily="18" charset="0"/>
              </a:rPr>
              <a:t>Kernel-Level Integration Risks</a:t>
            </a:r>
            <a:r>
              <a:rPr lang="en-US" dirty="0">
                <a:latin typeface="Times New Roman" panose="02020603050405020304" pitchFamily="18" charset="0"/>
                <a:cs typeface="Times New Roman" panose="02020603050405020304" pitchFamily="18" charset="0"/>
              </a:rPr>
              <a:t>: Modifying the Linux scheduler may lead to stability issues if not handled properly.</a:t>
            </a:r>
          </a:p>
        </p:txBody>
      </p:sp>
    </p:spTree>
    <p:extLst>
      <p:ext uri="{BB962C8B-B14F-4D97-AF65-F5344CB8AC3E}">
        <p14:creationId xmlns:p14="http://schemas.microsoft.com/office/powerpoint/2010/main" val="359778157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51"/>
        <p:cNvGrpSpPr/>
        <p:nvPr/>
      </p:nvGrpSpPr>
      <p:grpSpPr>
        <a:xfrm>
          <a:off x="0" y="0"/>
          <a:ext cx="0" cy="0"/>
          <a:chOff x="0" y="0"/>
          <a:chExt cx="0" cy="0"/>
        </a:xfrm>
      </p:grpSpPr>
      <p:sp>
        <p:nvSpPr>
          <p:cNvPr id="52" name="Google Shape;52;p7"/>
          <p:cNvSpPr/>
          <p:nvPr/>
        </p:nvSpPr>
        <p:spPr>
          <a:xfrm>
            <a:off x="3048000" y="1581150"/>
            <a:ext cx="7620000" cy="36600"/>
          </a:xfrm>
          <a:prstGeom prst="rect">
            <a:avLst/>
          </a:prstGeom>
          <a:solidFill>
            <a:srgbClr val="33CCCC"/>
          </a:solidFill>
          <a:ln>
            <a:noFill/>
          </a:ln>
        </p:spPr>
        <p:txBody>
          <a:bodyPr spcFirstLastPara="1" wrap="square" lIns="91425" tIns="45700" rIns="91425" bIns="45700" anchor="ctr" anchorCtr="0">
            <a:noAutofit/>
          </a:bodyPr>
          <a:lstStyle/>
          <a:p>
            <a:pPr>
              <a:spcBef>
                <a:spcPts val="0"/>
              </a:spcBef>
              <a:spcAft>
                <a:spcPts val="0"/>
              </a:spcAft>
              <a:buClr>
                <a:srgbClr val="000000"/>
              </a:buClr>
              <a:buSzPts val="1800"/>
            </a:pPr>
            <a:endParaRPr>
              <a:solidFill>
                <a:schemeClr val="dk1"/>
              </a:solidFill>
              <a:latin typeface="Arial"/>
              <a:ea typeface="Arial"/>
              <a:cs typeface="Arial"/>
              <a:sym typeface="Arial"/>
            </a:endParaRPr>
          </a:p>
        </p:txBody>
      </p:sp>
      <p:sp>
        <p:nvSpPr>
          <p:cNvPr id="53" name="Google Shape;53;p7"/>
          <p:cNvSpPr txBox="1"/>
          <p:nvPr/>
        </p:nvSpPr>
        <p:spPr>
          <a:xfrm>
            <a:off x="2895600" y="1143000"/>
            <a:ext cx="7772400" cy="461700"/>
          </a:xfrm>
          <a:prstGeom prst="rect">
            <a:avLst/>
          </a:prstGeom>
          <a:noFill/>
          <a:ln>
            <a:noFill/>
          </a:ln>
        </p:spPr>
        <p:txBody>
          <a:bodyPr spcFirstLastPara="1" wrap="square" lIns="91425" tIns="45700" rIns="91425" bIns="45700" anchor="t" anchorCtr="0">
            <a:noAutofit/>
          </a:bodyPr>
          <a:lstStyle/>
          <a:p>
            <a:pPr marL="342900" indent="-342900" algn="r">
              <a:spcBef>
                <a:spcPts val="0"/>
              </a:spcBef>
              <a:spcAft>
                <a:spcPts val="0"/>
              </a:spcAft>
            </a:pPr>
            <a:r>
              <a:rPr lang="en-US" sz="2400" b="1" i="1" dirty="0">
                <a:solidFill>
                  <a:srgbClr val="FF0000"/>
                </a:solidFill>
                <a:latin typeface="Times New Roman" panose="02020603050405020304" pitchFamily="18" charset="0"/>
                <a:ea typeface="Trebuchet MS"/>
                <a:cs typeface="Times New Roman" panose="02020603050405020304" pitchFamily="18" charset="0"/>
                <a:sym typeface="Trebuchet MS"/>
              </a:rPr>
              <a:t>Design Constraints, Assumptions &amp; Dependencies</a:t>
            </a:r>
            <a:endParaRPr lang="en-US" sz="2400" b="1" i="1" dirty="0">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806AC75B-1CFB-0CBD-61C9-F1A80F3ECA80}"/>
              </a:ext>
            </a:extLst>
          </p:cNvPr>
          <p:cNvSpPr txBox="1"/>
          <p:nvPr/>
        </p:nvSpPr>
        <p:spPr>
          <a:xfrm>
            <a:off x="983432" y="1844824"/>
            <a:ext cx="5017264" cy="4278094"/>
          </a:xfrm>
          <a:prstGeom prst="rect">
            <a:avLst/>
          </a:prstGeom>
          <a:noFill/>
        </p:spPr>
        <p:txBody>
          <a:bodyPr wrap="square">
            <a:spAutoFit/>
          </a:bodyPr>
          <a:lstStyle/>
          <a:p>
            <a:r>
              <a:rPr lang="en-IN" sz="2000" b="1" dirty="0">
                <a:latin typeface="Times New Roman" panose="02020603050405020304" pitchFamily="18" charset="0"/>
                <a:cs typeface="Times New Roman" panose="02020603050405020304" pitchFamily="18" charset="0"/>
              </a:rPr>
              <a:t>Design Constraints :</a:t>
            </a:r>
          </a:p>
          <a:p>
            <a:endParaRPr lang="en-IN"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b="1" i="1" dirty="0">
                <a:latin typeface="Times New Roman" panose="02020603050405020304" pitchFamily="18" charset="0"/>
                <a:cs typeface="Times New Roman" panose="02020603050405020304" pitchFamily="18" charset="0"/>
              </a:rPr>
              <a:t>Low-Latency Decision Making:</a:t>
            </a:r>
            <a:r>
              <a:rPr lang="en-US" i="1" dirty="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The AI model must make scheduling decisions within milliseconds to avoid performance bottlenecks</a:t>
            </a:r>
          </a:p>
          <a:p>
            <a:pPr marL="285750" indent="-285750">
              <a:buFont typeface="Arial" panose="020B0604020202020204" pitchFamily="34" charset="0"/>
              <a:buChar char="•"/>
            </a:pPr>
            <a:r>
              <a:rPr lang="en-US" b="1" i="1" dirty="0">
                <a:latin typeface="Times New Roman" panose="02020603050405020304" pitchFamily="18" charset="0"/>
                <a:cs typeface="Times New Roman" panose="02020603050405020304" pitchFamily="18" charset="0"/>
              </a:rPr>
              <a:t>Kernel Integration Complexity:</a:t>
            </a:r>
            <a:r>
              <a:rPr lang="en-US" i="1" dirty="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The modified scheduler must be stable and should not introduce unintended system crashes.</a:t>
            </a:r>
          </a:p>
          <a:p>
            <a:pPr marL="285750" indent="-285750">
              <a:buFont typeface="Arial" panose="020B0604020202020204" pitchFamily="34" charset="0"/>
              <a:buChar char="•"/>
            </a:pPr>
            <a:r>
              <a:rPr lang="en-US" b="1" i="1" dirty="0">
                <a:latin typeface="Times New Roman" panose="02020603050405020304" pitchFamily="18" charset="0"/>
                <a:cs typeface="Times New Roman" panose="02020603050405020304" pitchFamily="18" charset="0"/>
              </a:rPr>
              <a:t>Resource Utilization:</a:t>
            </a:r>
            <a:r>
              <a:rPr lang="en-US" i="1" dirty="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The AI process itself must not consume excessive CPU resources, defeating the purpose of optimization.</a:t>
            </a:r>
          </a:p>
          <a:p>
            <a:pPr marL="285750" indent="-285750">
              <a:buFont typeface="Arial" panose="020B0604020202020204" pitchFamily="34" charset="0"/>
              <a:buChar char="•"/>
            </a:pPr>
            <a:r>
              <a:rPr lang="en-US" b="1" i="1" dirty="0">
                <a:latin typeface="Times New Roman" panose="02020603050405020304" pitchFamily="18" charset="0"/>
                <a:cs typeface="Times New Roman" panose="02020603050405020304" pitchFamily="18" charset="0"/>
              </a:rPr>
              <a:t>Security Considerations:</a:t>
            </a:r>
            <a:r>
              <a:rPr lang="en-US" i="1" dirty="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The communication between AI and the kernel should prevent unauthorized modifications to scheduling policies.</a:t>
            </a:r>
            <a:endParaRPr lang="en-IN" dirty="0">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BB4E17FE-6CBD-8BC9-9BBA-ADE1B3D08FA4}"/>
              </a:ext>
            </a:extLst>
          </p:cNvPr>
          <p:cNvSpPr txBox="1"/>
          <p:nvPr/>
        </p:nvSpPr>
        <p:spPr>
          <a:xfrm>
            <a:off x="6000696" y="1884269"/>
            <a:ext cx="5063856" cy="3724096"/>
          </a:xfrm>
          <a:prstGeom prst="rect">
            <a:avLst/>
          </a:prstGeom>
          <a:noFill/>
        </p:spPr>
        <p:txBody>
          <a:bodyPr wrap="square">
            <a:spAutoFit/>
          </a:bodyPr>
          <a:lstStyle/>
          <a:p>
            <a:r>
              <a:rPr lang="en-IN" sz="2000" b="1" dirty="0">
                <a:latin typeface="Times New Roman" panose="02020603050405020304" pitchFamily="18" charset="0"/>
                <a:cs typeface="Times New Roman" panose="02020603050405020304" pitchFamily="18" charset="0"/>
              </a:rPr>
              <a:t>Assumptions :</a:t>
            </a:r>
          </a:p>
          <a:p>
            <a:endParaRPr lang="en-IN"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kumimoji="0" lang="en-US" altLang="en-US"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 AI model has access to sufficient training data to predict STS accurately.</a:t>
            </a:r>
          </a:p>
          <a:p>
            <a:pPr marL="285750" indent="-285750">
              <a:buFont typeface="Arial" panose="020B0604020202020204" pitchFamily="34" charset="0"/>
              <a:buChar char="•"/>
            </a:pPr>
            <a:r>
              <a:rPr kumimoji="0" lang="en-US" altLang="en-US"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Kernel modifications will follow Linux’s open-source guidelines to maintain stability.</a:t>
            </a:r>
            <a:endParaRPr lang="en-US" altLang="en-US"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kumimoji="0" lang="en-US" altLang="en-US"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 system will run on modern multi-core processors to take advantage of AI scheduling benefits.</a:t>
            </a:r>
            <a:endParaRPr lang="en-US" altLang="en-US"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kumimoji="0" lang="en-US" altLang="en-US"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User-space monitoring tools (like perf and </a:t>
            </a:r>
            <a:r>
              <a:rPr kumimoji="0" lang="en-US" altLang="en-US"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pstuil</a:t>
            </a:r>
            <a:r>
              <a:rPr kumimoji="0" lang="en-US" altLang="en-US"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provide real-time process behavior data without delays. </a:t>
            </a:r>
          </a:p>
          <a:p>
            <a:endParaRPr lang="en-IN"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44"/>
        <p:cNvGrpSpPr/>
        <p:nvPr/>
      </p:nvGrpSpPr>
      <p:grpSpPr>
        <a:xfrm>
          <a:off x="0" y="0"/>
          <a:ext cx="0" cy="0"/>
          <a:chOff x="0" y="0"/>
          <a:chExt cx="0" cy="0"/>
        </a:xfrm>
      </p:grpSpPr>
      <p:sp>
        <p:nvSpPr>
          <p:cNvPr id="45" name="Google Shape;45;p6"/>
          <p:cNvSpPr/>
          <p:nvPr/>
        </p:nvSpPr>
        <p:spPr>
          <a:xfrm>
            <a:off x="3048000" y="1581150"/>
            <a:ext cx="7620000" cy="36600"/>
          </a:xfrm>
          <a:prstGeom prst="rect">
            <a:avLst/>
          </a:prstGeom>
          <a:solidFill>
            <a:srgbClr val="33CCCC"/>
          </a:solidFill>
          <a:ln>
            <a:noFill/>
          </a:ln>
        </p:spPr>
        <p:txBody>
          <a:bodyPr spcFirstLastPara="1" wrap="square" lIns="91425" tIns="45700" rIns="91425" bIns="45700" anchor="ctr" anchorCtr="0">
            <a:noAutofit/>
          </a:bodyPr>
          <a:lstStyle/>
          <a:p>
            <a:pPr>
              <a:spcBef>
                <a:spcPts val="0"/>
              </a:spcBef>
              <a:spcAft>
                <a:spcPts val="0"/>
              </a:spcAft>
              <a:buClr>
                <a:srgbClr val="000000"/>
              </a:buClr>
              <a:buSzPts val="1800"/>
            </a:pPr>
            <a:endParaRPr>
              <a:solidFill>
                <a:schemeClr val="dk1"/>
              </a:solidFill>
              <a:latin typeface="Arial"/>
              <a:ea typeface="Arial"/>
              <a:cs typeface="Arial"/>
              <a:sym typeface="Arial"/>
            </a:endParaRPr>
          </a:p>
        </p:txBody>
      </p:sp>
      <p:sp>
        <p:nvSpPr>
          <p:cNvPr id="46" name="Google Shape;46;p6"/>
          <p:cNvSpPr txBox="1"/>
          <p:nvPr/>
        </p:nvSpPr>
        <p:spPr>
          <a:xfrm>
            <a:off x="2930980" y="1137750"/>
            <a:ext cx="7772400" cy="461700"/>
          </a:xfrm>
          <a:prstGeom prst="rect">
            <a:avLst/>
          </a:prstGeom>
          <a:noFill/>
          <a:ln>
            <a:noFill/>
          </a:ln>
        </p:spPr>
        <p:txBody>
          <a:bodyPr spcFirstLastPara="1" wrap="square" lIns="91425" tIns="45700" rIns="91425" bIns="45700" anchor="t" anchorCtr="0">
            <a:noAutofit/>
          </a:bodyPr>
          <a:lstStyle/>
          <a:p>
            <a:pPr marL="342900" indent="-342900" algn="r">
              <a:spcBef>
                <a:spcPts val="0"/>
              </a:spcBef>
              <a:spcAft>
                <a:spcPts val="0"/>
              </a:spcAft>
              <a:buClr>
                <a:srgbClr val="000000"/>
              </a:buClr>
              <a:buSzPts val="2400"/>
            </a:pPr>
            <a:endParaRPr lang="en-US" sz="2400" dirty="0">
              <a:solidFill>
                <a:srgbClr val="FF0000"/>
              </a:solidFill>
              <a:latin typeface="Trebuchet MS"/>
              <a:ea typeface="Trebuchet MS"/>
              <a:cs typeface="Trebuchet MS"/>
              <a:sym typeface="Trebuchet MS"/>
            </a:endParaRPr>
          </a:p>
        </p:txBody>
      </p:sp>
      <p:sp>
        <p:nvSpPr>
          <p:cNvPr id="47" name="Google Shape;47;p6"/>
          <p:cNvSpPr txBox="1"/>
          <p:nvPr/>
        </p:nvSpPr>
        <p:spPr>
          <a:xfrm>
            <a:off x="5879976" y="2636912"/>
            <a:ext cx="5328592" cy="2663104"/>
          </a:xfrm>
          <a:prstGeom prst="rect">
            <a:avLst/>
          </a:prstGeom>
          <a:noFill/>
          <a:ln>
            <a:noFill/>
          </a:ln>
        </p:spPr>
        <p:txBody>
          <a:bodyPr spcFirstLastPara="1" wrap="square" lIns="91425" tIns="45700" rIns="91425" bIns="45700" anchor="ctr" anchorCtr="0">
            <a:noAutofit/>
          </a:bodyPr>
          <a:lstStyle/>
          <a:p>
            <a:pPr marL="457200" algn="just">
              <a:spcBef>
                <a:spcPts val="480"/>
              </a:spcBef>
              <a:spcAft>
                <a:spcPts val="0"/>
              </a:spcAft>
            </a:pPr>
            <a:r>
              <a:rPr lang="en-US" dirty="0">
                <a:latin typeface="Times New Roman" panose="02020603050405020304" pitchFamily="18" charset="0"/>
                <a:cs typeface="Times New Roman" panose="02020603050405020304" pitchFamily="18" charset="0"/>
              </a:rPr>
              <a:t>3) </a:t>
            </a:r>
            <a:r>
              <a:rPr lang="en-US" b="1" i="1" dirty="0">
                <a:latin typeface="Times New Roman" panose="02020603050405020304" pitchFamily="18" charset="0"/>
                <a:cs typeface="Times New Roman" panose="02020603050405020304" pitchFamily="18" charset="0"/>
              </a:rPr>
              <a:t>Dependency on AI Model Accuracy</a:t>
            </a:r>
          </a:p>
          <a:p>
            <a:pPr marL="457200" algn="just">
              <a:spcBef>
                <a:spcPts val="480"/>
              </a:spcBef>
              <a:spcAft>
                <a:spcPts val="0"/>
              </a:spcAft>
            </a:pPr>
            <a:r>
              <a:rPr lang="en-US" dirty="0">
                <a:latin typeface="Times New Roman" panose="02020603050405020304" pitchFamily="18" charset="0"/>
                <a:cs typeface="Times New Roman" panose="02020603050405020304" pitchFamily="18" charset="0"/>
              </a:rPr>
              <a:t>If the model predicts incorrect STS values, scheduling will become inefficient.</a:t>
            </a:r>
          </a:p>
          <a:p>
            <a:pPr marL="457200" algn="just">
              <a:spcBef>
                <a:spcPts val="480"/>
              </a:spcBef>
              <a:spcAft>
                <a:spcPts val="0"/>
              </a:spcAft>
            </a:pPr>
            <a:r>
              <a:rPr lang="en-US" b="1" dirty="0">
                <a:latin typeface="Times New Roman" panose="02020603050405020304" pitchFamily="18" charset="0"/>
                <a:cs typeface="Times New Roman" panose="02020603050405020304" pitchFamily="18" charset="0"/>
              </a:rPr>
              <a:t>Impact:</a:t>
            </a:r>
            <a:r>
              <a:rPr lang="en-US" dirty="0">
                <a:latin typeface="Times New Roman" panose="02020603050405020304" pitchFamily="18" charset="0"/>
                <a:cs typeface="Times New Roman" panose="02020603050405020304" pitchFamily="18" charset="0"/>
              </a:rPr>
              <a:t> Requires continuous model training and validation.</a:t>
            </a:r>
          </a:p>
          <a:p>
            <a:pPr marL="457200" algn="just">
              <a:spcBef>
                <a:spcPts val="480"/>
              </a:spcBef>
              <a:spcAft>
                <a:spcPts val="0"/>
              </a:spcAft>
            </a:pPr>
            <a:endParaRPr lang="en-US" dirty="0">
              <a:latin typeface="Times New Roman" panose="02020603050405020304" pitchFamily="18" charset="0"/>
              <a:cs typeface="Times New Roman" panose="02020603050405020304" pitchFamily="18" charset="0"/>
            </a:endParaRPr>
          </a:p>
          <a:p>
            <a:pPr marL="457200" algn="just">
              <a:spcBef>
                <a:spcPts val="480"/>
              </a:spcBef>
              <a:spcAft>
                <a:spcPts val="0"/>
              </a:spcAft>
            </a:pPr>
            <a:r>
              <a:rPr lang="en-US" dirty="0">
                <a:latin typeface="Times New Roman" panose="02020603050405020304" pitchFamily="18" charset="0"/>
                <a:cs typeface="Times New Roman" panose="02020603050405020304" pitchFamily="18" charset="0"/>
              </a:rPr>
              <a:t>4) </a:t>
            </a:r>
            <a:r>
              <a:rPr lang="en-US" b="1" i="1" dirty="0">
                <a:latin typeface="Times New Roman" panose="02020603050405020304" pitchFamily="18" charset="0"/>
                <a:cs typeface="Times New Roman" panose="02020603050405020304" pitchFamily="18" charset="0"/>
              </a:rPr>
              <a:t>Dependency on Multi-Core CPUs</a:t>
            </a:r>
          </a:p>
          <a:p>
            <a:pPr marL="457200" algn="just">
              <a:spcBef>
                <a:spcPts val="480"/>
              </a:spcBef>
              <a:spcAft>
                <a:spcPts val="0"/>
              </a:spcAft>
            </a:pPr>
            <a:r>
              <a:rPr lang="en-US" dirty="0">
                <a:latin typeface="Times New Roman" panose="02020603050405020304" pitchFamily="18" charset="0"/>
                <a:cs typeface="Times New Roman" panose="02020603050405020304" pitchFamily="18" charset="0"/>
              </a:rPr>
              <a:t>The system is designed for modern multi-core processors.</a:t>
            </a:r>
          </a:p>
          <a:p>
            <a:pPr marL="457200" algn="just">
              <a:spcBef>
                <a:spcPts val="480"/>
              </a:spcBef>
              <a:spcAft>
                <a:spcPts val="0"/>
              </a:spcAft>
            </a:pPr>
            <a:r>
              <a:rPr lang="en-US" b="1" dirty="0">
                <a:latin typeface="Times New Roman" panose="02020603050405020304" pitchFamily="18" charset="0"/>
                <a:cs typeface="Times New Roman" panose="02020603050405020304" pitchFamily="18" charset="0"/>
              </a:rPr>
              <a:t>Impact:</a:t>
            </a:r>
            <a:r>
              <a:rPr lang="en-US" dirty="0">
                <a:latin typeface="Times New Roman" panose="02020603050405020304" pitchFamily="18" charset="0"/>
                <a:cs typeface="Times New Roman" panose="02020603050405020304" pitchFamily="18" charset="0"/>
              </a:rPr>
              <a:t> Performance benefits may vary on single-core machines.</a:t>
            </a:r>
          </a:p>
        </p:txBody>
      </p:sp>
      <p:sp>
        <p:nvSpPr>
          <p:cNvPr id="3" name="TextBox 2">
            <a:extLst>
              <a:ext uri="{FF2B5EF4-FFF2-40B4-BE49-F238E27FC236}">
                <a16:creationId xmlns:a16="http://schemas.microsoft.com/office/drawing/2014/main" id="{58D352F7-970A-1EB3-21FA-18BDDC8ED59D}"/>
              </a:ext>
            </a:extLst>
          </p:cNvPr>
          <p:cNvSpPr txBox="1"/>
          <p:nvPr/>
        </p:nvSpPr>
        <p:spPr>
          <a:xfrm>
            <a:off x="3829645" y="1101185"/>
            <a:ext cx="6873735" cy="461665"/>
          </a:xfrm>
          <a:prstGeom prst="rect">
            <a:avLst/>
          </a:prstGeom>
          <a:noFill/>
        </p:spPr>
        <p:txBody>
          <a:bodyPr wrap="square">
            <a:spAutoFit/>
          </a:bodyPr>
          <a:lstStyle/>
          <a:p>
            <a:pPr marL="342900" indent="-342900" algn="r">
              <a:spcBef>
                <a:spcPts val="0"/>
              </a:spcBef>
              <a:spcAft>
                <a:spcPts val="0"/>
              </a:spcAft>
            </a:pPr>
            <a:r>
              <a:rPr lang="en-US" sz="2400" b="1" i="1" dirty="0">
                <a:solidFill>
                  <a:srgbClr val="FF0000"/>
                </a:solidFill>
                <a:latin typeface="Times New Roman" panose="02020603050405020304" pitchFamily="18" charset="0"/>
                <a:ea typeface="Trebuchet MS"/>
                <a:cs typeface="Times New Roman" panose="02020603050405020304" pitchFamily="18" charset="0"/>
                <a:sym typeface="Trebuchet MS"/>
              </a:rPr>
              <a:t>Design Constraints, Assumptions &amp; Dependencies</a:t>
            </a:r>
            <a:endParaRPr lang="en-US" sz="2400" b="1" i="1" dirty="0">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44A7FAA9-42D9-827F-FE32-E77AEBA5ECB3}"/>
              </a:ext>
            </a:extLst>
          </p:cNvPr>
          <p:cNvSpPr txBox="1"/>
          <p:nvPr/>
        </p:nvSpPr>
        <p:spPr>
          <a:xfrm>
            <a:off x="1055440" y="1672622"/>
            <a:ext cx="5117607" cy="4308872"/>
          </a:xfrm>
          <a:prstGeom prst="rect">
            <a:avLst/>
          </a:prstGeom>
          <a:noFill/>
        </p:spPr>
        <p:txBody>
          <a:bodyPr wrap="square">
            <a:spAutoFit/>
          </a:bodyPr>
          <a:lstStyle/>
          <a:p>
            <a:r>
              <a:rPr lang="en-IN" sz="2000" b="1" dirty="0">
                <a:latin typeface="Times New Roman" panose="02020603050405020304" pitchFamily="18" charset="0"/>
                <a:cs typeface="Times New Roman" panose="02020603050405020304" pitchFamily="18" charset="0"/>
              </a:rPr>
              <a:t>Dependencies &amp; Impact on the Project :</a:t>
            </a:r>
          </a:p>
          <a:p>
            <a:endParaRPr lang="en-IN" sz="2000" b="1" dirty="0">
              <a:latin typeface="Times New Roman" panose="02020603050405020304" pitchFamily="18" charset="0"/>
              <a:cs typeface="Times New Roman" panose="02020603050405020304" pitchFamily="18" charset="0"/>
            </a:endParaRPr>
          </a:p>
          <a:p>
            <a:r>
              <a:rPr lang="en-IN" dirty="0">
                <a:latin typeface="Times New Roman" panose="02020603050405020304" pitchFamily="18" charset="0"/>
                <a:cs typeface="Times New Roman" panose="02020603050405020304" pitchFamily="18" charset="0"/>
              </a:rPr>
              <a:t>1) </a:t>
            </a:r>
            <a:r>
              <a:rPr lang="en-IN" b="1" i="1" dirty="0">
                <a:latin typeface="Times New Roman" panose="02020603050405020304" pitchFamily="18" charset="0"/>
                <a:cs typeface="Times New Roman" panose="02020603050405020304" pitchFamily="18" charset="0"/>
              </a:rPr>
              <a:t>Dependency on System Calls (</a:t>
            </a:r>
            <a:r>
              <a:rPr lang="en-IN" b="1" i="1" dirty="0" err="1">
                <a:latin typeface="Times New Roman" panose="02020603050405020304" pitchFamily="18" charset="0"/>
                <a:cs typeface="Times New Roman" panose="02020603050405020304" pitchFamily="18" charset="0"/>
              </a:rPr>
              <a:t>sched_setscheduler</a:t>
            </a:r>
            <a:r>
              <a:rPr lang="en-IN" b="1" i="1" dirty="0">
                <a:latin typeface="Times New Roman" panose="02020603050405020304" pitchFamily="18" charset="0"/>
                <a:cs typeface="Times New Roman" panose="02020603050405020304" pitchFamily="18" charset="0"/>
              </a:rPr>
              <a:t>())</a:t>
            </a:r>
          </a:p>
          <a:p>
            <a:r>
              <a:rPr lang="en-IN" dirty="0">
                <a:latin typeface="Times New Roman" panose="02020603050405020304" pitchFamily="18" charset="0"/>
                <a:cs typeface="Times New Roman" panose="02020603050405020304" pitchFamily="18" charset="0"/>
              </a:rPr>
              <a:t>The AI model sends predictions via system calls to modify scheduling.</a:t>
            </a:r>
          </a:p>
          <a:p>
            <a:r>
              <a:rPr lang="en-IN" b="1" dirty="0">
                <a:latin typeface="Times New Roman" panose="02020603050405020304" pitchFamily="18" charset="0"/>
                <a:cs typeface="Times New Roman" panose="02020603050405020304" pitchFamily="18" charset="0"/>
              </a:rPr>
              <a:t>Impact:</a:t>
            </a:r>
            <a:r>
              <a:rPr lang="en-IN" dirty="0">
                <a:latin typeface="Times New Roman" panose="02020603050405020304" pitchFamily="18" charset="0"/>
                <a:cs typeface="Times New Roman" panose="02020603050405020304" pitchFamily="18" charset="0"/>
              </a:rPr>
              <a:t> Requires kernel modifications and proper permission handling.</a:t>
            </a:r>
          </a:p>
          <a:p>
            <a:endParaRPr lang="en-IN" dirty="0">
              <a:latin typeface="Times New Roman" panose="02020603050405020304" pitchFamily="18" charset="0"/>
              <a:cs typeface="Times New Roman" panose="02020603050405020304" pitchFamily="18" charset="0"/>
            </a:endParaRPr>
          </a:p>
          <a:p>
            <a:r>
              <a:rPr lang="en-IN" dirty="0">
                <a:latin typeface="Times New Roman" panose="02020603050405020304" pitchFamily="18" charset="0"/>
                <a:cs typeface="Times New Roman" panose="02020603050405020304" pitchFamily="18" charset="0"/>
              </a:rPr>
              <a:t>2) </a:t>
            </a:r>
            <a:r>
              <a:rPr lang="en-IN" b="1" i="1" dirty="0">
                <a:latin typeface="Times New Roman" panose="02020603050405020304" pitchFamily="18" charset="0"/>
                <a:cs typeface="Times New Roman" panose="02020603050405020304" pitchFamily="18" charset="0"/>
              </a:rPr>
              <a:t>Dependency on Process Monitoring Tools</a:t>
            </a:r>
          </a:p>
          <a:p>
            <a:r>
              <a:rPr lang="en-IN" dirty="0">
                <a:latin typeface="Times New Roman" panose="02020603050405020304" pitchFamily="18" charset="0"/>
                <a:cs typeface="Times New Roman" panose="02020603050405020304" pitchFamily="18" charset="0"/>
              </a:rPr>
              <a:t>Uses perf, </a:t>
            </a:r>
            <a:r>
              <a:rPr lang="en-IN" dirty="0" err="1">
                <a:latin typeface="Times New Roman" panose="02020603050405020304" pitchFamily="18" charset="0"/>
                <a:cs typeface="Times New Roman" panose="02020603050405020304" pitchFamily="18" charset="0"/>
              </a:rPr>
              <a:t>psutil</a:t>
            </a:r>
            <a:r>
              <a:rPr lang="en-IN" dirty="0">
                <a:latin typeface="Times New Roman" panose="02020603050405020304" pitchFamily="18" charset="0"/>
                <a:cs typeface="Times New Roman" panose="02020603050405020304" pitchFamily="18" charset="0"/>
              </a:rPr>
              <a:t>, and system logs to track process execution.</a:t>
            </a:r>
          </a:p>
          <a:p>
            <a:r>
              <a:rPr lang="en-IN" b="1" dirty="0">
                <a:latin typeface="Times New Roman" panose="02020603050405020304" pitchFamily="18" charset="0"/>
                <a:cs typeface="Times New Roman" panose="02020603050405020304" pitchFamily="18" charset="0"/>
              </a:rPr>
              <a:t>Impact:</a:t>
            </a:r>
            <a:r>
              <a:rPr lang="en-IN" dirty="0">
                <a:latin typeface="Times New Roman" panose="02020603050405020304" pitchFamily="18" charset="0"/>
                <a:cs typeface="Times New Roman" panose="02020603050405020304" pitchFamily="18" charset="0"/>
              </a:rPr>
              <a:t> Monitoring tools must run efficiently without affecting system performance.</a:t>
            </a:r>
          </a:p>
          <a:p>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16707629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51"/>
        <p:cNvGrpSpPr/>
        <p:nvPr/>
      </p:nvGrpSpPr>
      <p:grpSpPr>
        <a:xfrm>
          <a:off x="0" y="0"/>
          <a:ext cx="0" cy="0"/>
          <a:chOff x="0" y="0"/>
          <a:chExt cx="0" cy="0"/>
        </a:xfrm>
      </p:grpSpPr>
      <p:sp>
        <p:nvSpPr>
          <p:cNvPr id="52" name="Google Shape;52;p7"/>
          <p:cNvSpPr/>
          <p:nvPr/>
        </p:nvSpPr>
        <p:spPr>
          <a:xfrm>
            <a:off x="3048000" y="1581150"/>
            <a:ext cx="7620000" cy="36600"/>
          </a:xfrm>
          <a:prstGeom prst="rect">
            <a:avLst/>
          </a:prstGeom>
          <a:solidFill>
            <a:srgbClr val="33CCCC"/>
          </a:solidFill>
          <a:ln>
            <a:noFill/>
          </a:ln>
        </p:spPr>
        <p:txBody>
          <a:bodyPr spcFirstLastPara="1" wrap="square" lIns="91425" tIns="45700" rIns="91425" bIns="45700" anchor="ctr" anchorCtr="0">
            <a:noAutofit/>
          </a:bodyPr>
          <a:lstStyle/>
          <a:p>
            <a:pPr>
              <a:spcBef>
                <a:spcPts val="0"/>
              </a:spcBef>
              <a:spcAft>
                <a:spcPts val="0"/>
              </a:spcAft>
              <a:buClr>
                <a:srgbClr val="000000"/>
              </a:buClr>
              <a:buSzPts val="1800"/>
            </a:pPr>
            <a:endParaRPr>
              <a:solidFill>
                <a:schemeClr val="dk1"/>
              </a:solidFill>
              <a:latin typeface="Arial"/>
              <a:ea typeface="Arial"/>
              <a:cs typeface="Arial"/>
              <a:sym typeface="Arial"/>
            </a:endParaRPr>
          </a:p>
        </p:txBody>
      </p:sp>
      <p:sp>
        <p:nvSpPr>
          <p:cNvPr id="53" name="Google Shape;53;p7"/>
          <p:cNvSpPr txBox="1"/>
          <p:nvPr/>
        </p:nvSpPr>
        <p:spPr>
          <a:xfrm>
            <a:off x="3791744" y="1143000"/>
            <a:ext cx="6876256" cy="461700"/>
          </a:xfrm>
          <a:prstGeom prst="rect">
            <a:avLst/>
          </a:prstGeom>
          <a:noFill/>
          <a:ln>
            <a:noFill/>
          </a:ln>
        </p:spPr>
        <p:txBody>
          <a:bodyPr spcFirstLastPara="1" wrap="square" lIns="91425" tIns="45700" rIns="91425" bIns="45700" anchor="t" anchorCtr="0">
            <a:noAutofit/>
          </a:bodyPr>
          <a:lstStyle/>
          <a:p>
            <a:pPr marL="342900" indent="-342900" algn="r">
              <a:spcBef>
                <a:spcPts val="0"/>
              </a:spcBef>
              <a:spcAft>
                <a:spcPts val="0"/>
              </a:spcAft>
            </a:pPr>
            <a:r>
              <a:rPr lang="en-US" sz="2400" b="1" i="1" dirty="0">
                <a:solidFill>
                  <a:srgbClr val="FF0000"/>
                </a:solidFill>
                <a:latin typeface="Times New Roman" panose="02020603050405020304" pitchFamily="18" charset="0"/>
                <a:ea typeface="Trebuchet MS"/>
                <a:cs typeface="Times New Roman" panose="02020603050405020304" pitchFamily="18" charset="0"/>
                <a:sym typeface="Trebuchet MS"/>
              </a:rPr>
              <a:t>Proposed System / Approach</a:t>
            </a:r>
            <a:endParaRPr lang="en-US" sz="2400" b="1" i="1" dirty="0">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50F6FCBC-F1FC-BD2D-070A-664D610C9E3D}"/>
              </a:ext>
            </a:extLst>
          </p:cNvPr>
          <p:cNvSpPr txBox="1"/>
          <p:nvPr/>
        </p:nvSpPr>
        <p:spPr>
          <a:xfrm>
            <a:off x="623392" y="1772816"/>
            <a:ext cx="5688632" cy="4585871"/>
          </a:xfrm>
          <a:prstGeom prst="rect">
            <a:avLst/>
          </a:prstGeom>
          <a:noFill/>
        </p:spPr>
        <p:txBody>
          <a:bodyPr wrap="square">
            <a:spAutoFit/>
          </a:bodyPr>
          <a:lstStyle/>
          <a:p>
            <a:r>
              <a:rPr lang="en-IN" sz="2000" b="1" dirty="0">
                <a:latin typeface="Times New Roman" panose="02020603050405020304" pitchFamily="18" charset="0"/>
                <a:cs typeface="Times New Roman" panose="02020603050405020304" pitchFamily="18" charset="0"/>
              </a:rPr>
              <a:t>Basic Approach &amp; Initial Results</a:t>
            </a:r>
          </a:p>
          <a:p>
            <a:endParaRPr lang="en-IN" sz="2000" b="1" dirty="0">
              <a:latin typeface="Times New Roman" panose="02020603050405020304" pitchFamily="18" charset="0"/>
              <a:cs typeface="Times New Roman" panose="02020603050405020304" pitchFamily="18" charset="0"/>
            </a:endParaRPr>
          </a:p>
          <a:p>
            <a:r>
              <a:rPr lang="en-US" b="1" i="1" dirty="0">
                <a:latin typeface="Times New Roman" panose="02020603050405020304" pitchFamily="18" charset="0"/>
                <a:cs typeface="Times New Roman" panose="02020603050405020304" pitchFamily="18" charset="0"/>
              </a:rPr>
              <a:t>Initial Approach (Traditional Linux Scheduling)</a:t>
            </a:r>
            <a:r>
              <a:rPr lang="en-IN" b="1" i="1" dirty="0">
                <a:latin typeface="Times New Roman" panose="02020603050405020304" pitchFamily="18" charset="0"/>
                <a:cs typeface="Times New Roman" panose="02020603050405020304" pitchFamily="18" charset="0"/>
              </a:rPr>
              <a:t>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The Completely Fair Scheduler (CFS) in Linux assigns                   CPU time slices statically, based on heuristics like process priority and fairness.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No intelligent adaptation based on real-time workload behavior.</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Limitations Identified:</a:t>
            </a:r>
          </a:p>
          <a:p>
            <a:pPr lvl="1" eaLnBrk="0" hangingPunct="0">
              <a:buFontTx/>
              <a:buChar char="•"/>
            </a:pPr>
            <a:r>
              <a:rPr kumimoji="0" lang="en-US" altLang="en-US"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High latency for critical tasks.</a:t>
            </a:r>
          </a:p>
          <a:p>
            <a:pPr lvl="1" eaLnBrk="0" hangingPunct="0">
              <a:buFontTx/>
              <a:buChar char="•"/>
            </a:pPr>
            <a:r>
              <a:rPr kumimoji="0" lang="en-US" altLang="en-US"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Inefficient resource allocation for background processes.</a:t>
            </a:r>
          </a:p>
          <a:p>
            <a:pPr lvl="1" eaLnBrk="0" hangingPunct="0">
              <a:buFontTx/>
              <a:buChar char="•"/>
            </a:pPr>
            <a:r>
              <a:rPr kumimoji="0" lang="en-US" altLang="en-US"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Inflexibility—cannot dynamically adjust to changing workloads.</a:t>
            </a:r>
          </a:p>
          <a:p>
            <a:endParaRPr lang="en-IN" dirty="0"/>
          </a:p>
          <a:p>
            <a:endParaRPr lang="en-IN" dirty="0"/>
          </a:p>
        </p:txBody>
      </p:sp>
      <p:sp>
        <p:nvSpPr>
          <p:cNvPr id="5" name="Rectangle 1">
            <a:extLst>
              <a:ext uri="{FF2B5EF4-FFF2-40B4-BE49-F238E27FC236}">
                <a16:creationId xmlns:a16="http://schemas.microsoft.com/office/drawing/2014/main" id="{ED9026D5-A772-74D5-D306-C10731CBB608}"/>
              </a:ext>
            </a:extLst>
          </p:cNvPr>
          <p:cNvSpPr>
            <a:spLocks noChangeArrowheads="1"/>
          </p:cNvSpPr>
          <p:nvPr/>
        </p:nvSpPr>
        <p:spPr bwMode="auto">
          <a:xfrm>
            <a:off x="0" y="-323165"/>
            <a:ext cx="184731"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7" name="TextBox 6">
            <a:extLst>
              <a:ext uri="{FF2B5EF4-FFF2-40B4-BE49-F238E27FC236}">
                <a16:creationId xmlns:a16="http://schemas.microsoft.com/office/drawing/2014/main" id="{CAF0476E-EFC8-2B07-2753-E54426D30E6B}"/>
              </a:ext>
            </a:extLst>
          </p:cNvPr>
          <p:cNvSpPr txBox="1"/>
          <p:nvPr/>
        </p:nvSpPr>
        <p:spPr>
          <a:xfrm>
            <a:off x="6456040" y="2348880"/>
            <a:ext cx="5112568" cy="2585323"/>
          </a:xfrm>
          <a:prstGeom prst="rect">
            <a:avLst/>
          </a:prstGeom>
          <a:noFill/>
        </p:spPr>
        <p:txBody>
          <a:bodyPr wrap="square">
            <a:spAutoFit/>
          </a:bodyPr>
          <a:lstStyle/>
          <a:p>
            <a:r>
              <a:rPr lang="en-IN" b="1" i="1" dirty="0">
                <a:latin typeface="Times New Roman" panose="02020603050405020304" pitchFamily="18" charset="0"/>
                <a:cs typeface="Times New Roman" panose="02020603050405020304" pitchFamily="18" charset="0"/>
              </a:rPr>
              <a:t>Initial Results &amp; Observations</a:t>
            </a:r>
          </a:p>
          <a:p>
            <a:endParaRPr lang="en-IN" b="1" i="1"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CFS ensures fairness but does not optimize CPU efficiency dynamically.</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Scheduling decisions do not consider real-time workload variations.</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Need for AI-driven scheduling to make smarter, adaptive decisions.</a:t>
            </a:r>
          </a:p>
          <a:p>
            <a:endParaRPr lang="en-IN"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52;p7">
            <a:extLst>
              <a:ext uri="{FF2B5EF4-FFF2-40B4-BE49-F238E27FC236}">
                <a16:creationId xmlns:a16="http://schemas.microsoft.com/office/drawing/2014/main" id="{174D2972-8743-3BD2-B1F9-C35EAB2337FE}"/>
              </a:ext>
            </a:extLst>
          </p:cNvPr>
          <p:cNvSpPr/>
          <p:nvPr/>
        </p:nvSpPr>
        <p:spPr>
          <a:xfrm>
            <a:off x="3048000" y="1581150"/>
            <a:ext cx="7620000" cy="36600"/>
          </a:xfrm>
          <a:prstGeom prst="rect">
            <a:avLst/>
          </a:prstGeom>
          <a:solidFill>
            <a:srgbClr val="33CCCC"/>
          </a:solidFill>
          <a:ln>
            <a:noFill/>
          </a:ln>
        </p:spPr>
        <p:txBody>
          <a:bodyPr spcFirstLastPara="1" wrap="square" lIns="91425" tIns="45700" rIns="91425" bIns="45700" anchor="ctr" anchorCtr="0">
            <a:noAutofit/>
          </a:bodyPr>
          <a:lstStyle/>
          <a:p>
            <a:pPr>
              <a:spcBef>
                <a:spcPts val="0"/>
              </a:spcBef>
              <a:spcAft>
                <a:spcPts val="0"/>
              </a:spcAft>
              <a:buClr>
                <a:srgbClr val="000000"/>
              </a:buClr>
              <a:buSzPts val="1800"/>
            </a:pPr>
            <a:endParaRPr>
              <a:solidFill>
                <a:schemeClr val="dk1"/>
              </a:solidFill>
              <a:latin typeface="Arial"/>
              <a:ea typeface="Arial"/>
              <a:cs typeface="Arial"/>
              <a:sym typeface="Arial"/>
            </a:endParaRPr>
          </a:p>
        </p:txBody>
      </p:sp>
      <p:sp>
        <p:nvSpPr>
          <p:cNvPr id="5" name="TextBox 4">
            <a:extLst>
              <a:ext uri="{FF2B5EF4-FFF2-40B4-BE49-F238E27FC236}">
                <a16:creationId xmlns:a16="http://schemas.microsoft.com/office/drawing/2014/main" id="{771C744E-7E27-BE1A-FD9F-FC0A70B9E73D}"/>
              </a:ext>
            </a:extLst>
          </p:cNvPr>
          <p:cNvSpPr txBox="1"/>
          <p:nvPr/>
        </p:nvSpPr>
        <p:spPr>
          <a:xfrm>
            <a:off x="4607128" y="1156085"/>
            <a:ext cx="6097384" cy="461665"/>
          </a:xfrm>
          <a:prstGeom prst="rect">
            <a:avLst/>
          </a:prstGeom>
          <a:noFill/>
        </p:spPr>
        <p:txBody>
          <a:bodyPr wrap="square">
            <a:spAutoFit/>
          </a:bodyPr>
          <a:lstStyle/>
          <a:p>
            <a:pPr marL="342900" indent="-342900" algn="r">
              <a:spcBef>
                <a:spcPts val="0"/>
              </a:spcBef>
              <a:spcAft>
                <a:spcPts val="0"/>
              </a:spcAft>
            </a:pPr>
            <a:r>
              <a:rPr lang="en-US" sz="2400" b="1" i="1" dirty="0">
                <a:solidFill>
                  <a:srgbClr val="FF0000"/>
                </a:solidFill>
                <a:latin typeface="Times New Roman" panose="02020603050405020304" pitchFamily="18" charset="0"/>
                <a:ea typeface="Trebuchet MS"/>
                <a:cs typeface="Times New Roman" panose="02020603050405020304" pitchFamily="18" charset="0"/>
                <a:sym typeface="Trebuchet MS"/>
              </a:rPr>
              <a:t>Proposed System / Approach</a:t>
            </a:r>
            <a:endParaRPr lang="en-US" sz="2400" b="1" i="1" dirty="0">
              <a:latin typeface="Times New Roman" panose="02020603050405020304" pitchFamily="18" charset="0"/>
              <a:cs typeface="Times New Roman" panose="02020603050405020304" pitchFamily="18" charset="0"/>
            </a:endParaRPr>
          </a:p>
        </p:txBody>
      </p:sp>
      <p:sp>
        <p:nvSpPr>
          <p:cNvPr id="7" name="TextBox 6">
            <a:extLst>
              <a:ext uri="{FF2B5EF4-FFF2-40B4-BE49-F238E27FC236}">
                <a16:creationId xmlns:a16="http://schemas.microsoft.com/office/drawing/2014/main" id="{86C00D86-ACA3-BF2E-A00F-C40AF7EBE2A0}"/>
              </a:ext>
            </a:extLst>
          </p:cNvPr>
          <p:cNvSpPr txBox="1"/>
          <p:nvPr/>
        </p:nvSpPr>
        <p:spPr>
          <a:xfrm>
            <a:off x="1343472" y="1851792"/>
            <a:ext cx="9361040" cy="4278094"/>
          </a:xfrm>
          <a:prstGeom prst="rect">
            <a:avLst/>
          </a:prstGeom>
          <a:noFill/>
        </p:spPr>
        <p:txBody>
          <a:bodyPr wrap="square">
            <a:spAutoFit/>
          </a:bodyPr>
          <a:lstStyle/>
          <a:p>
            <a:r>
              <a:rPr lang="en-US" sz="2000" b="1" dirty="0">
                <a:latin typeface="Times New Roman" panose="02020603050405020304" pitchFamily="18" charset="0"/>
                <a:cs typeface="Times New Roman" panose="02020603050405020304" pitchFamily="18" charset="0"/>
              </a:rPr>
              <a:t>Need for Changing the Approach</a:t>
            </a:r>
          </a:p>
          <a:p>
            <a:endParaRPr lang="en-US" dirty="0"/>
          </a:p>
          <a:p>
            <a:r>
              <a:rPr lang="en-US" b="1" i="1" dirty="0">
                <a:latin typeface="Times New Roman" panose="02020603050405020304" pitchFamily="18" charset="0"/>
                <a:cs typeface="Times New Roman" panose="02020603050405020304" pitchFamily="18" charset="0"/>
              </a:rPr>
              <a:t>Why shift to AI-based scheduling?</a:t>
            </a:r>
          </a:p>
          <a:p>
            <a:pPr lvl="1">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    Traditional scheduling treats all processes equally, ignoring execution patterns.</a:t>
            </a:r>
          </a:p>
          <a:p>
            <a:pPr lvl="1">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    Static priority-based approaches cannot predict future resource needs. </a:t>
            </a:r>
          </a:p>
          <a:p>
            <a:pPr lvl="1">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    AI models can learn from workload behavior and optimize scheduling dynamically.</a:t>
            </a:r>
          </a:p>
          <a:p>
            <a:endParaRPr lang="en-US" dirty="0">
              <a:latin typeface="Times New Roman" panose="02020603050405020304" pitchFamily="18" charset="0"/>
              <a:cs typeface="Times New Roman" panose="02020603050405020304" pitchFamily="18" charset="0"/>
            </a:endParaRPr>
          </a:p>
          <a:p>
            <a:r>
              <a:rPr lang="en-US" b="1" i="1" dirty="0">
                <a:latin typeface="Times New Roman" panose="02020603050405020304" pitchFamily="18" charset="0"/>
                <a:cs typeface="Times New Roman" panose="02020603050405020304" pitchFamily="18" charset="0"/>
              </a:rPr>
              <a:t>Challenges with the Existing Approach</a:t>
            </a:r>
            <a:endParaRPr lang="en-US" dirty="0"/>
          </a:p>
          <a:p>
            <a:pPr marL="742950" lvl="1" indent="-285750">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Fixed CPU allocation rules → No adaptation to workload </a:t>
            </a:r>
            <a:r>
              <a:rPr lang="en-IN" dirty="0" err="1">
                <a:latin typeface="Times New Roman" panose="02020603050405020304" pitchFamily="18" charset="0"/>
                <a:cs typeface="Times New Roman" panose="02020603050405020304" pitchFamily="18" charset="0"/>
              </a:rPr>
              <a:t>paterns</a:t>
            </a:r>
            <a:r>
              <a:rPr lang="en-IN" dirty="0">
                <a:latin typeface="Times New Roman" panose="02020603050405020304" pitchFamily="18" charset="0"/>
                <a:cs typeface="Times New Roman" panose="02020603050405020304" pitchFamily="18" charset="0"/>
              </a:rPr>
              <a:t>.</a:t>
            </a:r>
          </a:p>
          <a:p>
            <a:pPr marL="742950" lvl="1" indent="-285750">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Higher response time for critical applications.</a:t>
            </a:r>
          </a:p>
          <a:p>
            <a:pPr marL="742950" lvl="1" indent="-285750">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Manual tuning required → Not scalable for modern dynamic workloads.</a:t>
            </a:r>
          </a:p>
          <a:p>
            <a:endParaRPr lang="en-IN" dirty="0">
              <a:latin typeface="Times New Roman" panose="02020603050405020304" pitchFamily="18" charset="0"/>
              <a:cs typeface="Times New Roman" panose="02020603050405020304" pitchFamily="18" charset="0"/>
            </a:endParaRPr>
          </a:p>
          <a:p>
            <a:r>
              <a:rPr lang="en-IN" dirty="0">
                <a:latin typeface="Times New Roman" panose="02020603050405020304" pitchFamily="18" charset="0"/>
                <a:cs typeface="Times New Roman" panose="02020603050405020304" pitchFamily="18" charset="0"/>
              </a:rPr>
              <a:t>Thus, a new AI-driven scheduling system is proposed to make Linux scheduling adaptive and intelligent.</a:t>
            </a:r>
          </a:p>
          <a:p>
            <a:endParaRPr lang="en-IN" dirty="0"/>
          </a:p>
        </p:txBody>
      </p:sp>
    </p:spTree>
    <p:extLst>
      <p:ext uri="{BB962C8B-B14F-4D97-AF65-F5344CB8AC3E}">
        <p14:creationId xmlns:p14="http://schemas.microsoft.com/office/powerpoint/2010/main" val="256819676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52;p7">
            <a:extLst>
              <a:ext uri="{FF2B5EF4-FFF2-40B4-BE49-F238E27FC236}">
                <a16:creationId xmlns:a16="http://schemas.microsoft.com/office/drawing/2014/main" id="{53928521-F911-3E8E-6A49-9D0B1E5AEFFE}"/>
              </a:ext>
            </a:extLst>
          </p:cNvPr>
          <p:cNvSpPr/>
          <p:nvPr/>
        </p:nvSpPr>
        <p:spPr>
          <a:xfrm>
            <a:off x="3048000" y="1581150"/>
            <a:ext cx="7620000" cy="36600"/>
          </a:xfrm>
          <a:prstGeom prst="rect">
            <a:avLst/>
          </a:prstGeom>
          <a:solidFill>
            <a:srgbClr val="33CCCC"/>
          </a:solidFill>
          <a:ln>
            <a:noFill/>
          </a:ln>
        </p:spPr>
        <p:txBody>
          <a:bodyPr spcFirstLastPara="1" wrap="square" lIns="91425" tIns="45700" rIns="91425" bIns="45700" anchor="ctr" anchorCtr="0">
            <a:noAutofit/>
          </a:bodyPr>
          <a:lstStyle/>
          <a:p>
            <a:pPr>
              <a:spcBef>
                <a:spcPts val="0"/>
              </a:spcBef>
              <a:spcAft>
                <a:spcPts val="0"/>
              </a:spcAft>
              <a:buClr>
                <a:srgbClr val="000000"/>
              </a:buClr>
              <a:buSzPts val="1800"/>
            </a:pPr>
            <a:endParaRPr>
              <a:solidFill>
                <a:schemeClr val="dk1"/>
              </a:solidFill>
              <a:latin typeface="Arial"/>
              <a:ea typeface="Arial"/>
              <a:cs typeface="Arial"/>
              <a:sym typeface="Arial"/>
            </a:endParaRPr>
          </a:p>
        </p:txBody>
      </p:sp>
      <p:sp>
        <p:nvSpPr>
          <p:cNvPr id="5" name="TextBox 4">
            <a:extLst>
              <a:ext uri="{FF2B5EF4-FFF2-40B4-BE49-F238E27FC236}">
                <a16:creationId xmlns:a16="http://schemas.microsoft.com/office/drawing/2014/main" id="{A6B68A62-41B6-7069-FE5E-566CBD81A8DD}"/>
              </a:ext>
            </a:extLst>
          </p:cNvPr>
          <p:cNvSpPr txBox="1"/>
          <p:nvPr/>
        </p:nvSpPr>
        <p:spPr>
          <a:xfrm>
            <a:off x="4570616" y="1156085"/>
            <a:ext cx="6097384" cy="461665"/>
          </a:xfrm>
          <a:prstGeom prst="rect">
            <a:avLst/>
          </a:prstGeom>
          <a:noFill/>
        </p:spPr>
        <p:txBody>
          <a:bodyPr wrap="square">
            <a:spAutoFit/>
          </a:bodyPr>
          <a:lstStyle/>
          <a:p>
            <a:pPr marL="342900" indent="-342900" algn="r">
              <a:spcBef>
                <a:spcPts val="0"/>
              </a:spcBef>
              <a:spcAft>
                <a:spcPts val="0"/>
              </a:spcAft>
            </a:pPr>
            <a:r>
              <a:rPr lang="en-US" sz="2400" b="1" i="1" dirty="0">
                <a:solidFill>
                  <a:srgbClr val="FF0000"/>
                </a:solidFill>
                <a:latin typeface="Times New Roman" panose="02020603050405020304" pitchFamily="18" charset="0"/>
                <a:ea typeface="Trebuchet MS"/>
                <a:cs typeface="Times New Roman" panose="02020603050405020304" pitchFamily="18" charset="0"/>
                <a:sym typeface="Trebuchet MS"/>
              </a:rPr>
              <a:t>Proposed System / Approach</a:t>
            </a:r>
            <a:endParaRPr lang="en-US" sz="2400" b="1" i="1" dirty="0">
              <a:latin typeface="Times New Roman" panose="02020603050405020304" pitchFamily="18" charset="0"/>
              <a:cs typeface="Times New Roman" panose="02020603050405020304" pitchFamily="18" charset="0"/>
            </a:endParaRPr>
          </a:p>
        </p:txBody>
      </p:sp>
      <p:sp>
        <p:nvSpPr>
          <p:cNvPr id="7" name="TextBox 6">
            <a:extLst>
              <a:ext uri="{FF2B5EF4-FFF2-40B4-BE49-F238E27FC236}">
                <a16:creationId xmlns:a16="http://schemas.microsoft.com/office/drawing/2014/main" id="{B255E3A9-FBDE-BCE2-0B70-55444E06CFF3}"/>
              </a:ext>
            </a:extLst>
          </p:cNvPr>
          <p:cNvSpPr txBox="1"/>
          <p:nvPr/>
        </p:nvSpPr>
        <p:spPr>
          <a:xfrm>
            <a:off x="1631504" y="1844824"/>
            <a:ext cx="9217024" cy="5139869"/>
          </a:xfrm>
          <a:prstGeom prst="rect">
            <a:avLst/>
          </a:prstGeom>
          <a:noFill/>
        </p:spPr>
        <p:txBody>
          <a:bodyPr wrap="square">
            <a:spAutoFit/>
          </a:bodyPr>
          <a:lstStyle/>
          <a:p>
            <a:r>
              <a:rPr lang="en-US" sz="2000" b="1" dirty="0">
                <a:latin typeface="Times New Roman" panose="02020603050405020304" pitchFamily="18" charset="0"/>
                <a:cs typeface="Times New Roman" panose="02020603050405020304" pitchFamily="18" charset="0"/>
              </a:rPr>
              <a:t>New Approach: AI-Powered Scheduling System</a:t>
            </a:r>
          </a:p>
          <a:p>
            <a:endParaRPr lang="en-US" sz="2000" b="1" dirty="0">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1" i="1"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How It Works?</a:t>
            </a:r>
            <a:br>
              <a:rPr kumimoji="0" lang="en-US" altLang="en-US" sz="1800" b="0" i="1"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1) </a:t>
            </a:r>
            <a:r>
              <a:rPr kumimoji="0" lang="en-US" altLang="en-US" sz="1800" b="1" i="1"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User-Space AI Model</a:t>
            </a:r>
          </a:p>
          <a:p>
            <a:pPr lvl="1" eaLnBrk="0" hangingPunct="0">
              <a:buFontTx/>
              <a:buChar char="•"/>
            </a:pPr>
            <a:r>
              <a:rPr kumimoji="0" lang="en-US" altLang="en-US"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Monitors CPU usage, memory, I/O, context switches.</a:t>
            </a:r>
          </a:p>
          <a:p>
            <a:pPr lvl="1" eaLnBrk="0" hangingPunct="0">
              <a:buFontTx/>
              <a:buChar char="•"/>
            </a:pPr>
            <a:r>
              <a:rPr kumimoji="0" lang="en-US" altLang="en-US"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Classifies tasks as Real-Time (RT) or Resource Intensive Task (RIT)</a:t>
            </a:r>
          </a:p>
          <a:p>
            <a:pPr lvl="1" eaLnBrk="0" hangingPunct="0">
              <a:buFontTx/>
              <a:buChar char="•"/>
            </a:pPr>
            <a:r>
              <a:rPr kumimoji="0" lang="en-US" altLang="en-US"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Predicts Smart Time Slice (STS) based on historical workload data.</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2) </a:t>
            </a:r>
            <a:r>
              <a:rPr kumimoji="0" lang="en-US" altLang="en-US" sz="1800" b="1" i="1"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Kernel-Space Scheduler</a:t>
            </a:r>
          </a:p>
          <a:p>
            <a:pPr lvl="1" eaLnBrk="0" hangingPunct="0">
              <a:buFontTx/>
              <a:buChar char="•"/>
            </a:pPr>
            <a:r>
              <a:rPr kumimoji="0" lang="en-US" altLang="en-US"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Receives AI predictions via system calls (</a:t>
            </a:r>
            <a:r>
              <a:rPr kumimoji="0" lang="en-US" altLang="en-US"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sched_setscheduler</a:t>
            </a:r>
            <a:r>
              <a:rPr kumimoji="0" lang="en-US" altLang="en-US"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p>
          <a:p>
            <a:pPr lvl="1" eaLnBrk="0" hangingPunct="0">
              <a:buFontTx/>
              <a:buChar char="•"/>
            </a:pPr>
            <a:r>
              <a:rPr kumimoji="0" lang="en-US" altLang="en-US"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Modifies scheduling decisions by adjusting</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vruntime</a:t>
            </a:r>
            <a:r>
              <a:rPr lang="en-US" altLang="en-US" dirty="0">
                <a:latin typeface="Times New Roman" panose="02020603050405020304" pitchFamily="18" charset="0"/>
                <a:cs typeface="Times New Roman" panose="02020603050405020304" pitchFamily="18" charset="0"/>
              </a:rPr>
              <a:t> dynamically.</a:t>
            </a:r>
            <a:endParaRPr kumimoji="0" lang="en-US" altLang="en-US"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lvl="1" eaLnBrk="0" hangingPunct="0">
              <a:buFontTx/>
              <a:buChar char="•"/>
            </a:pPr>
            <a:r>
              <a:rPr kumimoji="0" lang="en-US" altLang="en-US"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Assigns processes to SCHED_RR (RT) or SCHED_OTHER (BG) based on AI input.</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3) </a:t>
            </a:r>
            <a:r>
              <a:rPr kumimoji="0" lang="en-US" altLang="en-US" sz="1800" b="1" i="1"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Execution &amp; Continuous Learning</a:t>
            </a:r>
          </a:p>
          <a:p>
            <a:pPr marL="742950" lvl="1" indent="-285750" eaLnBrk="0" hangingPunct="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AI model continuously refines scheduling policies based on real-time performance feedback.</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endParaRPr lang="en-US" dirty="0"/>
          </a:p>
          <a:p>
            <a:endParaRPr lang="en-US" dirty="0"/>
          </a:p>
          <a:p>
            <a:endParaRPr lang="en-IN" dirty="0"/>
          </a:p>
        </p:txBody>
      </p:sp>
    </p:spTree>
    <p:extLst>
      <p:ext uri="{BB962C8B-B14F-4D97-AF65-F5344CB8AC3E}">
        <p14:creationId xmlns:p14="http://schemas.microsoft.com/office/powerpoint/2010/main" val="253919105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51"/>
        <p:cNvGrpSpPr/>
        <p:nvPr/>
      </p:nvGrpSpPr>
      <p:grpSpPr>
        <a:xfrm>
          <a:off x="0" y="0"/>
          <a:ext cx="0" cy="0"/>
          <a:chOff x="0" y="0"/>
          <a:chExt cx="0" cy="0"/>
        </a:xfrm>
      </p:grpSpPr>
      <p:sp>
        <p:nvSpPr>
          <p:cNvPr id="52" name="Google Shape;52;p7"/>
          <p:cNvSpPr/>
          <p:nvPr/>
        </p:nvSpPr>
        <p:spPr>
          <a:xfrm>
            <a:off x="3048000" y="1438237"/>
            <a:ext cx="7620000" cy="36600"/>
          </a:xfrm>
          <a:prstGeom prst="rect">
            <a:avLst/>
          </a:prstGeom>
          <a:solidFill>
            <a:srgbClr val="33CCCC"/>
          </a:solidFill>
          <a:ln>
            <a:noFill/>
          </a:ln>
        </p:spPr>
        <p:txBody>
          <a:bodyPr spcFirstLastPara="1" wrap="square" lIns="91425" tIns="45700" rIns="91425" bIns="45700" anchor="ctr" anchorCtr="0">
            <a:noAutofit/>
          </a:bodyPr>
          <a:lstStyle/>
          <a:p>
            <a:pPr>
              <a:spcBef>
                <a:spcPts val="0"/>
              </a:spcBef>
              <a:spcAft>
                <a:spcPts val="0"/>
              </a:spcAft>
              <a:buClr>
                <a:srgbClr val="000000"/>
              </a:buClr>
              <a:buSzPts val="1800"/>
            </a:pPr>
            <a:endParaRPr>
              <a:solidFill>
                <a:schemeClr val="dk1"/>
              </a:solidFill>
              <a:latin typeface="Arial"/>
              <a:ea typeface="Arial"/>
              <a:cs typeface="Arial"/>
              <a:sym typeface="Arial"/>
            </a:endParaRPr>
          </a:p>
        </p:txBody>
      </p:sp>
      <p:sp>
        <p:nvSpPr>
          <p:cNvPr id="53" name="Google Shape;53;p7"/>
          <p:cNvSpPr txBox="1"/>
          <p:nvPr/>
        </p:nvSpPr>
        <p:spPr>
          <a:xfrm>
            <a:off x="2895600" y="1017327"/>
            <a:ext cx="7772400" cy="420910"/>
          </a:xfrm>
          <a:prstGeom prst="rect">
            <a:avLst/>
          </a:prstGeom>
          <a:noFill/>
          <a:ln>
            <a:noFill/>
          </a:ln>
        </p:spPr>
        <p:txBody>
          <a:bodyPr spcFirstLastPara="1" wrap="square" lIns="91425" tIns="45700" rIns="91425" bIns="45700" anchor="t" anchorCtr="0">
            <a:noAutofit/>
          </a:bodyPr>
          <a:lstStyle/>
          <a:p>
            <a:pPr marL="342900" indent="-342900" algn="r">
              <a:spcBef>
                <a:spcPts val="0"/>
              </a:spcBef>
              <a:spcAft>
                <a:spcPts val="0"/>
              </a:spcAft>
            </a:pPr>
            <a:r>
              <a:rPr lang="en-US" sz="2400" b="1" i="1" dirty="0">
                <a:solidFill>
                  <a:srgbClr val="FF0000"/>
                </a:solidFill>
                <a:latin typeface="Times New Roman" panose="02020603050405020304" pitchFamily="18" charset="0"/>
                <a:ea typeface="Trebuchet MS"/>
                <a:cs typeface="Times New Roman" panose="02020603050405020304" pitchFamily="18" charset="0"/>
                <a:sym typeface="Trebuchet MS"/>
              </a:rPr>
              <a:t>Architecture</a:t>
            </a:r>
            <a:endParaRPr lang="en-US" sz="2400" b="1" i="1" dirty="0">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C747BC66-49B4-5287-1FBB-6C3424452EED}"/>
              </a:ext>
            </a:extLst>
          </p:cNvPr>
          <p:cNvSpPr txBox="1"/>
          <p:nvPr/>
        </p:nvSpPr>
        <p:spPr>
          <a:xfrm>
            <a:off x="695400" y="1744559"/>
            <a:ext cx="8784976" cy="369332"/>
          </a:xfrm>
          <a:prstGeom prst="rect">
            <a:avLst/>
          </a:prstGeom>
          <a:noFill/>
        </p:spPr>
        <p:txBody>
          <a:bodyPr wrap="square">
            <a:spAutoFit/>
          </a:bodyPr>
          <a:lstStyle/>
          <a:p>
            <a:r>
              <a:rPr lang="en-IN" b="1" dirty="0">
                <a:latin typeface="Times New Roman" panose="02020603050405020304" pitchFamily="18" charset="0"/>
                <a:cs typeface="Times New Roman" panose="02020603050405020304" pitchFamily="18" charset="0"/>
              </a:rPr>
              <a:t>High-Level System Design</a:t>
            </a:r>
          </a:p>
        </p:txBody>
      </p:sp>
      <p:pic>
        <p:nvPicPr>
          <p:cNvPr id="5" name="Picture 4">
            <a:extLst>
              <a:ext uri="{FF2B5EF4-FFF2-40B4-BE49-F238E27FC236}">
                <a16:creationId xmlns:a16="http://schemas.microsoft.com/office/drawing/2014/main" id="{EB39AEF5-2306-A518-E273-89F840DA773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295800" y="2420213"/>
            <a:ext cx="7772400" cy="2999550"/>
          </a:xfrm>
          <a:prstGeom prst="rect">
            <a:avLst/>
          </a:prstGeom>
        </p:spPr>
      </p:pic>
      <p:sp>
        <p:nvSpPr>
          <p:cNvPr id="2" name="TextBox 1">
            <a:extLst>
              <a:ext uri="{FF2B5EF4-FFF2-40B4-BE49-F238E27FC236}">
                <a16:creationId xmlns:a16="http://schemas.microsoft.com/office/drawing/2014/main" id="{00FB0EC4-A56C-20A2-3DEB-D8C56A1036DB}"/>
              </a:ext>
            </a:extLst>
          </p:cNvPr>
          <p:cNvSpPr txBox="1"/>
          <p:nvPr/>
        </p:nvSpPr>
        <p:spPr>
          <a:xfrm>
            <a:off x="668084" y="2636912"/>
            <a:ext cx="4104456" cy="2893100"/>
          </a:xfrm>
          <a:prstGeom prst="rect">
            <a:avLst/>
          </a:prstGeom>
          <a:noFill/>
        </p:spPr>
        <p:txBody>
          <a:bodyPr wrap="square" rtlCol="0">
            <a:spAutoFit/>
          </a:bodyPr>
          <a:lstStyle/>
          <a:p>
            <a:r>
              <a:rPr lang="en-US" sz="1400" dirty="0"/>
              <a:t>This architecture follows a </a:t>
            </a:r>
            <a:r>
              <a:rPr lang="en-US" sz="1400" b="1" dirty="0"/>
              <a:t>Microkernel-based AI-Assisted Scheduling</a:t>
            </a:r>
            <a:r>
              <a:rPr lang="en-US" sz="1400" dirty="0"/>
              <a:t> approach. The </a:t>
            </a:r>
            <a:r>
              <a:rPr lang="en-US" sz="1400" b="1" dirty="0"/>
              <a:t>AI Model</a:t>
            </a:r>
            <a:r>
              <a:rPr lang="en-US" sz="1400" dirty="0"/>
              <a:t> in user space analyzes the workload of </a:t>
            </a:r>
            <a:r>
              <a:rPr lang="en-US" sz="1400" b="1" dirty="0"/>
              <a:t>Program X</a:t>
            </a:r>
            <a:r>
              <a:rPr lang="en-US" sz="1400" dirty="0"/>
              <a:t> and predicts an optimal </a:t>
            </a:r>
            <a:r>
              <a:rPr lang="en-US" sz="1400" b="1" dirty="0"/>
              <a:t>Smart Time Slice (STS)</a:t>
            </a:r>
            <a:r>
              <a:rPr lang="en-US" sz="1400" dirty="0"/>
              <a:t>. It then makes a </a:t>
            </a:r>
            <a:r>
              <a:rPr lang="en-US" sz="1400" b="1" dirty="0"/>
              <a:t>system call</a:t>
            </a:r>
            <a:r>
              <a:rPr lang="en-US" sz="1400" dirty="0"/>
              <a:t> to the </a:t>
            </a:r>
            <a:r>
              <a:rPr lang="en-US" sz="1400" b="1" dirty="0"/>
              <a:t>Modified Scheduler</a:t>
            </a:r>
            <a:r>
              <a:rPr lang="en-US" sz="1400" dirty="0"/>
              <a:t> in kernel space, which dynamically adjusts CPU allocation based on AI recommendations. The scheduler enforces the AI-determined time slice and assigns CPU cycles accordingly. This approach improves resource efficiency by integrating </a:t>
            </a:r>
            <a:r>
              <a:rPr lang="en-US" sz="1400" b="1" dirty="0"/>
              <a:t>machine learning-based adaptive scheduling</a:t>
            </a:r>
            <a:r>
              <a:rPr lang="en-US" sz="1400" dirty="0"/>
              <a:t> while keeping the kernel minimal and modular.</a:t>
            </a:r>
            <a:endParaRPr lang="en-IN" sz="14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52;p7">
            <a:extLst>
              <a:ext uri="{FF2B5EF4-FFF2-40B4-BE49-F238E27FC236}">
                <a16:creationId xmlns:a16="http://schemas.microsoft.com/office/drawing/2014/main" id="{70EBB3AC-BEFD-DDD9-7428-1046CD05DCD6}"/>
              </a:ext>
            </a:extLst>
          </p:cNvPr>
          <p:cNvSpPr/>
          <p:nvPr/>
        </p:nvSpPr>
        <p:spPr>
          <a:xfrm>
            <a:off x="3048000" y="1448184"/>
            <a:ext cx="7620000" cy="36600"/>
          </a:xfrm>
          <a:prstGeom prst="rect">
            <a:avLst/>
          </a:prstGeom>
          <a:solidFill>
            <a:srgbClr val="33CCCC"/>
          </a:solidFill>
          <a:ln>
            <a:noFill/>
          </a:ln>
        </p:spPr>
        <p:txBody>
          <a:bodyPr spcFirstLastPara="1" wrap="square" lIns="91425" tIns="45700" rIns="91425" bIns="45700" anchor="ctr" anchorCtr="0">
            <a:noAutofit/>
          </a:bodyPr>
          <a:lstStyle/>
          <a:p>
            <a:pPr>
              <a:spcBef>
                <a:spcPts val="0"/>
              </a:spcBef>
              <a:spcAft>
                <a:spcPts val="0"/>
              </a:spcAft>
              <a:buClr>
                <a:srgbClr val="000000"/>
              </a:buClr>
              <a:buSzPts val="1800"/>
            </a:pPr>
            <a:endParaRPr>
              <a:solidFill>
                <a:schemeClr val="dk1"/>
              </a:solidFill>
              <a:latin typeface="Arial"/>
              <a:ea typeface="Arial"/>
              <a:cs typeface="Arial"/>
              <a:sym typeface="Arial"/>
            </a:endParaRPr>
          </a:p>
        </p:txBody>
      </p:sp>
      <p:sp>
        <p:nvSpPr>
          <p:cNvPr id="4" name="TextBox 3">
            <a:extLst>
              <a:ext uri="{FF2B5EF4-FFF2-40B4-BE49-F238E27FC236}">
                <a16:creationId xmlns:a16="http://schemas.microsoft.com/office/drawing/2014/main" id="{E93D1CAC-151B-B59A-2139-77F19A457D12}"/>
              </a:ext>
            </a:extLst>
          </p:cNvPr>
          <p:cNvSpPr txBox="1"/>
          <p:nvPr/>
        </p:nvSpPr>
        <p:spPr>
          <a:xfrm>
            <a:off x="4583330" y="1023119"/>
            <a:ext cx="6097384" cy="461665"/>
          </a:xfrm>
          <a:prstGeom prst="rect">
            <a:avLst/>
          </a:prstGeom>
          <a:noFill/>
        </p:spPr>
        <p:txBody>
          <a:bodyPr wrap="square">
            <a:spAutoFit/>
          </a:bodyPr>
          <a:lstStyle/>
          <a:p>
            <a:pPr marL="342900" indent="-342900" algn="r">
              <a:spcBef>
                <a:spcPts val="0"/>
              </a:spcBef>
              <a:spcAft>
                <a:spcPts val="0"/>
              </a:spcAft>
            </a:pPr>
            <a:r>
              <a:rPr lang="en-US" sz="2400" b="1" i="1" dirty="0">
                <a:solidFill>
                  <a:srgbClr val="FF0000"/>
                </a:solidFill>
                <a:latin typeface="Times New Roman" panose="02020603050405020304" pitchFamily="18" charset="0"/>
                <a:ea typeface="Trebuchet MS"/>
                <a:cs typeface="Times New Roman" panose="02020603050405020304" pitchFamily="18" charset="0"/>
                <a:sym typeface="Trebuchet MS"/>
              </a:rPr>
              <a:t>Architecture</a:t>
            </a:r>
            <a:endParaRPr lang="en-US" sz="2400" b="1" i="1" dirty="0">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E873C7E6-09C5-569A-B68A-EDA6E057205F}"/>
              </a:ext>
            </a:extLst>
          </p:cNvPr>
          <p:cNvSpPr txBox="1"/>
          <p:nvPr/>
        </p:nvSpPr>
        <p:spPr>
          <a:xfrm>
            <a:off x="839416" y="1700808"/>
            <a:ext cx="5400600" cy="4862870"/>
          </a:xfrm>
          <a:prstGeom prst="rect">
            <a:avLst/>
          </a:prstGeom>
          <a:noFill/>
        </p:spPr>
        <p:txBody>
          <a:bodyPr wrap="square">
            <a:spAutoFit/>
          </a:bodyPr>
          <a:lstStyle/>
          <a:p>
            <a:r>
              <a:rPr lang="en-IN" sz="2000" b="1" dirty="0">
                <a:latin typeface="Times New Roman" panose="02020603050405020304" pitchFamily="18" charset="0"/>
                <a:cs typeface="Times New Roman" panose="02020603050405020304" pitchFamily="18" charset="0"/>
              </a:rPr>
              <a:t>Application Components :</a:t>
            </a:r>
          </a:p>
          <a:p>
            <a:endParaRPr lang="en-IN" sz="2000" b="1" dirty="0">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1. </a:t>
            </a:r>
            <a:r>
              <a:rPr kumimoji="0" lang="en-US" altLang="en-US" b="1" i="1"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AI-Based Task Classification &amp; Prediction (User Space)</a:t>
            </a:r>
          </a:p>
          <a:p>
            <a:pPr lvl="1" eaLnBrk="0" hangingPunct="0">
              <a:buFontTx/>
              <a:buChar char="•"/>
            </a:pPr>
            <a:r>
              <a:rPr kumimoji="0" lang="en-US" altLang="en-US"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Collects CPU, memory, I/O, context switch data.</a:t>
            </a:r>
          </a:p>
          <a:p>
            <a:pPr lvl="1" eaLnBrk="0" hangingPunct="0">
              <a:buFontTx/>
              <a:buChar char="•"/>
            </a:pPr>
            <a:r>
              <a:rPr kumimoji="0" lang="en-US" altLang="en-US"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Classifies tasks as Real-Time (RT) or Resource Intensive Task (RIT)</a:t>
            </a:r>
          </a:p>
          <a:p>
            <a:pPr lvl="1" eaLnBrk="0" hangingPunct="0">
              <a:buFontTx/>
              <a:buChar char="•"/>
            </a:pPr>
            <a:r>
              <a:rPr kumimoji="0" lang="en-US" altLang="en-US"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Predicts Smart Time Slice (STS) for efficient execution.</a:t>
            </a:r>
          </a:p>
          <a:p>
            <a:pPr lvl="1" eaLnBrk="0" hangingPunct="0"/>
            <a:endParaRPr kumimoji="0" lang="en-US" altLang="en-US"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2. </a:t>
            </a:r>
            <a:r>
              <a:rPr kumimoji="0" lang="en-US" altLang="en-US" b="1" i="1"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AI-Kernel Communication Module</a:t>
            </a:r>
          </a:p>
          <a:p>
            <a:pPr lvl="1" eaLnBrk="0" hangingPunct="0">
              <a:buFontTx/>
              <a:buChar char="•"/>
            </a:pPr>
            <a:r>
              <a:rPr kumimoji="0" lang="en-US" altLang="en-US"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System Call (</a:t>
            </a:r>
            <a:r>
              <a:rPr kumimoji="0" lang="en-US" altLang="en-US"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sched_setscheduler</a:t>
            </a:r>
            <a:r>
              <a:rPr kumimoji="0" lang="en-US" altLang="en-US"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 Passes AI predictions to the kernel.</a:t>
            </a:r>
          </a:p>
          <a:p>
            <a:pPr lvl="1" eaLnBrk="0" hangingPunct="0">
              <a:buFontTx/>
              <a:buChar char="•"/>
            </a:pPr>
            <a:r>
              <a:rPr kumimoji="0" lang="en-US" altLang="en-US"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Netlink</a:t>
            </a:r>
            <a:r>
              <a:rPr kumimoji="0" lang="en-US" altLang="en-US"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Sockets (Optional) → Ensures efficient data exchange between AI and kernel</a:t>
            </a:r>
            <a:endParaRPr lang="en-IN" dirty="0">
              <a:latin typeface="Times New Roman" panose="02020603050405020304" pitchFamily="18" charset="0"/>
              <a:cs typeface="Times New Roman" panose="02020603050405020304" pitchFamily="18" charset="0"/>
            </a:endParaRPr>
          </a:p>
          <a:p>
            <a:endParaRPr lang="en-IN" dirty="0"/>
          </a:p>
          <a:p>
            <a:endParaRPr lang="en-IN" dirty="0"/>
          </a:p>
        </p:txBody>
      </p:sp>
      <p:sp>
        <p:nvSpPr>
          <p:cNvPr id="8" name="Rectangle 2">
            <a:extLst>
              <a:ext uri="{FF2B5EF4-FFF2-40B4-BE49-F238E27FC236}">
                <a16:creationId xmlns:a16="http://schemas.microsoft.com/office/drawing/2014/main" id="{2CD0104A-820B-0587-1B3C-BFB47CB968A7}"/>
              </a:ext>
            </a:extLst>
          </p:cNvPr>
          <p:cNvSpPr>
            <a:spLocks noChangeArrowheads="1"/>
          </p:cNvSpPr>
          <p:nvPr/>
        </p:nvSpPr>
        <p:spPr bwMode="auto">
          <a:xfrm>
            <a:off x="0" y="-94566"/>
            <a:ext cx="184731"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11" name="TextBox 10">
            <a:extLst>
              <a:ext uri="{FF2B5EF4-FFF2-40B4-BE49-F238E27FC236}">
                <a16:creationId xmlns:a16="http://schemas.microsoft.com/office/drawing/2014/main" id="{B394FD00-A571-8BC1-FC50-EBD91CE388F5}"/>
              </a:ext>
            </a:extLst>
          </p:cNvPr>
          <p:cNvSpPr txBox="1"/>
          <p:nvPr/>
        </p:nvSpPr>
        <p:spPr>
          <a:xfrm>
            <a:off x="6260722" y="2280799"/>
            <a:ext cx="5091862" cy="3416320"/>
          </a:xfrm>
          <a:prstGeom prst="rect">
            <a:avLst/>
          </a:prstGeom>
          <a:no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3. </a:t>
            </a:r>
            <a:r>
              <a:rPr kumimoji="0" lang="en-US" altLang="en-US" b="1" i="1"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AI-Augmented Linux Scheduler (Kernel Space)</a:t>
            </a:r>
          </a:p>
          <a:p>
            <a:pPr lvl="1" eaLnBrk="0" hangingPunct="0">
              <a:buFontTx/>
              <a:buChar char="•"/>
            </a:pPr>
            <a:r>
              <a:rPr kumimoji="0" lang="en-US" altLang="en-US"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Receives AI-based scheduling decisions.</a:t>
            </a:r>
          </a:p>
          <a:p>
            <a:pPr lvl="1" eaLnBrk="0" hangingPunct="0">
              <a:buFontTx/>
              <a:buChar char="•"/>
            </a:pPr>
            <a:r>
              <a:rPr kumimoji="0" lang="en-US" altLang="en-US"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Modifies </a:t>
            </a:r>
            <a:r>
              <a:rPr kumimoji="0" lang="en-US" altLang="en-US"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vruntime</a:t>
            </a:r>
            <a:r>
              <a:rPr kumimoji="0" lang="en-US" altLang="en-US"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dynamically in </a:t>
            </a:r>
            <a:r>
              <a:rPr kumimoji="0" lang="en-US" altLang="en-US"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core.c</a:t>
            </a:r>
            <a:r>
              <a:rPr kumimoji="0" lang="en-US" altLang="en-US"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&amp; </a:t>
            </a:r>
            <a:r>
              <a:rPr kumimoji="0" lang="en-US" altLang="en-US"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fair.c</a:t>
            </a:r>
            <a:r>
              <a:rPr kumimoji="0" lang="en-US" altLang="en-US"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p>
          <a:p>
            <a:pPr lvl="1" eaLnBrk="0" hangingPunct="0">
              <a:buFontTx/>
              <a:buChar char="•"/>
            </a:pPr>
            <a:r>
              <a:rPr kumimoji="0" lang="en-US" altLang="en-US"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Allocates CPU time using SCHED_RR (RT) or SCHED_OTHER (BG).</a:t>
            </a:r>
          </a:p>
          <a:p>
            <a:pPr marL="0" marR="0" lvl="0" indent="0" algn="l" defTabSz="914400" rtl="0" eaLnBrk="0" fontAlgn="base" latinLnBrk="0" hangingPunct="0">
              <a:lnSpc>
                <a:spcPct val="100000"/>
              </a:lnSpc>
              <a:spcBef>
                <a:spcPct val="0"/>
              </a:spcBef>
              <a:spcAft>
                <a:spcPct val="0"/>
              </a:spcAft>
              <a:buClrTx/>
              <a:buSzTx/>
              <a:tabLst/>
            </a:pPr>
            <a:endParaRPr kumimoji="0" lang="en-US" altLang="en-US"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4</a:t>
            </a:r>
            <a:r>
              <a:rPr kumimoji="0" lang="en-US" altLang="en-US" b="1" i="1"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Process Execution &amp; Feedback Loop</a:t>
            </a:r>
          </a:p>
          <a:p>
            <a:pPr lvl="1" eaLnBrk="0" hangingPunct="0">
              <a:buFontTx/>
              <a:buChar char="•"/>
            </a:pPr>
            <a:r>
              <a:rPr kumimoji="0" lang="en-US" altLang="en-US"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CPU executes tasks based on AI-modified scheduling.</a:t>
            </a:r>
          </a:p>
          <a:p>
            <a:pPr lvl="1" eaLnBrk="0" hangingPunct="0">
              <a:buFontTx/>
              <a:buChar char="•"/>
            </a:pPr>
            <a:r>
              <a:rPr kumimoji="0" lang="en-US" altLang="en-US"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Feedback loop ensures continuous AI model training for improved accuracy.</a:t>
            </a:r>
          </a:p>
        </p:txBody>
      </p:sp>
    </p:spTree>
    <p:extLst>
      <p:ext uri="{BB962C8B-B14F-4D97-AF65-F5344CB8AC3E}">
        <p14:creationId xmlns:p14="http://schemas.microsoft.com/office/powerpoint/2010/main" val="41383886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59"/>
        <p:cNvGrpSpPr/>
        <p:nvPr/>
      </p:nvGrpSpPr>
      <p:grpSpPr>
        <a:xfrm>
          <a:off x="0" y="0"/>
          <a:ext cx="0" cy="0"/>
          <a:chOff x="0" y="0"/>
          <a:chExt cx="0" cy="0"/>
        </a:xfrm>
      </p:grpSpPr>
      <p:sp>
        <p:nvSpPr>
          <p:cNvPr id="60" name="Google Shape;60;p8"/>
          <p:cNvSpPr/>
          <p:nvPr/>
        </p:nvSpPr>
        <p:spPr>
          <a:xfrm>
            <a:off x="3143672" y="1352128"/>
            <a:ext cx="7620000" cy="36513"/>
          </a:xfrm>
          <a:prstGeom prst="rect">
            <a:avLst/>
          </a:prstGeom>
          <a:solidFill>
            <a:srgbClr val="33CCCC"/>
          </a:solidFill>
          <a:ln>
            <a:noFill/>
          </a:ln>
        </p:spPr>
        <p:txBody>
          <a:bodyPr spcFirstLastPara="1" wrap="square" lIns="91425" tIns="45700" rIns="91425" bIns="45700" anchor="ctr" anchorCtr="0">
            <a:noAutofit/>
          </a:bodyPr>
          <a:lstStyle/>
          <a:p>
            <a:pPr>
              <a:spcBef>
                <a:spcPts val="0"/>
              </a:spcBef>
              <a:spcAft>
                <a:spcPts val="0"/>
              </a:spcAft>
              <a:buClr>
                <a:srgbClr val="000000"/>
              </a:buClr>
              <a:buSzPts val="1800"/>
            </a:pPr>
            <a:endParaRPr>
              <a:solidFill>
                <a:schemeClr val="dk1"/>
              </a:solidFill>
              <a:latin typeface="Arial"/>
              <a:ea typeface="Arial"/>
              <a:cs typeface="Arial"/>
              <a:sym typeface="Arial"/>
            </a:endParaRPr>
          </a:p>
        </p:txBody>
      </p:sp>
      <p:sp>
        <p:nvSpPr>
          <p:cNvPr id="61" name="Google Shape;61;p8"/>
          <p:cNvSpPr txBox="1"/>
          <p:nvPr/>
        </p:nvSpPr>
        <p:spPr>
          <a:xfrm>
            <a:off x="2992546" y="954547"/>
            <a:ext cx="7772400" cy="461665"/>
          </a:xfrm>
          <a:prstGeom prst="rect">
            <a:avLst/>
          </a:prstGeom>
          <a:noFill/>
          <a:ln>
            <a:noFill/>
          </a:ln>
        </p:spPr>
        <p:txBody>
          <a:bodyPr spcFirstLastPara="1" wrap="square" lIns="91425" tIns="45700" rIns="91425" bIns="45700" anchor="t" anchorCtr="0">
            <a:noAutofit/>
          </a:bodyPr>
          <a:lstStyle/>
          <a:p>
            <a:pPr marL="342900" indent="-342900" algn="r">
              <a:spcBef>
                <a:spcPts val="0"/>
              </a:spcBef>
              <a:spcAft>
                <a:spcPts val="0"/>
              </a:spcAft>
            </a:pPr>
            <a:r>
              <a:rPr lang="en-US" sz="2400" b="1" i="1" dirty="0">
                <a:solidFill>
                  <a:srgbClr val="FF0000"/>
                </a:solidFill>
                <a:latin typeface="Times New Roman" panose="02020603050405020304" pitchFamily="18" charset="0"/>
                <a:ea typeface="Trebuchet MS"/>
                <a:cs typeface="Times New Roman" panose="02020603050405020304" pitchFamily="18" charset="0"/>
                <a:sym typeface="Trebuchet MS"/>
              </a:rPr>
              <a:t>Design Description</a:t>
            </a:r>
            <a:endParaRPr lang="en-US" sz="2400" b="1" i="1" dirty="0">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DCC9859A-61BD-E125-4A72-4AD2D30465B4}"/>
              </a:ext>
            </a:extLst>
          </p:cNvPr>
          <p:cNvSpPr txBox="1"/>
          <p:nvPr/>
        </p:nvSpPr>
        <p:spPr>
          <a:xfrm>
            <a:off x="1919536" y="3228945"/>
            <a:ext cx="6097384" cy="400110"/>
          </a:xfrm>
          <a:prstGeom prst="rect">
            <a:avLst/>
          </a:prstGeom>
          <a:noFill/>
        </p:spPr>
        <p:txBody>
          <a:bodyPr wrap="square">
            <a:spAutoFit/>
          </a:bodyPr>
          <a:lstStyle/>
          <a:p>
            <a:r>
              <a:rPr lang="en-IN" sz="2000" b="1" dirty="0">
                <a:latin typeface="Times New Roman" panose="02020603050405020304" pitchFamily="18" charset="0"/>
                <a:cs typeface="Times New Roman" panose="02020603050405020304" pitchFamily="18" charset="0"/>
              </a:rPr>
              <a:t>Master Class Diagram </a:t>
            </a:r>
          </a:p>
        </p:txBody>
      </p:sp>
      <p:pic>
        <p:nvPicPr>
          <p:cNvPr id="7" name="Picture 6">
            <a:extLst>
              <a:ext uri="{FF2B5EF4-FFF2-40B4-BE49-F238E27FC236}">
                <a16:creationId xmlns:a16="http://schemas.microsoft.com/office/drawing/2014/main" id="{DC05AA57-537D-C418-5CB0-1B8B8DD2D86A}"/>
              </a:ext>
            </a:extLst>
          </p:cNvPr>
          <p:cNvPicPr>
            <a:picLocks noChangeAspect="1"/>
          </p:cNvPicPr>
          <p:nvPr/>
        </p:nvPicPr>
        <p:blipFill>
          <a:blip r:embed="rId3"/>
          <a:stretch>
            <a:fillRect/>
          </a:stretch>
        </p:blipFill>
        <p:spPr>
          <a:xfrm>
            <a:off x="5608897" y="1813793"/>
            <a:ext cx="3727463" cy="4673884"/>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52;p7">
            <a:extLst>
              <a:ext uri="{FF2B5EF4-FFF2-40B4-BE49-F238E27FC236}">
                <a16:creationId xmlns:a16="http://schemas.microsoft.com/office/drawing/2014/main" id="{1BE2748D-3905-D5DB-6024-B9826130A58B}"/>
              </a:ext>
            </a:extLst>
          </p:cNvPr>
          <p:cNvSpPr/>
          <p:nvPr/>
        </p:nvSpPr>
        <p:spPr>
          <a:xfrm>
            <a:off x="3048000" y="1448184"/>
            <a:ext cx="7620000" cy="36600"/>
          </a:xfrm>
          <a:prstGeom prst="rect">
            <a:avLst/>
          </a:prstGeom>
          <a:solidFill>
            <a:srgbClr val="33CCCC"/>
          </a:solidFill>
          <a:ln>
            <a:noFill/>
          </a:ln>
        </p:spPr>
        <p:txBody>
          <a:bodyPr spcFirstLastPara="1" wrap="square" lIns="91425" tIns="45700" rIns="91425" bIns="45700" anchor="ctr" anchorCtr="0">
            <a:noAutofit/>
          </a:bodyPr>
          <a:lstStyle/>
          <a:p>
            <a:pPr>
              <a:spcBef>
                <a:spcPts val="0"/>
              </a:spcBef>
              <a:spcAft>
                <a:spcPts val="0"/>
              </a:spcAft>
              <a:buClr>
                <a:srgbClr val="000000"/>
              </a:buClr>
              <a:buSzPts val="1800"/>
            </a:pPr>
            <a:endParaRPr>
              <a:solidFill>
                <a:schemeClr val="dk1"/>
              </a:solidFill>
              <a:latin typeface="Arial"/>
              <a:ea typeface="Arial"/>
              <a:cs typeface="Arial"/>
              <a:sym typeface="Arial"/>
            </a:endParaRPr>
          </a:p>
        </p:txBody>
      </p:sp>
      <p:sp>
        <p:nvSpPr>
          <p:cNvPr id="4" name="TextBox 3">
            <a:extLst>
              <a:ext uri="{FF2B5EF4-FFF2-40B4-BE49-F238E27FC236}">
                <a16:creationId xmlns:a16="http://schemas.microsoft.com/office/drawing/2014/main" id="{20D56952-EBFE-2173-76D5-5F80E68A77BF}"/>
              </a:ext>
            </a:extLst>
          </p:cNvPr>
          <p:cNvSpPr txBox="1"/>
          <p:nvPr/>
        </p:nvSpPr>
        <p:spPr>
          <a:xfrm>
            <a:off x="4570616" y="1036764"/>
            <a:ext cx="6097384" cy="461665"/>
          </a:xfrm>
          <a:prstGeom prst="rect">
            <a:avLst/>
          </a:prstGeom>
          <a:noFill/>
        </p:spPr>
        <p:txBody>
          <a:bodyPr wrap="square">
            <a:spAutoFit/>
          </a:bodyPr>
          <a:lstStyle/>
          <a:p>
            <a:pPr marL="342900" indent="-342900" algn="r">
              <a:spcBef>
                <a:spcPts val="0"/>
              </a:spcBef>
              <a:spcAft>
                <a:spcPts val="0"/>
              </a:spcAft>
            </a:pPr>
            <a:r>
              <a:rPr lang="en-US" sz="2400" b="1" i="1" dirty="0">
                <a:solidFill>
                  <a:srgbClr val="FF0000"/>
                </a:solidFill>
                <a:latin typeface="Times New Roman" panose="02020603050405020304" pitchFamily="18" charset="0"/>
                <a:ea typeface="Trebuchet MS"/>
                <a:cs typeface="Times New Roman" panose="02020603050405020304" pitchFamily="18" charset="0"/>
                <a:sym typeface="Trebuchet MS"/>
              </a:rPr>
              <a:t>Design Description</a:t>
            </a:r>
            <a:endParaRPr lang="en-US" sz="2400" b="1" i="1" dirty="0">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867F93AB-11CC-89AA-B579-137C8BD68960}"/>
              </a:ext>
            </a:extLst>
          </p:cNvPr>
          <p:cNvSpPr txBox="1"/>
          <p:nvPr/>
        </p:nvSpPr>
        <p:spPr>
          <a:xfrm>
            <a:off x="2279576" y="3454558"/>
            <a:ext cx="6097384" cy="400110"/>
          </a:xfrm>
          <a:prstGeom prst="rect">
            <a:avLst/>
          </a:prstGeom>
          <a:noFill/>
        </p:spPr>
        <p:txBody>
          <a:bodyPr wrap="square">
            <a:spAutoFit/>
          </a:bodyPr>
          <a:lstStyle/>
          <a:p>
            <a:r>
              <a:rPr lang="en-IN" sz="2000" b="1" dirty="0">
                <a:latin typeface="Times New Roman" panose="02020603050405020304" pitchFamily="18" charset="0"/>
                <a:cs typeface="Times New Roman" panose="02020603050405020304" pitchFamily="18" charset="0"/>
              </a:rPr>
              <a:t>Use Case Diagram</a:t>
            </a:r>
          </a:p>
        </p:txBody>
      </p:sp>
      <p:pic>
        <p:nvPicPr>
          <p:cNvPr id="8" name="Picture 7">
            <a:extLst>
              <a:ext uri="{FF2B5EF4-FFF2-40B4-BE49-F238E27FC236}">
                <a16:creationId xmlns:a16="http://schemas.microsoft.com/office/drawing/2014/main" id="{A6C9CF18-21B5-7E28-37DD-E053FB1EC18E}"/>
              </a:ext>
            </a:extLst>
          </p:cNvPr>
          <p:cNvPicPr>
            <a:picLocks noChangeAspect="1"/>
          </p:cNvPicPr>
          <p:nvPr/>
        </p:nvPicPr>
        <p:blipFill>
          <a:blip r:embed="rId2"/>
          <a:stretch>
            <a:fillRect/>
          </a:stretch>
        </p:blipFill>
        <p:spPr>
          <a:xfrm>
            <a:off x="4799856" y="1896204"/>
            <a:ext cx="6314494" cy="4609170"/>
          </a:xfrm>
          <a:prstGeom prst="rect">
            <a:avLst/>
          </a:prstGeom>
        </p:spPr>
      </p:pic>
    </p:spTree>
    <p:extLst>
      <p:ext uri="{BB962C8B-B14F-4D97-AF65-F5344CB8AC3E}">
        <p14:creationId xmlns:p14="http://schemas.microsoft.com/office/powerpoint/2010/main" val="74888831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a:spLocks noChangeArrowheads="1"/>
          </p:cNvSpPr>
          <p:nvPr/>
        </p:nvSpPr>
        <p:spPr bwMode="auto">
          <a:xfrm>
            <a:off x="3048000" y="1581155"/>
            <a:ext cx="7620000" cy="36513"/>
          </a:xfrm>
          <a:prstGeom prst="rect">
            <a:avLst/>
          </a:prstGeom>
          <a:solidFill>
            <a:srgbClr val="33CCCC"/>
          </a:solidFill>
          <a:ln w="9525">
            <a:noFill/>
            <a:miter lim="800000"/>
            <a:headEnd/>
            <a:tailEnd/>
          </a:ln>
        </p:spPr>
        <p:txBody>
          <a:bodyPr wrap="none" anchor="ctr"/>
          <a:lstStyle/>
          <a:p>
            <a:endParaRPr lang="en-US"/>
          </a:p>
        </p:txBody>
      </p:sp>
      <p:sp>
        <p:nvSpPr>
          <p:cNvPr id="3" name="Text Box 34"/>
          <p:cNvSpPr txBox="1">
            <a:spLocks noChangeArrowheads="1"/>
          </p:cNvSpPr>
          <p:nvPr/>
        </p:nvSpPr>
        <p:spPr bwMode="auto">
          <a:xfrm>
            <a:off x="2895600" y="1143002"/>
            <a:ext cx="7772400" cy="461665"/>
          </a:xfrm>
          <a:prstGeom prst="rect">
            <a:avLst/>
          </a:prstGeom>
          <a:noFill/>
          <a:ln w="9525">
            <a:noFill/>
            <a:miter lim="800000"/>
            <a:headEnd/>
            <a:tailEnd/>
          </a:ln>
        </p:spPr>
        <p:txBody>
          <a:bodyPr wrap="square">
            <a:spAutoFit/>
          </a:bodyPr>
          <a:lstStyle/>
          <a:p>
            <a:pPr marL="342891" indent="-342891" algn="r" eaLnBrk="0" hangingPunct="0">
              <a:defRPr/>
            </a:pPr>
            <a:r>
              <a:rPr lang="en-IN" sz="2400" b="1" i="1" dirty="0">
                <a:solidFill>
                  <a:srgbClr val="FF0000"/>
                </a:solidFill>
                <a:latin typeface="Times New Roman" panose="02020603050405020304" pitchFamily="18" charset="0"/>
                <a:cs typeface="Times New Roman" panose="02020603050405020304" pitchFamily="18" charset="0"/>
              </a:rPr>
              <a:t>Capstone Phase-I timeline</a:t>
            </a:r>
            <a:endParaRPr lang="en-US" sz="2400" dirty="0">
              <a:solidFill>
                <a:srgbClr val="FF0000"/>
              </a:solidFill>
              <a:latin typeface="Trebuchet MS" pitchFamily="34" charset="0"/>
            </a:endParaRPr>
          </a:p>
        </p:txBody>
      </p:sp>
      <p:sp>
        <p:nvSpPr>
          <p:cNvPr id="5" name="TextBox 4">
            <a:extLst>
              <a:ext uri="{FF2B5EF4-FFF2-40B4-BE49-F238E27FC236}">
                <a16:creationId xmlns:a16="http://schemas.microsoft.com/office/drawing/2014/main" id="{EBB10B19-4157-41B3-85CA-452455B519DD}"/>
              </a:ext>
            </a:extLst>
          </p:cNvPr>
          <p:cNvSpPr txBox="1"/>
          <p:nvPr/>
        </p:nvSpPr>
        <p:spPr>
          <a:xfrm>
            <a:off x="1991544" y="1603873"/>
            <a:ext cx="8839199" cy="4819781"/>
          </a:xfrm>
          <a:prstGeom prst="rect">
            <a:avLst/>
          </a:prstGeom>
          <a:noFill/>
        </p:spPr>
        <p:txBody>
          <a:bodyPr wrap="square">
            <a:spAutoFit/>
          </a:bodyPr>
          <a:lstStyle/>
          <a:p>
            <a:endParaRPr lang="en-US" sz="1600" b="1" dirty="0">
              <a:latin typeface="Times New Roman" panose="02020603050405020304" pitchFamily="18" charset="0"/>
              <a:cs typeface="Times New Roman" panose="02020603050405020304" pitchFamily="18" charset="0"/>
            </a:endParaRPr>
          </a:p>
          <a:p>
            <a:r>
              <a:rPr lang="en-US" sz="1600" b="1" dirty="0">
                <a:latin typeface="Times New Roman" panose="02020603050405020304" pitchFamily="18" charset="0"/>
                <a:cs typeface="Times New Roman" panose="02020603050405020304" pitchFamily="18" charset="0"/>
              </a:rPr>
              <a:t>Phase-1: Background Study, Problem Formulation, Literature Survey (Semester 5)</a:t>
            </a:r>
          </a:p>
          <a:p>
            <a:r>
              <a:rPr lang="en-US" sz="1600" b="1" dirty="0">
                <a:latin typeface="Times New Roman" panose="02020603050405020304" pitchFamily="18" charset="0"/>
                <a:cs typeface="Times New Roman" panose="02020603050405020304" pitchFamily="18" charset="0"/>
              </a:rPr>
              <a:t>Duration:</a:t>
            </a:r>
            <a:r>
              <a:rPr lang="en-US" sz="1600" dirty="0">
                <a:latin typeface="Times New Roman" panose="02020603050405020304" pitchFamily="18" charset="0"/>
                <a:cs typeface="Times New Roman" panose="02020603050405020304" pitchFamily="18" charset="0"/>
              </a:rPr>
              <a:t> Months 1-4</a:t>
            </a:r>
          </a:p>
          <a:p>
            <a:endParaRPr lang="en-US" sz="1600" dirty="0">
              <a:latin typeface="Times New Roman" panose="02020603050405020304" pitchFamily="18" charset="0"/>
              <a:cs typeface="Times New Roman" panose="02020603050405020304" pitchFamily="18" charset="0"/>
            </a:endParaRPr>
          </a:p>
          <a:p>
            <a:pPr marL="742950" lvl="1" indent="-285750">
              <a:buFont typeface="Wingdings" panose="05000000000000000000" pitchFamily="2" charset="2"/>
              <a:buChar char="§"/>
            </a:pPr>
            <a:r>
              <a:rPr lang="en-US" sz="1600" b="1" dirty="0">
                <a:latin typeface="Times New Roman" panose="02020603050405020304" pitchFamily="18" charset="0"/>
                <a:cs typeface="Times New Roman" panose="02020603050405020304" pitchFamily="18" charset="0"/>
              </a:rPr>
              <a:t>Month 1:</a:t>
            </a:r>
            <a:endParaRPr lang="en-US" sz="1600" dirty="0">
              <a:latin typeface="Times New Roman" panose="02020603050405020304" pitchFamily="18" charset="0"/>
              <a:cs typeface="Times New Roman" panose="02020603050405020304" pitchFamily="18" charset="0"/>
            </a:endParaRPr>
          </a:p>
          <a:p>
            <a:pPr marL="1200150" lvl="2" indent="-285750">
              <a:buFont typeface="Wingdings" panose="05000000000000000000" pitchFamily="2" charset="2"/>
              <a:buChar char="§"/>
            </a:pPr>
            <a:r>
              <a:rPr lang="en-US" sz="1600" dirty="0">
                <a:latin typeface="Times New Roman" panose="02020603050405020304" pitchFamily="18" charset="0"/>
                <a:cs typeface="Times New Roman" panose="02020603050405020304" pitchFamily="18" charset="0"/>
              </a:rPr>
              <a:t>Team formation and role allocation.</a:t>
            </a:r>
          </a:p>
          <a:p>
            <a:pPr marL="1200150" lvl="2" indent="-285750">
              <a:buFont typeface="Wingdings" panose="05000000000000000000" pitchFamily="2" charset="2"/>
              <a:buChar char="§"/>
            </a:pPr>
            <a:r>
              <a:rPr lang="en-US" sz="1600" dirty="0">
                <a:latin typeface="Times New Roman" panose="02020603050405020304" pitchFamily="18" charset="0"/>
                <a:cs typeface="Times New Roman" panose="02020603050405020304" pitchFamily="18" charset="0"/>
              </a:rPr>
              <a:t>Identify areas of interest and domain selection.</a:t>
            </a:r>
          </a:p>
          <a:p>
            <a:pPr marL="1200150" lvl="2" indent="-285750">
              <a:buFont typeface="Wingdings" panose="05000000000000000000" pitchFamily="2" charset="2"/>
              <a:buChar char="§"/>
            </a:pPr>
            <a:r>
              <a:rPr lang="en-US" sz="1600" dirty="0">
                <a:latin typeface="Times New Roman" panose="02020603050405020304" pitchFamily="18" charset="0"/>
                <a:cs typeface="Times New Roman" panose="02020603050405020304" pitchFamily="18" charset="0"/>
              </a:rPr>
              <a:t>Conduct initial brainstorming sessions to define a tentative problem statement.</a:t>
            </a:r>
          </a:p>
          <a:p>
            <a:pPr marL="742950" lvl="1" indent="-285750">
              <a:buFont typeface="Wingdings" panose="05000000000000000000" pitchFamily="2" charset="2"/>
              <a:buChar char="§"/>
            </a:pPr>
            <a:r>
              <a:rPr lang="en-US" sz="1600" b="1" dirty="0">
                <a:latin typeface="Times New Roman" panose="02020603050405020304" pitchFamily="18" charset="0"/>
                <a:cs typeface="Times New Roman" panose="02020603050405020304" pitchFamily="18" charset="0"/>
              </a:rPr>
              <a:t>Month 2:</a:t>
            </a:r>
            <a:endParaRPr lang="en-US" sz="1600" dirty="0">
              <a:latin typeface="Times New Roman" panose="02020603050405020304" pitchFamily="18" charset="0"/>
              <a:cs typeface="Times New Roman" panose="02020603050405020304" pitchFamily="18" charset="0"/>
            </a:endParaRPr>
          </a:p>
          <a:p>
            <a:pPr marL="1200150" lvl="2" indent="-285750">
              <a:buFont typeface="Wingdings" panose="05000000000000000000" pitchFamily="2" charset="2"/>
              <a:buChar char="§"/>
            </a:pPr>
            <a:r>
              <a:rPr lang="en-US" sz="1600" dirty="0">
                <a:latin typeface="Times New Roman" panose="02020603050405020304" pitchFamily="18" charset="0"/>
                <a:cs typeface="Times New Roman" panose="02020603050405020304" pitchFamily="18" charset="0"/>
              </a:rPr>
              <a:t>Perform a detailed background study.</a:t>
            </a:r>
          </a:p>
          <a:p>
            <a:pPr marL="1200150" lvl="2" indent="-285750">
              <a:buFont typeface="Wingdings" panose="05000000000000000000" pitchFamily="2" charset="2"/>
              <a:buChar char="§"/>
            </a:pPr>
            <a:r>
              <a:rPr lang="en-US" sz="1600" dirty="0">
                <a:latin typeface="Times New Roman" panose="02020603050405020304" pitchFamily="18" charset="0"/>
                <a:cs typeface="Times New Roman" panose="02020603050405020304" pitchFamily="18" charset="0"/>
              </a:rPr>
              <a:t>Collect data, identify gaps in existing solutions, and refine the problem statement.</a:t>
            </a:r>
          </a:p>
          <a:p>
            <a:pPr marL="742950" lvl="1" indent="-285750">
              <a:buFont typeface="Wingdings" panose="05000000000000000000" pitchFamily="2" charset="2"/>
              <a:buChar char="§"/>
            </a:pPr>
            <a:r>
              <a:rPr lang="en-US" sz="1600" b="1" dirty="0">
                <a:latin typeface="Times New Roman" panose="02020603050405020304" pitchFamily="18" charset="0"/>
                <a:cs typeface="Times New Roman" panose="02020603050405020304" pitchFamily="18" charset="0"/>
              </a:rPr>
              <a:t>Month 3:</a:t>
            </a:r>
            <a:endParaRPr lang="en-US" sz="1600" dirty="0">
              <a:latin typeface="Times New Roman" panose="02020603050405020304" pitchFamily="18" charset="0"/>
              <a:cs typeface="Times New Roman" panose="02020603050405020304" pitchFamily="18" charset="0"/>
            </a:endParaRPr>
          </a:p>
          <a:p>
            <a:pPr marL="1200150" lvl="2" indent="-285750">
              <a:buFont typeface="Wingdings" panose="05000000000000000000" pitchFamily="2" charset="2"/>
              <a:buChar char="§"/>
            </a:pPr>
            <a:r>
              <a:rPr lang="en-US" sz="1600" dirty="0">
                <a:latin typeface="Times New Roman" panose="02020603050405020304" pitchFamily="18" charset="0"/>
                <a:cs typeface="Times New Roman" panose="02020603050405020304" pitchFamily="18" charset="0"/>
              </a:rPr>
              <a:t>Conduct an extensive literature survey (minimum 10-15 papers).</a:t>
            </a:r>
          </a:p>
          <a:p>
            <a:pPr marL="1200150" lvl="2" indent="-285750">
              <a:buFont typeface="Wingdings" panose="05000000000000000000" pitchFamily="2" charset="2"/>
              <a:buChar char="§"/>
            </a:pPr>
            <a:r>
              <a:rPr lang="en-US" sz="1600" dirty="0">
                <a:latin typeface="Times New Roman" panose="02020603050405020304" pitchFamily="18" charset="0"/>
                <a:cs typeface="Times New Roman" panose="02020603050405020304" pitchFamily="18" charset="0"/>
              </a:rPr>
              <a:t>Analyze related work, existing methodologies, and tools.</a:t>
            </a:r>
          </a:p>
          <a:p>
            <a:pPr marL="742950" lvl="1" indent="-285750">
              <a:buFont typeface="Wingdings" panose="05000000000000000000" pitchFamily="2" charset="2"/>
              <a:buChar char="§"/>
            </a:pPr>
            <a:r>
              <a:rPr lang="en-US" sz="1600" b="1" dirty="0">
                <a:latin typeface="Times New Roman" panose="02020603050405020304" pitchFamily="18" charset="0"/>
                <a:cs typeface="Times New Roman" panose="02020603050405020304" pitchFamily="18" charset="0"/>
              </a:rPr>
              <a:t>Month 4:</a:t>
            </a:r>
            <a:endParaRPr lang="en-US" sz="1600" dirty="0">
              <a:latin typeface="Times New Roman" panose="02020603050405020304" pitchFamily="18" charset="0"/>
              <a:cs typeface="Times New Roman" panose="02020603050405020304" pitchFamily="18" charset="0"/>
            </a:endParaRPr>
          </a:p>
          <a:p>
            <a:pPr marL="1200150" lvl="2" indent="-285750">
              <a:buFont typeface="Wingdings" panose="05000000000000000000" pitchFamily="2" charset="2"/>
              <a:buChar char="§"/>
            </a:pPr>
            <a:r>
              <a:rPr lang="en-US" sz="1600" dirty="0">
                <a:latin typeface="Times New Roman" panose="02020603050405020304" pitchFamily="18" charset="0"/>
                <a:cs typeface="Times New Roman" panose="02020603050405020304" pitchFamily="18" charset="0"/>
              </a:rPr>
              <a:t>Finalize the problem statement.</a:t>
            </a:r>
          </a:p>
          <a:p>
            <a:pPr marL="1200150" lvl="2" indent="-285750">
              <a:buFont typeface="Wingdings" panose="05000000000000000000" pitchFamily="2" charset="2"/>
              <a:buChar char="§"/>
            </a:pPr>
            <a:r>
              <a:rPr lang="en-US" sz="1600" dirty="0">
                <a:latin typeface="Times New Roman" panose="02020603050405020304" pitchFamily="18" charset="0"/>
                <a:cs typeface="Times New Roman" panose="02020603050405020304" pitchFamily="18" charset="0"/>
              </a:rPr>
              <a:t>Submit the report containing the background study, refined problem statement, and literature survey.</a:t>
            </a:r>
          </a:p>
          <a:p>
            <a:pPr marL="342891" indent="12700" algn="just" eaLnBrk="0" hangingPunct="0">
              <a:spcBef>
                <a:spcPct val="20000"/>
              </a:spcBef>
              <a:defRPr/>
            </a:pPr>
            <a:endParaRPr lang="en-IN" sz="1600" kern="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599AD7-84B3-943C-397D-C4E889651612}"/>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A34E9DBA-EFD3-BAFD-9867-56C66D917D85}"/>
              </a:ext>
            </a:extLst>
          </p:cNvPr>
          <p:cNvSpPr>
            <a:spLocks noChangeArrowheads="1"/>
          </p:cNvSpPr>
          <p:nvPr/>
        </p:nvSpPr>
        <p:spPr bwMode="auto">
          <a:xfrm>
            <a:off x="3048000" y="1581155"/>
            <a:ext cx="7620000" cy="36513"/>
          </a:xfrm>
          <a:prstGeom prst="rect">
            <a:avLst/>
          </a:prstGeom>
          <a:solidFill>
            <a:srgbClr val="33CCCC"/>
          </a:solidFill>
          <a:ln w="9525">
            <a:noFill/>
            <a:miter lim="800000"/>
            <a:headEnd/>
            <a:tailEnd/>
          </a:ln>
        </p:spPr>
        <p:txBody>
          <a:bodyPr wrap="none" anchor="ctr"/>
          <a:lstStyle/>
          <a:p>
            <a:endParaRPr lang="en-US"/>
          </a:p>
        </p:txBody>
      </p:sp>
      <p:sp>
        <p:nvSpPr>
          <p:cNvPr id="3" name="Text Box 34">
            <a:extLst>
              <a:ext uri="{FF2B5EF4-FFF2-40B4-BE49-F238E27FC236}">
                <a16:creationId xmlns:a16="http://schemas.microsoft.com/office/drawing/2014/main" id="{55443B9B-D726-2565-2DBE-09DD54F2FD9D}"/>
              </a:ext>
            </a:extLst>
          </p:cNvPr>
          <p:cNvSpPr txBox="1">
            <a:spLocks noChangeArrowheads="1"/>
          </p:cNvSpPr>
          <p:nvPr/>
        </p:nvSpPr>
        <p:spPr bwMode="auto">
          <a:xfrm>
            <a:off x="2895600" y="1143002"/>
            <a:ext cx="7772400" cy="461665"/>
          </a:xfrm>
          <a:prstGeom prst="rect">
            <a:avLst/>
          </a:prstGeom>
          <a:noFill/>
          <a:ln w="9525">
            <a:noFill/>
            <a:miter lim="800000"/>
            <a:headEnd/>
            <a:tailEnd/>
          </a:ln>
        </p:spPr>
        <p:txBody>
          <a:bodyPr wrap="square">
            <a:spAutoFit/>
          </a:bodyPr>
          <a:lstStyle/>
          <a:p>
            <a:pPr marL="342891" indent="-342891" algn="r" eaLnBrk="0" hangingPunct="0">
              <a:defRPr/>
            </a:pPr>
            <a:r>
              <a:rPr lang="en-IN" sz="2400" b="1" i="1" dirty="0">
                <a:solidFill>
                  <a:srgbClr val="FF0000"/>
                </a:solidFill>
                <a:latin typeface="Times New Roman" panose="02020603050405020304" pitchFamily="18" charset="0"/>
                <a:cs typeface="Times New Roman" panose="02020603050405020304" pitchFamily="18" charset="0"/>
              </a:rPr>
              <a:t>Capstone Phase-II timeline</a:t>
            </a:r>
            <a:endParaRPr lang="en-US" sz="2400" dirty="0">
              <a:solidFill>
                <a:srgbClr val="FF0000"/>
              </a:solidFill>
              <a:latin typeface="Trebuchet MS" pitchFamily="34" charset="0"/>
            </a:endParaRPr>
          </a:p>
        </p:txBody>
      </p:sp>
      <p:sp>
        <p:nvSpPr>
          <p:cNvPr id="5" name="TextBox 4">
            <a:extLst>
              <a:ext uri="{FF2B5EF4-FFF2-40B4-BE49-F238E27FC236}">
                <a16:creationId xmlns:a16="http://schemas.microsoft.com/office/drawing/2014/main" id="{3823FA27-ABF5-BB05-1474-EED392F9A528}"/>
              </a:ext>
            </a:extLst>
          </p:cNvPr>
          <p:cNvSpPr txBox="1"/>
          <p:nvPr/>
        </p:nvSpPr>
        <p:spPr>
          <a:xfrm>
            <a:off x="1991544" y="1611378"/>
            <a:ext cx="8839199" cy="3785652"/>
          </a:xfrm>
          <a:prstGeom prst="rect">
            <a:avLst/>
          </a:prstGeom>
          <a:noFill/>
        </p:spPr>
        <p:txBody>
          <a:bodyPr wrap="square">
            <a:spAutoFit/>
          </a:bodyPr>
          <a:lstStyle/>
          <a:p>
            <a:endParaRPr lang="en-US" sz="1600" b="1" dirty="0">
              <a:latin typeface="Times New Roman" panose="02020603050405020304" pitchFamily="18" charset="0"/>
              <a:cs typeface="Times New Roman" panose="02020603050405020304" pitchFamily="18" charset="0"/>
            </a:endParaRPr>
          </a:p>
          <a:p>
            <a:r>
              <a:rPr lang="en-US" sz="1600" b="1" dirty="0">
                <a:latin typeface="Times New Roman" panose="02020603050405020304" pitchFamily="18" charset="0"/>
                <a:cs typeface="Times New Roman" panose="02020603050405020304" pitchFamily="18" charset="0"/>
              </a:rPr>
              <a:t>Phase-2: High-Level Design, Part of Implementation (Semester 6)</a:t>
            </a:r>
          </a:p>
          <a:p>
            <a:r>
              <a:rPr lang="en-US" sz="1600" b="1" dirty="0">
                <a:latin typeface="Times New Roman" panose="02020603050405020304" pitchFamily="18" charset="0"/>
                <a:cs typeface="Times New Roman" panose="02020603050405020304" pitchFamily="18" charset="0"/>
              </a:rPr>
              <a:t>Duration:</a:t>
            </a:r>
            <a:r>
              <a:rPr lang="en-US" sz="1600" dirty="0">
                <a:latin typeface="Times New Roman" panose="02020603050405020304" pitchFamily="18" charset="0"/>
                <a:cs typeface="Times New Roman" panose="02020603050405020304" pitchFamily="18" charset="0"/>
              </a:rPr>
              <a:t> Months 5-8</a:t>
            </a:r>
          </a:p>
          <a:p>
            <a:endParaRPr lang="en-US" sz="1600" dirty="0">
              <a:latin typeface="Times New Roman" panose="02020603050405020304" pitchFamily="18" charset="0"/>
              <a:cs typeface="Times New Roman" panose="02020603050405020304" pitchFamily="18" charset="0"/>
            </a:endParaRPr>
          </a:p>
          <a:p>
            <a:pPr marL="742950" lvl="1" indent="-285750">
              <a:buFont typeface="Wingdings" panose="05000000000000000000" pitchFamily="2" charset="2"/>
              <a:buChar char="§"/>
            </a:pPr>
            <a:r>
              <a:rPr lang="en-US" sz="1600" b="1" dirty="0">
                <a:latin typeface="Times New Roman" panose="02020603050405020304" pitchFamily="18" charset="0"/>
                <a:cs typeface="Times New Roman" panose="02020603050405020304" pitchFamily="18" charset="0"/>
              </a:rPr>
              <a:t>Month 5:</a:t>
            </a:r>
            <a:endParaRPr lang="en-US" sz="1600" dirty="0">
              <a:latin typeface="Times New Roman" panose="02020603050405020304" pitchFamily="18" charset="0"/>
              <a:cs typeface="Times New Roman" panose="02020603050405020304" pitchFamily="18" charset="0"/>
            </a:endParaRPr>
          </a:p>
          <a:p>
            <a:pPr marL="1200150" lvl="2" indent="-285750">
              <a:buFont typeface="Wingdings" panose="05000000000000000000" pitchFamily="2" charset="2"/>
              <a:buChar char="§"/>
            </a:pPr>
            <a:r>
              <a:rPr lang="en-US" sz="1600" dirty="0">
                <a:latin typeface="Times New Roman" panose="02020603050405020304" pitchFamily="18" charset="0"/>
                <a:cs typeface="Times New Roman" panose="02020603050405020304" pitchFamily="18" charset="0"/>
              </a:rPr>
              <a:t>Define system requirements and specifications.</a:t>
            </a:r>
          </a:p>
          <a:p>
            <a:pPr marL="1200150" lvl="2" indent="-285750">
              <a:buFont typeface="Wingdings" panose="05000000000000000000" pitchFamily="2" charset="2"/>
              <a:buChar char="§"/>
            </a:pPr>
            <a:r>
              <a:rPr lang="en-US" sz="1600" dirty="0">
                <a:latin typeface="Times New Roman" panose="02020603050405020304" pitchFamily="18" charset="0"/>
                <a:cs typeface="Times New Roman" panose="02020603050405020304" pitchFamily="18" charset="0"/>
              </a:rPr>
              <a:t>Develop high-level architecture (flowcharts, block diagrams, UML diagrams).</a:t>
            </a:r>
          </a:p>
          <a:p>
            <a:pPr marL="742950" lvl="1" indent="-285750">
              <a:buFont typeface="Wingdings" panose="05000000000000000000" pitchFamily="2" charset="2"/>
              <a:buChar char="§"/>
            </a:pPr>
            <a:r>
              <a:rPr lang="en-US" sz="1600" b="1" dirty="0">
                <a:latin typeface="Times New Roman" panose="02020603050405020304" pitchFamily="18" charset="0"/>
                <a:cs typeface="Times New Roman" panose="02020603050405020304" pitchFamily="18" charset="0"/>
              </a:rPr>
              <a:t>Month 6:</a:t>
            </a:r>
            <a:endParaRPr lang="en-US" sz="1600" dirty="0">
              <a:latin typeface="Times New Roman" panose="02020603050405020304" pitchFamily="18" charset="0"/>
              <a:cs typeface="Times New Roman" panose="02020603050405020304" pitchFamily="18" charset="0"/>
            </a:endParaRPr>
          </a:p>
          <a:p>
            <a:pPr marL="1200150" lvl="2" indent="-285750">
              <a:buFont typeface="Wingdings" panose="05000000000000000000" pitchFamily="2" charset="2"/>
              <a:buChar char="§"/>
            </a:pPr>
            <a:r>
              <a:rPr lang="en-US" sz="1600" dirty="0">
                <a:latin typeface="Times New Roman" panose="02020603050405020304" pitchFamily="18" charset="0"/>
                <a:cs typeface="Times New Roman" panose="02020603050405020304" pitchFamily="18" charset="0"/>
              </a:rPr>
              <a:t>Select tools, frameworks, and platforms for implementation.</a:t>
            </a:r>
          </a:p>
          <a:p>
            <a:pPr marL="1200150" lvl="2" indent="-285750">
              <a:buFont typeface="Wingdings" panose="05000000000000000000" pitchFamily="2" charset="2"/>
              <a:buChar char="§"/>
            </a:pPr>
            <a:r>
              <a:rPr lang="en-US" sz="1600" dirty="0">
                <a:latin typeface="Times New Roman" panose="02020603050405020304" pitchFamily="18" charset="0"/>
                <a:cs typeface="Times New Roman" panose="02020603050405020304" pitchFamily="18" charset="0"/>
              </a:rPr>
              <a:t>Start implementing critical modules (proof of concept).</a:t>
            </a:r>
          </a:p>
          <a:p>
            <a:pPr marL="742950" lvl="1" indent="-285750">
              <a:buFont typeface="Wingdings" panose="05000000000000000000" pitchFamily="2" charset="2"/>
              <a:buChar char="§"/>
            </a:pPr>
            <a:r>
              <a:rPr lang="en-US" sz="1600" b="1" dirty="0">
                <a:latin typeface="Times New Roman" panose="02020603050405020304" pitchFamily="18" charset="0"/>
                <a:cs typeface="Times New Roman" panose="02020603050405020304" pitchFamily="18" charset="0"/>
              </a:rPr>
              <a:t>Month 7:</a:t>
            </a:r>
            <a:endParaRPr lang="en-US" sz="1600" dirty="0">
              <a:latin typeface="Times New Roman" panose="02020603050405020304" pitchFamily="18" charset="0"/>
              <a:cs typeface="Times New Roman" panose="02020603050405020304" pitchFamily="18" charset="0"/>
            </a:endParaRPr>
          </a:p>
          <a:p>
            <a:pPr marL="1200150" lvl="2" indent="-285750">
              <a:buFont typeface="Wingdings" panose="05000000000000000000" pitchFamily="2" charset="2"/>
              <a:buChar char="§"/>
            </a:pPr>
            <a:r>
              <a:rPr lang="en-US" sz="1600" dirty="0">
                <a:latin typeface="Times New Roman" panose="02020603050405020304" pitchFamily="18" charset="0"/>
                <a:cs typeface="Times New Roman" panose="02020603050405020304" pitchFamily="18" charset="0"/>
              </a:rPr>
              <a:t>Conduct initial testing of implemented modules.</a:t>
            </a:r>
          </a:p>
          <a:p>
            <a:pPr marL="1200150" lvl="2" indent="-285750">
              <a:buFont typeface="Wingdings" panose="05000000000000000000" pitchFamily="2" charset="2"/>
              <a:buChar char="§"/>
            </a:pPr>
            <a:r>
              <a:rPr lang="en-US" sz="1600" dirty="0">
                <a:latin typeface="Times New Roman" panose="02020603050405020304" pitchFamily="18" charset="0"/>
                <a:cs typeface="Times New Roman" panose="02020603050405020304" pitchFamily="18" charset="0"/>
              </a:rPr>
              <a:t>Review design and implementation progress.</a:t>
            </a:r>
          </a:p>
          <a:p>
            <a:pPr marL="742950" lvl="1" indent="-285750">
              <a:buFont typeface="Wingdings" panose="05000000000000000000" pitchFamily="2" charset="2"/>
              <a:buChar char="§"/>
            </a:pPr>
            <a:r>
              <a:rPr lang="en-US" sz="1600" b="1" dirty="0">
                <a:latin typeface="Times New Roman" panose="02020603050405020304" pitchFamily="18" charset="0"/>
                <a:cs typeface="Times New Roman" panose="02020603050405020304" pitchFamily="18" charset="0"/>
              </a:rPr>
              <a:t>Month 8:</a:t>
            </a:r>
            <a:endParaRPr lang="en-US" sz="1600" dirty="0">
              <a:latin typeface="Times New Roman" panose="02020603050405020304" pitchFamily="18" charset="0"/>
              <a:cs typeface="Times New Roman" panose="02020603050405020304" pitchFamily="18" charset="0"/>
            </a:endParaRPr>
          </a:p>
          <a:p>
            <a:pPr marL="1200150" lvl="2" indent="-285750">
              <a:buFont typeface="Wingdings" panose="05000000000000000000" pitchFamily="2" charset="2"/>
              <a:buChar char="§"/>
            </a:pPr>
            <a:r>
              <a:rPr lang="en-US" sz="1600" dirty="0">
                <a:latin typeface="Times New Roman" panose="02020603050405020304" pitchFamily="18" charset="0"/>
                <a:cs typeface="Times New Roman" panose="02020603050405020304" pitchFamily="18" charset="0"/>
              </a:rPr>
              <a:t>Submit a progress report with high-level design and partial implementation details.</a:t>
            </a:r>
          </a:p>
        </p:txBody>
      </p:sp>
    </p:spTree>
    <p:extLst>
      <p:ext uri="{BB962C8B-B14F-4D97-AF65-F5344CB8AC3E}">
        <p14:creationId xmlns:p14="http://schemas.microsoft.com/office/powerpoint/2010/main" val="224752359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8B34A9-6121-C2C3-4E87-39CBCB95FB84}"/>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D3A637CD-F222-9357-0E2C-8D7F3DD26980}"/>
              </a:ext>
            </a:extLst>
          </p:cNvPr>
          <p:cNvSpPr>
            <a:spLocks noChangeArrowheads="1"/>
          </p:cNvSpPr>
          <p:nvPr/>
        </p:nvSpPr>
        <p:spPr bwMode="auto">
          <a:xfrm>
            <a:off x="3048000" y="1581155"/>
            <a:ext cx="7620000" cy="36513"/>
          </a:xfrm>
          <a:prstGeom prst="rect">
            <a:avLst/>
          </a:prstGeom>
          <a:solidFill>
            <a:srgbClr val="33CCCC"/>
          </a:solidFill>
          <a:ln w="9525">
            <a:noFill/>
            <a:miter lim="800000"/>
            <a:headEnd/>
            <a:tailEnd/>
          </a:ln>
        </p:spPr>
        <p:txBody>
          <a:bodyPr wrap="none" anchor="ctr"/>
          <a:lstStyle/>
          <a:p>
            <a:endParaRPr lang="en-US"/>
          </a:p>
        </p:txBody>
      </p:sp>
      <p:sp>
        <p:nvSpPr>
          <p:cNvPr id="3" name="Text Box 34">
            <a:extLst>
              <a:ext uri="{FF2B5EF4-FFF2-40B4-BE49-F238E27FC236}">
                <a16:creationId xmlns:a16="http://schemas.microsoft.com/office/drawing/2014/main" id="{C63871AE-AA72-6BBC-FE27-90D3CD773844}"/>
              </a:ext>
            </a:extLst>
          </p:cNvPr>
          <p:cNvSpPr txBox="1">
            <a:spLocks noChangeArrowheads="1"/>
          </p:cNvSpPr>
          <p:nvPr/>
        </p:nvSpPr>
        <p:spPr bwMode="auto">
          <a:xfrm>
            <a:off x="2895600" y="1143002"/>
            <a:ext cx="7772400" cy="461665"/>
          </a:xfrm>
          <a:prstGeom prst="rect">
            <a:avLst/>
          </a:prstGeom>
          <a:noFill/>
          <a:ln w="9525">
            <a:noFill/>
            <a:miter lim="800000"/>
            <a:headEnd/>
            <a:tailEnd/>
          </a:ln>
        </p:spPr>
        <p:txBody>
          <a:bodyPr wrap="square">
            <a:spAutoFit/>
          </a:bodyPr>
          <a:lstStyle/>
          <a:p>
            <a:pPr marL="342891" indent="-342891" algn="r" eaLnBrk="0" hangingPunct="0">
              <a:defRPr/>
            </a:pPr>
            <a:r>
              <a:rPr lang="en-IN" sz="2400" b="1" i="1" dirty="0">
                <a:solidFill>
                  <a:srgbClr val="FF0000"/>
                </a:solidFill>
                <a:latin typeface="Times New Roman" panose="02020603050405020304" pitchFamily="18" charset="0"/>
                <a:cs typeface="Times New Roman" panose="02020603050405020304" pitchFamily="18" charset="0"/>
              </a:rPr>
              <a:t>Capstone Phase-III timeline</a:t>
            </a:r>
            <a:endParaRPr lang="en-US" sz="2400" dirty="0">
              <a:solidFill>
                <a:srgbClr val="FF0000"/>
              </a:solidFill>
              <a:latin typeface="Trebuchet MS" pitchFamily="34" charset="0"/>
            </a:endParaRPr>
          </a:p>
        </p:txBody>
      </p:sp>
      <p:sp>
        <p:nvSpPr>
          <p:cNvPr id="5" name="TextBox 4">
            <a:extLst>
              <a:ext uri="{FF2B5EF4-FFF2-40B4-BE49-F238E27FC236}">
                <a16:creationId xmlns:a16="http://schemas.microsoft.com/office/drawing/2014/main" id="{A6285438-EC1E-4186-30EE-42132C8C7987}"/>
              </a:ext>
            </a:extLst>
          </p:cNvPr>
          <p:cNvSpPr txBox="1"/>
          <p:nvPr/>
        </p:nvSpPr>
        <p:spPr>
          <a:xfrm>
            <a:off x="1991544" y="1603873"/>
            <a:ext cx="8839199" cy="4031873"/>
          </a:xfrm>
          <a:prstGeom prst="rect">
            <a:avLst/>
          </a:prstGeom>
          <a:noFill/>
        </p:spPr>
        <p:txBody>
          <a:bodyPr wrap="square">
            <a:spAutoFit/>
          </a:bodyPr>
          <a:lstStyle/>
          <a:p>
            <a:endParaRPr lang="en-US" sz="1600" b="1" dirty="0">
              <a:latin typeface="Times New Roman" panose="02020603050405020304" pitchFamily="18" charset="0"/>
              <a:cs typeface="Times New Roman" panose="02020603050405020304" pitchFamily="18" charset="0"/>
            </a:endParaRPr>
          </a:p>
          <a:p>
            <a:r>
              <a:rPr lang="en-US" sz="1600" b="1" dirty="0">
                <a:latin typeface="Times New Roman" panose="02020603050405020304" pitchFamily="18" charset="0"/>
                <a:cs typeface="Times New Roman" panose="02020603050405020304" pitchFamily="18" charset="0"/>
              </a:rPr>
              <a:t>Phase-3: Low-Level Design, Complete Implementation, Draft Paper (Semester 7)</a:t>
            </a:r>
          </a:p>
          <a:p>
            <a:r>
              <a:rPr lang="en-US" sz="1600" b="1" dirty="0">
                <a:latin typeface="Times New Roman" panose="02020603050405020304" pitchFamily="18" charset="0"/>
                <a:cs typeface="Times New Roman" panose="02020603050405020304" pitchFamily="18" charset="0"/>
              </a:rPr>
              <a:t>Duration:</a:t>
            </a:r>
            <a:r>
              <a:rPr lang="en-US" sz="1600" dirty="0">
                <a:latin typeface="Times New Roman" panose="02020603050405020304" pitchFamily="18" charset="0"/>
                <a:cs typeface="Times New Roman" panose="02020603050405020304" pitchFamily="18" charset="0"/>
              </a:rPr>
              <a:t> Months 9-12</a:t>
            </a:r>
          </a:p>
          <a:p>
            <a:endParaRPr lang="en-US" sz="1600" dirty="0">
              <a:latin typeface="Times New Roman" panose="02020603050405020304" pitchFamily="18" charset="0"/>
              <a:cs typeface="Times New Roman" panose="02020603050405020304" pitchFamily="18" charset="0"/>
            </a:endParaRPr>
          </a:p>
          <a:p>
            <a:pPr marL="742950" lvl="1" indent="-285750">
              <a:buFont typeface="Wingdings" panose="05000000000000000000" pitchFamily="2" charset="2"/>
              <a:buChar char="§"/>
            </a:pPr>
            <a:r>
              <a:rPr lang="en-US" sz="1600" b="1" dirty="0">
                <a:latin typeface="Times New Roman" panose="02020603050405020304" pitchFamily="18" charset="0"/>
                <a:cs typeface="Times New Roman" panose="02020603050405020304" pitchFamily="18" charset="0"/>
              </a:rPr>
              <a:t>Month 9:</a:t>
            </a:r>
            <a:endParaRPr lang="en-US" sz="1600" dirty="0">
              <a:latin typeface="Times New Roman" panose="02020603050405020304" pitchFamily="18" charset="0"/>
              <a:cs typeface="Times New Roman" panose="02020603050405020304" pitchFamily="18" charset="0"/>
            </a:endParaRPr>
          </a:p>
          <a:p>
            <a:pPr marL="1200150" lvl="2" indent="-285750">
              <a:buFont typeface="Wingdings" panose="05000000000000000000" pitchFamily="2" charset="2"/>
              <a:buChar char="§"/>
            </a:pPr>
            <a:r>
              <a:rPr lang="en-US" sz="1600" dirty="0">
                <a:latin typeface="Times New Roman" panose="02020603050405020304" pitchFamily="18" charset="0"/>
                <a:cs typeface="Times New Roman" panose="02020603050405020304" pitchFamily="18" charset="0"/>
              </a:rPr>
              <a:t>Develop low-level designs (detailed workflows, module-level diagrams).</a:t>
            </a:r>
          </a:p>
          <a:p>
            <a:pPr marL="1200150" lvl="2" indent="-285750">
              <a:buFont typeface="Wingdings" panose="05000000000000000000" pitchFamily="2" charset="2"/>
              <a:buChar char="§"/>
            </a:pPr>
            <a:r>
              <a:rPr lang="en-US" sz="1600" dirty="0">
                <a:latin typeface="Times New Roman" panose="02020603050405020304" pitchFamily="18" charset="0"/>
                <a:cs typeface="Times New Roman" panose="02020603050405020304" pitchFamily="18" charset="0"/>
              </a:rPr>
              <a:t>Begin integrating all system modules.</a:t>
            </a:r>
          </a:p>
          <a:p>
            <a:pPr marL="742950" lvl="1" indent="-285750">
              <a:buFont typeface="Wingdings" panose="05000000000000000000" pitchFamily="2" charset="2"/>
              <a:buChar char="§"/>
            </a:pPr>
            <a:r>
              <a:rPr lang="en-US" sz="1600" b="1" dirty="0">
                <a:latin typeface="Times New Roman" panose="02020603050405020304" pitchFamily="18" charset="0"/>
                <a:cs typeface="Times New Roman" panose="02020603050405020304" pitchFamily="18" charset="0"/>
              </a:rPr>
              <a:t>Month 10:</a:t>
            </a:r>
            <a:endParaRPr lang="en-US" sz="1600" dirty="0">
              <a:latin typeface="Times New Roman" panose="02020603050405020304" pitchFamily="18" charset="0"/>
              <a:cs typeface="Times New Roman" panose="02020603050405020304" pitchFamily="18" charset="0"/>
            </a:endParaRPr>
          </a:p>
          <a:p>
            <a:pPr marL="1200150" lvl="2" indent="-285750">
              <a:buFont typeface="Wingdings" panose="05000000000000000000" pitchFamily="2" charset="2"/>
              <a:buChar char="§"/>
            </a:pPr>
            <a:r>
              <a:rPr lang="en-US" sz="1600" dirty="0">
                <a:latin typeface="Times New Roman" panose="02020603050405020304" pitchFamily="18" charset="0"/>
                <a:cs typeface="Times New Roman" panose="02020603050405020304" pitchFamily="18" charset="0"/>
              </a:rPr>
              <a:t>Complete system implementation.</a:t>
            </a:r>
          </a:p>
          <a:p>
            <a:pPr marL="1200150" lvl="2" indent="-285750">
              <a:buFont typeface="Wingdings" panose="05000000000000000000" pitchFamily="2" charset="2"/>
              <a:buChar char="§"/>
            </a:pPr>
            <a:r>
              <a:rPr lang="en-US" sz="1600" dirty="0">
                <a:latin typeface="Times New Roman" panose="02020603050405020304" pitchFamily="18" charset="0"/>
                <a:cs typeface="Times New Roman" panose="02020603050405020304" pitchFamily="18" charset="0"/>
              </a:rPr>
              <a:t>Perform system-level testing and debugging.</a:t>
            </a:r>
          </a:p>
          <a:p>
            <a:pPr marL="742950" lvl="1" indent="-285750">
              <a:buFont typeface="Wingdings" panose="05000000000000000000" pitchFamily="2" charset="2"/>
              <a:buChar char="§"/>
            </a:pPr>
            <a:r>
              <a:rPr lang="en-US" sz="1600" b="1" dirty="0">
                <a:latin typeface="Times New Roman" panose="02020603050405020304" pitchFamily="18" charset="0"/>
                <a:cs typeface="Times New Roman" panose="02020603050405020304" pitchFamily="18" charset="0"/>
              </a:rPr>
              <a:t>Month 11:</a:t>
            </a:r>
            <a:endParaRPr lang="en-US" sz="1600" dirty="0">
              <a:latin typeface="Times New Roman" panose="02020603050405020304" pitchFamily="18" charset="0"/>
              <a:cs typeface="Times New Roman" panose="02020603050405020304" pitchFamily="18" charset="0"/>
            </a:endParaRPr>
          </a:p>
          <a:p>
            <a:pPr marL="1200150" lvl="2" indent="-285750">
              <a:buFont typeface="Wingdings" panose="05000000000000000000" pitchFamily="2" charset="2"/>
              <a:buChar char="§"/>
            </a:pPr>
            <a:r>
              <a:rPr lang="en-US" sz="1600" dirty="0">
                <a:latin typeface="Times New Roman" panose="02020603050405020304" pitchFamily="18" charset="0"/>
                <a:cs typeface="Times New Roman" panose="02020603050405020304" pitchFamily="18" charset="0"/>
              </a:rPr>
              <a:t>Analyze results and compare them with existing solutions.</a:t>
            </a:r>
          </a:p>
          <a:p>
            <a:pPr marL="1200150" lvl="2" indent="-285750">
              <a:buFont typeface="Wingdings" panose="05000000000000000000" pitchFamily="2" charset="2"/>
              <a:buChar char="§"/>
            </a:pPr>
            <a:r>
              <a:rPr lang="en-US" sz="1600" dirty="0">
                <a:latin typeface="Times New Roman" panose="02020603050405020304" pitchFamily="18" charset="0"/>
                <a:cs typeface="Times New Roman" panose="02020603050405020304" pitchFamily="18" charset="0"/>
              </a:rPr>
              <a:t>Draft a research paper outlining the methodology, implementation, and results.</a:t>
            </a:r>
          </a:p>
          <a:p>
            <a:pPr marL="742950" lvl="1" indent="-285750">
              <a:buFont typeface="Wingdings" panose="05000000000000000000" pitchFamily="2" charset="2"/>
              <a:buChar char="§"/>
            </a:pPr>
            <a:r>
              <a:rPr lang="en-US" sz="1600" b="1" dirty="0">
                <a:latin typeface="Times New Roman" panose="02020603050405020304" pitchFamily="18" charset="0"/>
                <a:cs typeface="Times New Roman" panose="02020603050405020304" pitchFamily="18" charset="0"/>
              </a:rPr>
              <a:t>Month 12:</a:t>
            </a:r>
            <a:endParaRPr lang="en-US" sz="1600" dirty="0">
              <a:latin typeface="Times New Roman" panose="02020603050405020304" pitchFamily="18" charset="0"/>
              <a:cs typeface="Times New Roman" panose="02020603050405020304" pitchFamily="18" charset="0"/>
            </a:endParaRPr>
          </a:p>
          <a:p>
            <a:pPr marL="1200150" lvl="2" indent="-285750">
              <a:buFont typeface="Wingdings" panose="05000000000000000000" pitchFamily="2" charset="2"/>
              <a:buChar char="§"/>
            </a:pPr>
            <a:r>
              <a:rPr lang="en-US" sz="1600" dirty="0">
                <a:latin typeface="Times New Roman" panose="02020603050405020304" pitchFamily="18" charset="0"/>
                <a:cs typeface="Times New Roman" panose="02020603050405020304" pitchFamily="18" charset="0"/>
              </a:rPr>
              <a:t>Submit a comprehensive report with low-level designs, full implementation, and the paper draft.</a:t>
            </a:r>
          </a:p>
        </p:txBody>
      </p:sp>
    </p:spTree>
    <p:extLst>
      <p:ext uri="{BB962C8B-B14F-4D97-AF65-F5344CB8AC3E}">
        <p14:creationId xmlns:p14="http://schemas.microsoft.com/office/powerpoint/2010/main" val="205014530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04A074-D1B0-AFC9-2302-90D07B92B5E1}"/>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22E07338-32E0-C2CE-301C-206B3E2C7A3A}"/>
              </a:ext>
            </a:extLst>
          </p:cNvPr>
          <p:cNvSpPr>
            <a:spLocks noChangeArrowheads="1"/>
          </p:cNvSpPr>
          <p:nvPr/>
        </p:nvSpPr>
        <p:spPr bwMode="auto">
          <a:xfrm>
            <a:off x="3048000" y="1581155"/>
            <a:ext cx="7620000" cy="36513"/>
          </a:xfrm>
          <a:prstGeom prst="rect">
            <a:avLst/>
          </a:prstGeom>
          <a:solidFill>
            <a:srgbClr val="33CCCC"/>
          </a:solidFill>
          <a:ln w="9525">
            <a:noFill/>
            <a:miter lim="800000"/>
            <a:headEnd/>
            <a:tailEnd/>
          </a:ln>
        </p:spPr>
        <p:txBody>
          <a:bodyPr wrap="none" anchor="ctr"/>
          <a:lstStyle/>
          <a:p>
            <a:endParaRPr lang="en-US"/>
          </a:p>
        </p:txBody>
      </p:sp>
      <p:sp>
        <p:nvSpPr>
          <p:cNvPr id="3" name="Text Box 34">
            <a:extLst>
              <a:ext uri="{FF2B5EF4-FFF2-40B4-BE49-F238E27FC236}">
                <a16:creationId xmlns:a16="http://schemas.microsoft.com/office/drawing/2014/main" id="{CB275949-50A0-5AE2-8DF2-1EF55613BE8B}"/>
              </a:ext>
            </a:extLst>
          </p:cNvPr>
          <p:cNvSpPr txBox="1">
            <a:spLocks noChangeArrowheads="1"/>
          </p:cNvSpPr>
          <p:nvPr/>
        </p:nvSpPr>
        <p:spPr bwMode="auto">
          <a:xfrm>
            <a:off x="2895600" y="1143002"/>
            <a:ext cx="7772400" cy="461665"/>
          </a:xfrm>
          <a:prstGeom prst="rect">
            <a:avLst/>
          </a:prstGeom>
          <a:noFill/>
          <a:ln w="9525">
            <a:noFill/>
            <a:miter lim="800000"/>
            <a:headEnd/>
            <a:tailEnd/>
          </a:ln>
        </p:spPr>
        <p:txBody>
          <a:bodyPr wrap="square">
            <a:spAutoFit/>
          </a:bodyPr>
          <a:lstStyle/>
          <a:p>
            <a:pPr marL="342891" indent="-342891" algn="r" eaLnBrk="0" hangingPunct="0">
              <a:defRPr/>
            </a:pPr>
            <a:r>
              <a:rPr lang="en-IN" sz="2400" b="1" i="1" dirty="0">
                <a:solidFill>
                  <a:srgbClr val="FF0000"/>
                </a:solidFill>
                <a:latin typeface="Times New Roman" panose="02020603050405020304" pitchFamily="18" charset="0"/>
                <a:cs typeface="Times New Roman" panose="02020603050405020304" pitchFamily="18" charset="0"/>
              </a:rPr>
              <a:t>Capstone Phase-IV timeline</a:t>
            </a:r>
            <a:endParaRPr lang="en-US" sz="2400" dirty="0">
              <a:solidFill>
                <a:srgbClr val="FF0000"/>
              </a:solidFill>
              <a:latin typeface="Trebuchet MS" pitchFamily="34" charset="0"/>
            </a:endParaRPr>
          </a:p>
        </p:txBody>
      </p:sp>
      <p:sp>
        <p:nvSpPr>
          <p:cNvPr id="5" name="TextBox 4">
            <a:extLst>
              <a:ext uri="{FF2B5EF4-FFF2-40B4-BE49-F238E27FC236}">
                <a16:creationId xmlns:a16="http://schemas.microsoft.com/office/drawing/2014/main" id="{713312D8-AF3C-6BB2-FBB6-86C91DB82A85}"/>
              </a:ext>
            </a:extLst>
          </p:cNvPr>
          <p:cNvSpPr txBox="1"/>
          <p:nvPr/>
        </p:nvSpPr>
        <p:spPr>
          <a:xfrm>
            <a:off x="2009329" y="1617668"/>
            <a:ext cx="8839199" cy="4031873"/>
          </a:xfrm>
          <a:prstGeom prst="rect">
            <a:avLst/>
          </a:prstGeom>
          <a:noFill/>
        </p:spPr>
        <p:txBody>
          <a:bodyPr wrap="square">
            <a:spAutoFit/>
          </a:bodyPr>
          <a:lstStyle/>
          <a:p>
            <a:endParaRPr lang="en-US" sz="1600" b="1" dirty="0">
              <a:latin typeface="Times New Roman" panose="02020603050405020304" pitchFamily="18" charset="0"/>
              <a:cs typeface="Times New Roman" panose="02020603050405020304" pitchFamily="18" charset="0"/>
            </a:endParaRPr>
          </a:p>
          <a:p>
            <a:r>
              <a:rPr lang="en-US" sz="1600" b="1" dirty="0">
                <a:latin typeface="Times New Roman" panose="02020603050405020304" pitchFamily="18" charset="0"/>
                <a:cs typeface="Times New Roman" panose="02020603050405020304" pitchFamily="18" charset="0"/>
              </a:rPr>
              <a:t>Phase-4: Paper Publication (Semester 8)</a:t>
            </a:r>
          </a:p>
          <a:p>
            <a:r>
              <a:rPr lang="en-US" sz="1600" b="1" dirty="0">
                <a:latin typeface="Times New Roman" panose="02020603050405020304" pitchFamily="18" charset="0"/>
                <a:cs typeface="Times New Roman" panose="02020603050405020304" pitchFamily="18" charset="0"/>
              </a:rPr>
              <a:t>Duration:</a:t>
            </a:r>
            <a:r>
              <a:rPr lang="en-US" sz="1600" dirty="0">
                <a:latin typeface="Times New Roman" panose="02020603050405020304" pitchFamily="18" charset="0"/>
                <a:cs typeface="Times New Roman" panose="02020603050405020304" pitchFamily="18" charset="0"/>
              </a:rPr>
              <a:t> Months 13-16</a:t>
            </a:r>
          </a:p>
          <a:p>
            <a:endParaRPr lang="en-US" sz="1600" dirty="0">
              <a:latin typeface="Times New Roman" panose="02020603050405020304" pitchFamily="18" charset="0"/>
              <a:cs typeface="Times New Roman" panose="02020603050405020304" pitchFamily="18" charset="0"/>
            </a:endParaRPr>
          </a:p>
          <a:p>
            <a:pPr marL="742950" lvl="1" indent="-285750">
              <a:buFont typeface="Wingdings" panose="05000000000000000000" pitchFamily="2" charset="2"/>
              <a:buChar char="§"/>
            </a:pPr>
            <a:r>
              <a:rPr lang="en-US" sz="1600" b="1" dirty="0">
                <a:latin typeface="Times New Roman" panose="02020603050405020304" pitchFamily="18" charset="0"/>
                <a:cs typeface="Times New Roman" panose="02020603050405020304" pitchFamily="18" charset="0"/>
              </a:rPr>
              <a:t>Month 13:</a:t>
            </a:r>
            <a:endParaRPr lang="en-US" sz="1600" dirty="0">
              <a:latin typeface="Times New Roman" panose="02020603050405020304" pitchFamily="18" charset="0"/>
              <a:cs typeface="Times New Roman" panose="02020603050405020304" pitchFamily="18" charset="0"/>
            </a:endParaRPr>
          </a:p>
          <a:p>
            <a:pPr marL="1200150" lvl="2" indent="-285750">
              <a:buFont typeface="Wingdings" panose="05000000000000000000" pitchFamily="2" charset="2"/>
              <a:buChar char="§"/>
            </a:pPr>
            <a:r>
              <a:rPr lang="en-US" sz="1600" dirty="0">
                <a:latin typeface="Times New Roman" panose="02020603050405020304" pitchFamily="18" charset="0"/>
                <a:cs typeface="Times New Roman" panose="02020603050405020304" pitchFamily="18" charset="0"/>
              </a:rPr>
              <a:t>Finalize the research paper (align with Scopus/Web of Science/UGC guidelines).</a:t>
            </a:r>
          </a:p>
          <a:p>
            <a:pPr marL="1200150" lvl="2" indent="-285750">
              <a:buFont typeface="Wingdings" panose="05000000000000000000" pitchFamily="2" charset="2"/>
              <a:buChar char="§"/>
            </a:pPr>
            <a:r>
              <a:rPr lang="en-US" sz="1600" dirty="0">
                <a:latin typeface="Times New Roman" panose="02020603050405020304" pitchFamily="18" charset="0"/>
                <a:cs typeface="Times New Roman" panose="02020603050405020304" pitchFamily="18" charset="0"/>
              </a:rPr>
              <a:t>Perform a thorough review, incorporating mentor feedback.</a:t>
            </a:r>
          </a:p>
          <a:p>
            <a:pPr marL="742950" lvl="1" indent="-285750">
              <a:buFont typeface="Wingdings" panose="05000000000000000000" pitchFamily="2" charset="2"/>
              <a:buChar char="§"/>
            </a:pPr>
            <a:r>
              <a:rPr lang="en-US" sz="1600" b="1" dirty="0">
                <a:latin typeface="Times New Roman" panose="02020603050405020304" pitchFamily="18" charset="0"/>
                <a:cs typeface="Times New Roman" panose="02020603050405020304" pitchFamily="18" charset="0"/>
              </a:rPr>
              <a:t>Month 14:</a:t>
            </a:r>
            <a:endParaRPr lang="en-US" sz="1600" dirty="0">
              <a:latin typeface="Times New Roman" panose="02020603050405020304" pitchFamily="18" charset="0"/>
              <a:cs typeface="Times New Roman" panose="02020603050405020304" pitchFamily="18" charset="0"/>
            </a:endParaRPr>
          </a:p>
          <a:p>
            <a:pPr marL="1200150" lvl="2" indent="-285750">
              <a:buFont typeface="Wingdings" panose="05000000000000000000" pitchFamily="2" charset="2"/>
              <a:buChar char="§"/>
            </a:pPr>
            <a:r>
              <a:rPr lang="en-US" sz="1600" dirty="0">
                <a:latin typeface="Times New Roman" panose="02020603050405020304" pitchFamily="18" charset="0"/>
                <a:cs typeface="Times New Roman" panose="02020603050405020304" pitchFamily="18" charset="0"/>
              </a:rPr>
              <a:t>Submit the paper to selected journals or conferences.</a:t>
            </a:r>
          </a:p>
          <a:p>
            <a:pPr marL="1200150" lvl="2" indent="-285750">
              <a:buFont typeface="Wingdings" panose="05000000000000000000" pitchFamily="2" charset="2"/>
              <a:buChar char="§"/>
            </a:pPr>
            <a:r>
              <a:rPr lang="en-US" sz="1600" dirty="0">
                <a:latin typeface="Times New Roman" panose="02020603050405020304" pitchFamily="18" charset="0"/>
                <a:cs typeface="Times New Roman" panose="02020603050405020304" pitchFamily="18" charset="0"/>
              </a:rPr>
              <a:t>Begin preparing the final capstone project presentation.</a:t>
            </a:r>
          </a:p>
          <a:p>
            <a:pPr marL="742950" lvl="1" indent="-285750">
              <a:buFont typeface="Wingdings" panose="05000000000000000000" pitchFamily="2" charset="2"/>
              <a:buChar char="§"/>
            </a:pPr>
            <a:r>
              <a:rPr lang="en-US" sz="1600" b="1" dirty="0">
                <a:latin typeface="Times New Roman" panose="02020603050405020304" pitchFamily="18" charset="0"/>
                <a:cs typeface="Times New Roman" panose="02020603050405020304" pitchFamily="18" charset="0"/>
              </a:rPr>
              <a:t>Month 15:</a:t>
            </a:r>
            <a:endParaRPr lang="en-US" sz="1600" dirty="0">
              <a:latin typeface="Times New Roman" panose="02020603050405020304" pitchFamily="18" charset="0"/>
              <a:cs typeface="Times New Roman" panose="02020603050405020304" pitchFamily="18" charset="0"/>
            </a:endParaRPr>
          </a:p>
          <a:p>
            <a:pPr marL="1200150" lvl="2" indent="-285750">
              <a:buFont typeface="Wingdings" panose="05000000000000000000" pitchFamily="2" charset="2"/>
              <a:buChar char="§"/>
            </a:pPr>
            <a:r>
              <a:rPr lang="en-US" sz="1600" dirty="0">
                <a:latin typeface="Times New Roman" panose="02020603050405020304" pitchFamily="18" charset="0"/>
                <a:cs typeface="Times New Roman" panose="02020603050405020304" pitchFamily="18" charset="0"/>
              </a:rPr>
              <a:t>Await feedback from the journal. Address reviewer comments if required.</a:t>
            </a:r>
          </a:p>
          <a:p>
            <a:pPr marL="1200150" lvl="2" indent="-285750">
              <a:buFont typeface="Wingdings" panose="05000000000000000000" pitchFamily="2" charset="2"/>
              <a:buChar char="§"/>
            </a:pPr>
            <a:r>
              <a:rPr lang="en-US" sz="1600" dirty="0">
                <a:latin typeface="Times New Roman" panose="02020603050405020304" pitchFamily="18" charset="0"/>
                <a:cs typeface="Times New Roman" panose="02020603050405020304" pitchFamily="18" charset="0"/>
              </a:rPr>
              <a:t>Fine-tune the project report and presentation.</a:t>
            </a:r>
          </a:p>
          <a:p>
            <a:pPr marL="742950" lvl="1" indent="-285750">
              <a:buFont typeface="Wingdings" panose="05000000000000000000" pitchFamily="2" charset="2"/>
              <a:buChar char="§"/>
            </a:pPr>
            <a:r>
              <a:rPr lang="en-US" sz="1600" b="1" dirty="0">
                <a:latin typeface="Times New Roman" panose="02020603050405020304" pitchFamily="18" charset="0"/>
                <a:cs typeface="Times New Roman" panose="02020603050405020304" pitchFamily="18" charset="0"/>
              </a:rPr>
              <a:t>Month 16:</a:t>
            </a:r>
            <a:endParaRPr lang="en-US" sz="1600" dirty="0">
              <a:latin typeface="Times New Roman" panose="02020603050405020304" pitchFamily="18" charset="0"/>
              <a:cs typeface="Times New Roman" panose="02020603050405020304" pitchFamily="18" charset="0"/>
            </a:endParaRPr>
          </a:p>
          <a:p>
            <a:pPr marL="1200150" lvl="2" indent="-285750">
              <a:buFont typeface="Wingdings" panose="05000000000000000000" pitchFamily="2" charset="2"/>
              <a:buChar char="§"/>
            </a:pPr>
            <a:r>
              <a:rPr lang="en-US" sz="1600" dirty="0">
                <a:latin typeface="Times New Roman" panose="02020603050405020304" pitchFamily="18" charset="0"/>
                <a:cs typeface="Times New Roman" panose="02020603050405020304" pitchFamily="18" charset="0"/>
              </a:rPr>
              <a:t>Publish the paper upon acceptance.</a:t>
            </a:r>
          </a:p>
          <a:p>
            <a:pPr marL="1200150" lvl="2" indent="-285750">
              <a:buFont typeface="Wingdings" panose="05000000000000000000" pitchFamily="2" charset="2"/>
              <a:buChar char="§"/>
            </a:pPr>
            <a:r>
              <a:rPr lang="en-US" sz="1600" dirty="0">
                <a:latin typeface="Times New Roman" panose="02020603050405020304" pitchFamily="18" charset="0"/>
                <a:cs typeface="Times New Roman" panose="02020603050405020304" pitchFamily="18" charset="0"/>
              </a:rPr>
              <a:t>Deliver the final project presentation and submit the complete documentation.</a:t>
            </a:r>
          </a:p>
        </p:txBody>
      </p:sp>
    </p:spTree>
    <p:extLst>
      <p:ext uri="{BB962C8B-B14F-4D97-AF65-F5344CB8AC3E}">
        <p14:creationId xmlns:p14="http://schemas.microsoft.com/office/powerpoint/2010/main" val="273022082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a:spLocks noChangeArrowheads="1"/>
          </p:cNvSpPr>
          <p:nvPr/>
        </p:nvSpPr>
        <p:spPr bwMode="auto">
          <a:xfrm>
            <a:off x="3048000" y="1412776"/>
            <a:ext cx="7620000" cy="36513"/>
          </a:xfrm>
          <a:prstGeom prst="rect">
            <a:avLst/>
          </a:prstGeom>
          <a:solidFill>
            <a:srgbClr val="33CCCC"/>
          </a:solidFill>
          <a:ln w="9525">
            <a:noFill/>
            <a:miter lim="800000"/>
            <a:headEnd/>
            <a:tailEnd/>
          </a:ln>
        </p:spPr>
        <p:txBody>
          <a:bodyPr wrap="none" anchor="ctr"/>
          <a:lstStyle/>
          <a:p>
            <a:endParaRPr lang="en-US"/>
          </a:p>
        </p:txBody>
      </p:sp>
      <p:sp>
        <p:nvSpPr>
          <p:cNvPr id="3" name="Text Box 34"/>
          <p:cNvSpPr txBox="1">
            <a:spLocks noChangeArrowheads="1"/>
          </p:cNvSpPr>
          <p:nvPr/>
        </p:nvSpPr>
        <p:spPr bwMode="auto">
          <a:xfrm>
            <a:off x="2895600" y="951111"/>
            <a:ext cx="7772400" cy="461665"/>
          </a:xfrm>
          <a:prstGeom prst="rect">
            <a:avLst/>
          </a:prstGeom>
          <a:noFill/>
          <a:ln w="9525">
            <a:noFill/>
            <a:miter lim="800000"/>
            <a:headEnd/>
            <a:tailEnd/>
          </a:ln>
        </p:spPr>
        <p:txBody>
          <a:bodyPr wrap="square">
            <a:spAutoFit/>
          </a:bodyPr>
          <a:lstStyle/>
          <a:p>
            <a:pPr marL="342900" indent="-342900" algn="r" eaLnBrk="0" hangingPunct="0">
              <a:spcBef>
                <a:spcPts val="0"/>
              </a:spcBef>
              <a:spcAft>
                <a:spcPts val="0"/>
              </a:spcAft>
              <a:defRPr/>
            </a:pPr>
            <a:r>
              <a:rPr lang="en-IN" sz="2400" b="1" i="1" dirty="0">
                <a:solidFill>
                  <a:srgbClr val="FF0000"/>
                </a:solidFill>
                <a:latin typeface="Times New Roman" panose="02020603050405020304" pitchFamily="18" charset="0"/>
                <a:cs typeface="Times New Roman" panose="02020603050405020304" pitchFamily="18" charset="0"/>
              </a:rPr>
              <a:t>Conclusion</a:t>
            </a:r>
            <a:endParaRPr lang="en-US" sz="2400" b="1" i="1" dirty="0">
              <a:solidFill>
                <a:srgbClr val="FF0000"/>
              </a:solidFill>
              <a:latin typeface="Times New Roman" panose="02020603050405020304" pitchFamily="18" charset="0"/>
              <a:cs typeface="Times New Roman" panose="02020603050405020304" pitchFamily="18" charset="0"/>
            </a:endParaRPr>
          </a:p>
        </p:txBody>
      </p:sp>
      <p:sp>
        <p:nvSpPr>
          <p:cNvPr id="8" name="TextBox 7">
            <a:extLst>
              <a:ext uri="{FF2B5EF4-FFF2-40B4-BE49-F238E27FC236}">
                <a16:creationId xmlns:a16="http://schemas.microsoft.com/office/drawing/2014/main" id="{AFDCAF3A-9D66-8659-080D-0FC9FA49E5E1}"/>
              </a:ext>
            </a:extLst>
          </p:cNvPr>
          <p:cNvSpPr txBox="1"/>
          <p:nvPr/>
        </p:nvSpPr>
        <p:spPr>
          <a:xfrm>
            <a:off x="659396" y="1556792"/>
            <a:ext cx="10873208" cy="4924425"/>
          </a:xfrm>
          <a:prstGeom prst="rect">
            <a:avLst/>
          </a:prstGeom>
          <a:noFill/>
        </p:spPr>
        <p:txBody>
          <a:bodyPr wrap="square">
            <a:spAutoFit/>
          </a:bodyPr>
          <a:lstStyle/>
          <a:p>
            <a:r>
              <a:rPr lang="en-US" b="1" i="1" dirty="0">
                <a:latin typeface="Times New Roman" panose="02020603050405020304" pitchFamily="18" charset="0"/>
                <a:cs typeface="Times New Roman" panose="02020603050405020304" pitchFamily="18" charset="0"/>
              </a:rPr>
              <a:t>Summing Up:</a:t>
            </a:r>
          </a:p>
          <a:p>
            <a:r>
              <a:rPr lang="en-US" sz="1600" dirty="0">
                <a:latin typeface="Times New Roman" panose="02020603050405020304" pitchFamily="18" charset="0"/>
                <a:cs typeface="Times New Roman" panose="02020603050405020304" pitchFamily="18" charset="0"/>
              </a:rPr>
              <a:t>The AVIOS project integrates AI into the Linux kernel to enhance task scheduling and system performance, making operating systems smarter and more adaptive to dynamic workloads.</a:t>
            </a:r>
          </a:p>
          <a:p>
            <a:endParaRPr lang="en-US" sz="1600" dirty="0">
              <a:latin typeface="Times New Roman" panose="02020603050405020304" pitchFamily="18" charset="0"/>
              <a:cs typeface="Times New Roman" panose="02020603050405020304" pitchFamily="18" charset="0"/>
            </a:endParaRPr>
          </a:p>
          <a:p>
            <a:r>
              <a:rPr lang="en-US" b="1" i="1" dirty="0">
                <a:latin typeface="Times New Roman" panose="02020603050405020304" pitchFamily="18" charset="0"/>
                <a:cs typeface="Times New Roman" panose="02020603050405020304" pitchFamily="18" charset="0"/>
              </a:rPr>
              <a:t>Project Highlights:</a:t>
            </a:r>
          </a:p>
          <a:p>
            <a:pPr lvl="1">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AI-driven task scheduling optimizes CPU usage and reduces context switching overhead.</a:t>
            </a:r>
          </a:p>
          <a:p>
            <a:pPr lvl="1">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Built on the Linux kernel, leveraging TensorFlow, </a:t>
            </a:r>
            <a:r>
              <a:rPr lang="en-US" sz="1600" dirty="0" err="1">
                <a:latin typeface="Times New Roman" panose="02020603050405020304" pitchFamily="18" charset="0"/>
                <a:cs typeface="Times New Roman" panose="02020603050405020304" pitchFamily="18" charset="0"/>
              </a:rPr>
              <a:t>PyTorch</a:t>
            </a:r>
            <a:r>
              <a:rPr lang="en-US" sz="1600" dirty="0">
                <a:latin typeface="Times New Roman" panose="02020603050405020304" pitchFamily="18" charset="0"/>
                <a:cs typeface="Times New Roman" panose="02020603050405020304" pitchFamily="18" charset="0"/>
              </a:rPr>
              <a:t>, and other modern technologies for seamless integration.</a:t>
            </a:r>
          </a:p>
          <a:p>
            <a:pPr lvl="1"/>
            <a:endParaRPr lang="en-US" sz="1600" dirty="0">
              <a:latin typeface="Times New Roman" panose="02020603050405020304" pitchFamily="18" charset="0"/>
              <a:cs typeface="Times New Roman" panose="02020603050405020304" pitchFamily="18" charset="0"/>
            </a:endParaRPr>
          </a:p>
          <a:p>
            <a:r>
              <a:rPr lang="en-US" b="1" i="1" dirty="0">
                <a:latin typeface="Times New Roman" panose="02020603050405020304" pitchFamily="18" charset="0"/>
                <a:cs typeface="Times New Roman" panose="02020603050405020304" pitchFamily="18" charset="0"/>
              </a:rPr>
              <a:t>Future Prospects:</a:t>
            </a:r>
          </a:p>
          <a:p>
            <a:pPr lvl="1">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Potential to create a custom AI-optimized kernel for even more efficient task allocation.</a:t>
            </a:r>
          </a:p>
          <a:p>
            <a:pPr lvl="1">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Expansion into real-time threat mitigation and adaptive resource scaling for better system performance.</a:t>
            </a:r>
          </a:p>
          <a:p>
            <a:pPr lvl="1"/>
            <a:endParaRPr lang="en-US" sz="1600" dirty="0">
              <a:latin typeface="Times New Roman" panose="02020603050405020304" pitchFamily="18" charset="0"/>
              <a:cs typeface="Times New Roman" panose="02020603050405020304" pitchFamily="18" charset="0"/>
            </a:endParaRPr>
          </a:p>
          <a:p>
            <a:r>
              <a:rPr lang="en-US" b="1" i="1" dirty="0">
                <a:latin typeface="Times New Roman" panose="02020603050405020304" pitchFamily="18" charset="0"/>
                <a:cs typeface="Times New Roman" panose="02020603050405020304" pitchFamily="18" charset="0"/>
              </a:rPr>
              <a:t>Team Commitment:</a:t>
            </a:r>
          </a:p>
          <a:p>
            <a:r>
              <a:rPr lang="en-US" sz="1600" dirty="0">
                <a:latin typeface="Times New Roman" panose="02020603050405020304" pitchFamily="18" charset="0"/>
                <a:cs typeface="Times New Roman" panose="02020603050405020304" pitchFamily="18" charset="0"/>
              </a:rPr>
              <a:t>The team is focused on overcoming challenges in scalability, computational overhead, and real-time       integration to deliver a robust and efficient system.</a:t>
            </a:r>
          </a:p>
          <a:p>
            <a:endParaRPr lang="en-US" sz="1600" dirty="0">
              <a:latin typeface="Times New Roman" panose="02020603050405020304" pitchFamily="18" charset="0"/>
              <a:cs typeface="Times New Roman" panose="02020603050405020304" pitchFamily="18" charset="0"/>
            </a:endParaRPr>
          </a:p>
          <a:p>
            <a:r>
              <a:rPr lang="en-US" b="1" i="1" dirty="0">
                <a:latin typeface="Times New Roman" panose="02020603050405020304" pitchFamily="18" charset="0"/>
                <a:cs typeface="Times New Roman" panose="02020603050405020304" pitchFamily="18" charset="0"/>
              </a:rPr>
              <a:t>Final Note:</a:t>
            </a:r>
          </a:p>
          <a:p>
            <a:r>
              <a:rPr lang="en-US" sz="1600" dirty="0">
                <a:latin typeface="Times New Roman" panose="02020603050405020304" pitchFamily="18" charset="0"/>
                <a:cs typeface="Times New Roman" panose="02020603050405020304" pitchFamily="18" charset="0"/>
              </a:rPr>
              <a:t>AVIOS marks a significant step toward next-generation operating systems, prioritizing smarter security and dynamic resource management.</a:t>
            </a:r>
          </a:p>
        </p:txBody>
      </p:sp>
    </p:spTree>
    <p:extLst>
      <p:ext uri="{BB962C8B-B14F-4D97-AF65-F5344CB8AC3E}">
        <p14:creationId xmlns:p14="http://schemas.microsoft.com/office/powerpoint/2010/main" val="151502755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a:spLocks noChangeArrowheads="1"/>
          </p:cNvSpPr>
          <p:nvPr/>
        </p:nvSpPr>
        <p:spPr bwMode="auto">
          <a:xfrm>
            <a:off x="3048000" y="1346041"/>
            <a:ext cx="7620000" cy="36513"/>
          </a:xfrm>
          <a:prstGeom prst="rect">
            <a:avLst/>
          </a:prstGeom>
          <a:solidFill>
            <a:srgbClr val="33CCCC"/>
          </a:solidFill>
          <a:ln w="9525">
            <a:noFill/>
            <a:miter lim="800000"/>
            <a:headEnd/>
            <a:tailEnd/>
          </a:ln>
        </p:spPr>
        <p:txBody>
          <a:bodyPr wrap="none" anchor="ctr"/>
          <a:lstStyle/>
          <a:p>
            <a:endParaRPr lang="en-US"/>
          </a:p>
        </p:txBody>
      </p:sp>
      <p:sp>
        <p:nvSpPr>
          <p:cNvPr id="13" name="Text Box 34"/>
          <p:cNvSpPr txBox="1">
            <a:spLocks noChangeArrowheads="1"/>
          </p:cNvSpPr>
          <p:nvPr/>
        </p:nvSpPr>
        <p:spPr bwMode="auto">
          <a:xfrm>
            <a:off x="2895600" y="935290"/>
            <a:ext cx="7772400" cy="461665"/>
          </a:xfrm>
          <a:prstGeom prst="rect">
            <a:avLst/>
          </a:prstGeom>
          <a:noFill/>
          <a:ln w="9525">
            <a:noFill/>
            <a:miter lim="800000"/>
            <a:headEnd/>
            <a:tailEnd/>
          </a:ln>
        </p:spPr>
        <p:txBody>
          <a:bodyPr wrap="square">
            <a:spAutoFit/>
          </a:bodyPr>
          <a:lstStyle/>
          <a:p>
            <a:pPr marL="342891" indent="-342891" algn="r" eaLnBrk="0" hangingPunct="0">
              <a:defRPr/>
            </a:pPr>
            <a:r>
              <a:rPr lang="en-US" sz="2400" b="1" i="1" dirty="0">
                <a:solidFill>
                  <a:srgbClr val="FF0000"/>
                </a:solidFill>
                <a:latin typeface="Times New Roman" panose="02020603050405020304" pitchFamily="18" charset="0"/>
                <a:cs typeface="Times New Roman" panose="02020603050405020304" pitchFamily="18" charset="0"/>
              </a:rPr>
              <a:t>References</a:t>
            </a:r>
          </a:p>
        </p:txBody>
      </p:sp>
      <p:sp>
        <p:nvSpPr>
          <p:cNvPr id="6" name="Content Placeholder 2"/>
          <p:cNvSpPr txBox="1">
            <a:spLocks/>
          </p:cNvSpPr>
          <p:nvPr/>
        </p:nvSpPr>
        <p:spPr>
          <a:xfrm>
            <a:off x="1828800" y="1828800"/>
            <a:ext cx="8458200" cy="4724400"/>
          </a:xfrm>
          <a:prstGeom prst="rect">
            <a:avLst/>
          </a:prstGeom>
        </p:spPr>
        <p:txBody>
          <a:bodyPr/>
          <a:lstStyle/>
          <a:p>
            <a:pPr marL="342900" indent="-342900" eaLnBrk="0" hangingPunct="0">
              <a:spcBef>
                <a:spcPct val="20000"/>
              </a:spcBef>
              <a:defRPr/>
            </a:pPr>
            <a:endParaRPr lang="en-IN" sz="1100" kern="0" dirty="0">
              <a:latin typeface="Times New Roman" panose="02020603050405020304" pitchFamily="18" charset="0"/>
              <a:cs typeface="Times New Roman" panose="02020603050405020304" pitchFamily="18" charset="0"/>
            </a:endParaRPr>
          </a:p>
        </p:txBody>
      </p:sp>
      <p:sp>
        <p:nvSpPr>
          <p:cNvPr id="3" name="Rectangle 2">
            <a:extLst>
              <a:ext uri="{FF2B5EF4-FFF2-40B4-BE49-F238E27FC236}">
                <a16:creationId xmlns:a16="http://schemas.microsoft.com/office/drawing/2014/main" id="{06690C7C-F060-F141-CE1E-1F43765DFF7D}"/>
              </a:ext>
            </a:extLst>
          </p:cNvPr>
          <p:cNvSpPr>
            <a:spLocks noChangeArrowheads="1"/>
          </p:cNvSpPr>
          <p:nvPr/>
        </p:nvSpPr>
        <p:spPr bwMode="auto">
          <a:xfrm>
            <a:off x="983432" y="1630361"/>
            <a:ext cx="5328592" cy="38164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28600" marR="0" lvl="0" indent="-22860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US" altLang="en-US" sz="11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Hongjiu</a:t>
            </a:r>
            <a:r>
              <a:rPr kumimoji="0" lang="en-US" altLang="en-US" sz="11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Lu, </a:t>
            </a:r>
            <a:r>
              <a:rPr kumimoji="0" lang="en-US" altLang="en-US" sz="1100" b="0" i="1"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ELF: From the Programmer’s Perspective</a:t>
            </a:r>
            <a:r>
              <a:rPr kumimoji="0" lang="en-US" altLang="en-US" sz="11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Technical Report, NYNEX Science and Technology, 500 Westchester Avenue, White Plains, NY 10604, USA, May 1995.</a:t>
            </a:r>
          </a:p>
          <a:p>
            <a:pPr marL="228600" marR="0" lvl="0" indent="-22860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US" altLang="en-US" sz="11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Aivazian</a:t>
            </a:r>
            <a:r>
              <a:rPr kumimoji="0" lang="en-US" altLang="en-US" sz="11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Tigran, </a:t>
            </a:r>
            <a:r>
              <a:rPr kumimoji="0" lang="en-US" altLang="en-US" sz="1100" b="0" i="1"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Linux Kernel 2.4 Internals</a:t>
            </a:r>
            <a:r>
              <a:rPr kumimoji="0" lang="en-US" altLang="en-US" sz="11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The Linux Documentation Project, August 2002.</a:t>
            </a:r>
          </a:p>
          <a:p>
            <a:pPr marL="228600" marR="0" lvl="0" indent="-22860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US" altLang="en-US" sz="11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Maurice Bach, </a:t>
            </a:r>
            <a:r>
              <a:rPr kumimoji="0" lang="en-US" altLang="en-US" sz="1100" b="0" i="1"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 Design of the Unix Operating System</a:t>
            </a:r>
            <a:r>
              <a:rPr kumimoji="0" lang="en-US" altLang="en-US" sz="11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Pearson Education Asia, pp. 159-170, 2002.</a:t>
            </a:r>
          </a:p>
          <a:p>
            <a:pPr marL="228600" marR="0" lvl="0" indent="-22860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US" altLang="en-US" sz="11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Fredrik </a:t>
            </a:r>
            <a:r>
              <a:rPr kumimoji="0" lang="en-US" altLang="en-US" sz="11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Vraalsen</a:t>
            </a:r>
            <a:r>
              <a:rPr kumimoji="0" lang="en-US" altLang="en-US" sz="11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1100" b="0" i="1"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Performance Contracts: Predicting and Monitoring Grid Application Behavior</a:t>
            </a:r>
            <a:r>
              <a:rPr kumimoji="0" lang="en-US" altLang="en-US" sz="11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In </a:t>
            </a:r>
            <a:r>
              <a:rPr kumimoji="0" lang="en-US" altLang="en-US" sz="1100" b="0" i="1"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Proceedings of the 2nd International Workshop on Grid Computing</a:t>
            </a:r>
            <a:r>
              <a:rPr kumimoji="0" lang="en-US" altLang="en-US" sz="11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November 2001.</a:t>
            </a:r>
          </a:p>
          <a:p>
            <a:pPr marL="228600" marR="0" lvl="0" indent="-22860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US" altLang="en-US" sz="11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Richard Gibbons, </a:t>
            </a:r>
            <a:r>
              <a:rPr kumimoji="0" lang="en-US" altLang="en-US" sz="1100" b="0" i="1"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 Historical Application Profiler for Use by Parallel Schedulers</a:t>
            </a:r>
            <a:r>
              <a:rPr kumimoji="0" lang="en-US" altLang="en-US" sz="11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1100" b="0" i="1"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Lecture Notes on Computer Science</a:t>
            </a:r>
            <a:r>
              <a:rPr kumimoji="0" lang="en-US" altLang="en-US" sz="11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Volume 1297, pp. 58-75, 1997.</a:t>
            </a:r>
          </a:p>
          <a:p>
            <a:pPr marL="228600" marR="0" lvl="0" indent="-22860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US" altLang="en-US" sz="11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Hyok</a:t>
            </a:r>
            <a:r>
              <a:rPr kumimoji="0" lang="en-US" altLang="en-US" sz="11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-Sung Choi and </a:t>
            </a:r>
            <a:r>
              <a:rPr kumimoji="0" lang="en-US" altLang="en-US" sz="11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Hee</a:t>
            </a:r>
            <a:r>
              <a:rPr kumimoji="0" lang="en-US" altLang="en-US" sz="11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-Chul Yun, </a:t>
            </a:r>
            <a:r>
              <a:rPr kumimoji="0" lang="en-US" altLang="en-US" sz="1100" b="0" i="1"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Context Switching and IPC Performance Comparison between </a:t>
            </a:r>
            <a:r>
              <a:rPr kumimoji="0" lang="en-US" altLang="en-US" sz="1100" b="0" i="1"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uClinux</a:t>
            </a:r>
            <a:r>
              <a:rPr kumimoji="0" lang="en-US" altLang="en-US" sz="1100" b="0" i="1"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and Linux on the ARM9-Based Processor</a:t>
            </a:r>
            <a:r>
              <a:rPr kumimoji="0" lang="en-US" altLang="en-US" sz="11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1100" b="0" i="1"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Linux in Embedded Applications</a:t>
            </a:r>
            <a:r>
              <a:rPr kumimoji="0" lang="en-US" altLang="en-US" sz="11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January 2005. [Online]. .</a:t>
            </a:r>
          </a:p>
          <a:p>
            <a:pPr marL="228600" marR="0" lvl="0" indent="-22860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US" altLang="en-US" sz="11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Warren Smith, Valerie Taylor, and Ian Foster, </a:t>
            </a:r>
            <a:r>
              <a:rPr kumimoji="0" lang="en-US" altLang="en-US" sz="1100" b="0" i="1"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Predicting Application Run Times Using Historical Information</a:t>
            </a:r>
            <a:r>
              <a:rPr kumimoji="0" lang="en-US" altLang="en-US" sz="11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1100" b="0" i="1"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Job Scheduling Strategies for Parallel Processing</a:t>
            </a:r>
            <a:r>
              <a:rPr kumimoji="0" lang="en-US" altLang="en-US" sz="11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IPPS/SPDP'98 Workshop, March 1998.</a:t>
            </a:r>
          </a:p>
          <a:p>
            <a:pPr marL="228600" marR="0" lvl="0" indent="-22860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US" altLang="en-US" sz="11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Kishore Kumar P. and Atul Negi, </a:t>
            </a:r>
            <a:r>
              <a:rPr kumimoji="0" lang="en-US" altLang="en-US" sz="1100" b="0" i="1"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Characterizing Process Execution </a:t>
            </a:r>
            <a:r>
              <a:rPr kumimoji="0" lang="en-US" altLang="en-US" sz="1100" b="0" i="1"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Behaviour</a:t>
            </a:r>
            <a:r>
              <a:rPr kumimoji="0" lang="en-US" altLang="en-US" sz="1100" b="0" i="1"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Using Machine Learning Techniques</a:t>
            </a:r>
            <a:r>
              <a:rPr kumimoji="0" lang="en-US" altLang="en-US" sz="11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In </a:t>
            </a:r>
            <a:r>
              <a:rPr kumimoji="0" lang="en-US" altLang="en-US" sz="1100" b="0" i="1"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DpROM</a:t>
            </a:r>
            <a:r>
              <a:rPr kumimoji="0" lang="en-US" altLang="en-US" sz="1100" b="0" i="1"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Workshop Proceedings</a:t>
            </a:r>
            <a:r>
              <a:rPr kumimoji="0" lang="en-US" altLang="en-US" sz="11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1100" b="0" i="1"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HiPC</a:t>
            </a:r>
            <a:r>
              <a:rPr kumimoji="0" lang="en-US" altLang="en-US" sz="1100" b="0" i="1"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2004 International Conference</a:t>
            </a:r>
            <a:r>
              <a:rPr kumimoji="0" lang="en-US" altLang="en-US" sz="11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December 2004.</a:t>
            </a:r>
          </a:p>
          <a:p>
            <a:pPr marL="228600" marR="0" lvl="0" indent="-22860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endParaRPr kumimoji="0" lang="en-US" altLang="en-US" sz="11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09597157-BC6C-C72F-9276-8310A5245824}"/>
              </a:ext>
            </a:extLst>
          </p:cNvPr>
          <p:cNvSpPr txBox="1"/>
          <p:nvPr/>
        </p:nvSpPr>
        <p:spPr>
          <a:xfrm>
            <a:off x="6456040" y="1633201"/>
            <a:ext cx="4464496" cy="3477875"/>
          </a:xfrm>
          <a:prstGeom prst="rect">
            <a:avLst/>
          </a:prstGeom>
          <a:noFill/>
        </p:spPr>
        <p:txBody>
          <a:bodyPr wrap="square" rtlCol="0">
            <a:spAutoFit/>
          </a:bodyPr>
          <a:lstStyle/>
          <a:p>
            <a:pPr marL="228600" marR="0" lvl="0" indent="-22860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US" altLang="en-US" sz="11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S.R. Garner, </a:t>
            </a:r>
            <a:r>
              <a:rPr kumimoji="0" lang="en-US" altLang="en-US" sz="1100" b="0" i="1"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WEKA: The Waikato Environment for Knowledge Analysis</a:t>
            </a:r>
            <a:r>
              <a:rPr kumimoji="0" lang="en-US" altLang="en-US" sz="11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In </a:t>
            </a:r>
            <a:r>
              <a:rPr kumimoji="0" lang="en-US" altLang="en-US" sz="1100" b="0" i="1"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Proceedings of the New Zealand Computer Science Research Students Conference</a:t>
            </a:r>
            <a:r>
              <a:rPr kumimoji="0" lang="en-US" altLang="en-US" sz="11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pp. 57-64, 1995.</a:t>
            </a:r>
          </a:p>
          <a:p>
            <a:pPr marL="228600" marR="0" lvl="0" indent="-22860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US" altLang="en-US" sz="11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Surkanya</a:t>
            </a:r>
            <a:r>
              <a:rPr kumimoji="0" lang="en-US" altLang="en-US" sz="11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11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Suranauwarat</a:t>
            </a:r>
            <a:r>
              <a:rPr kumimoji="0" lang="en-US" altLang="en-US" sz="11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and Hide Taniguchi, </a:t>
            </a:r>
            <a:r>
              <a:rPr kumimoji="0" lang="en-US" altLang="en-US" sz="1100" b="0" i="1"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 Design, Implementation, and Initial Evaluation of an Advanced Knowledge-Based Process Scheduler</a:t>
            </a:r>
            <a:r>
              <a:rPr kumimoji="0" lang="en-US" altLang="en-US" sz="11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1100" b="0" i="1"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ACM SIGOPS Operating Systems Review</a:t>
            </a:r>
            <a:r>
              <a:rPr kumimoji="0" lang="en-US" altLang="en-US" sz="11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Volume 35, pp. 61-81, October 2001.</a:t>
            </a:r>
          </a:p>
          <a:p>
            <a:pPr marL="228600" marR="0" lvl="0" indent="-22860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US" altLang="en-US" sz="11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Mark A. Hall, </a:t>
            </a:r>
            <a:r>
              <a:rPr kumimoji="0" lang="en-US" altLang="en-US" sz="1100" b="0" i="1"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Correlation-Based Feature Selection for Machine Learning</a:t>
            </a:r>
            <a:r>
              <a:rPr kumimoji="0" lang="en-US" altLang="en-US" sz="11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Master's Thesis, </a:t>
            </a:r>
            <a:r>
              <a:rPr kumimoji="0" lang="en-US" altLang="en-US" sz="1100" b="0" i="1"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Department of Computer Science, University of Waikato</a:t>
            </a:r>
            <a:r>
              <a:rPr kumimoji="0" lang="en-US" altLang="en-US" sz="11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pp. 7-9, 12-14, April 1999.</a:t>
            </a:r>
          </a:p>
          <a:p>
            <a:pPr marL="228600" marR="0" lvl="0" indent="-22860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US" altLang="en-US" sz="11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Andrew Marks, </a:t>
            </a:r>
            <a:r>
              <a:rPr kumimoji="0" lang="en-US" altLang="en-US" sz="1100" b="0" i="1"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 Dynamically Adaptive CPU Scheduler</a:t>
            </a:r>
            <a:r>
              <a:rPr kumimoji="0" lang="en-US" altLang="en-US" sz="11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Master's Thesis, </a:t>
            </a:r>
            <a:r>
              <a:rPr kumimoji="0" lang="en-US" altLang="en-US" sz="1100" b="0" i="1"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Department of Computer Science, Santa Clara University</a:t>
            </a:r>
            <a:r>
              <a:rPr kumimoji="0" lang="en-US" altLang="en-US" sz="11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pp. 5-9, June 2003.</a:t>
            </a:r>
          </a:p>
          <a:p>
            <a:pPr marL="228600" marR="0" lvl="0" indent="-22860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US" altLang="en-US" sz="11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Robert Love, </a:t>
            </a:r>
            <a:r>
              <a:rPr kumimoji="0" lang="en-US" altLang="en-US" sz="1100" b="0" i="1"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Linux Kernel Development</a:t>
            </a:r>
            <a:r>
              <a:rPr kumimoji="0" lang="en-US" altLang="en-US" sz="11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1st ed., </a:t>
            </a:r>
            <a:r>
              <a:rPr kumimoji="0" lang="en-US" altLang="en-US" sz="1100" b="0" i="1"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Pearson Education</a:t>
            </a:r>
            <a:r>
              <a:rPr kumimoji="0" lang="en-US" altLang="en-US" sz="11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2004.</a:t>
            </a:r>
          </a:p>
          <a:p>
            <a:pPr marL="228600" marR="0" lvl="0" indent="-22860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US" altLang="en-US" sz="11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Daniel P. Bovet and Marco </a:t>
            </a:r>
            <a:r>
              <a:rPr kumimoji="0" lang="en-US" altLang="en-US" sz="11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Cesati</a:t>
            </a:r>
            <a:r>
              <a:rPr kumimoji="0" lang="en-US" altLang="en-US" sz="11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1100" b="0" i="1"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Understanding the Linux Kernel</a:t>
            </a:r>
            <a:r>
              <a:rPr kumimoji="0" lang="en-US" altLang="en-US" sz="11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2nd ed., </a:t>
            </a:r>
            <a:r>
              <a:rPr kumimoji="0" lang="en-US" altLang="en-US" sz="1100" b="0" i="1"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O’Reilly &amp; Associates</a:t>
            </a:r>
            <a:r>
              <a:rPr kumimoji="0" lang="en-US" altLang="en-US" sz="11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December 2002.</a:t>
            </a:r>
          </a:p>
          <a:p>
            <a:pPr marL="228600" marR="0" lvl="0" indent="-22860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US" altLang="en-US" sz="11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Tom Mitchell, </a:t>
            </a:r>
            <a:r>
              <a:rPr kumimoji="0" lang="en-US" altLang="en-US" sz="1100" b="0" i="1"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Machine Learning</a:t>
            </a:r>
            <a:r>
              <a:rPr kumimoji="0" lang="en-US" altLang="en-US" sz="11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1st ed., </a:t>
            </a:r>
            <a:r>
              <a:rPr kumimoji="0" lang="en-US" altLang="en-US" sz="1100" b="0" i="1"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McGraw-Hill International Edition</a:t>
            </a:r>
            <a:r>
              <a:rPr kumimoji="0" lang="en-US" altLang="en-US" sz="11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pp. 52-75, 154-183, 230-244, 1997.</a:t>
            </a:r>
          </a:p>
          <a:p>
            <a:pPr marL="228600" marR="0" lvl="0" indent="-22860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US" altLang="en-US" sz="11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O. Duda and P.E. Hart, </a:t>
            </a:r>
            <a:r>
              <a:rPr kumimoji="0" lang="en-US" altLang="en-US" sz="1100" b="0" i="1"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Pattern Classification</a:t>
            </a:r>
            <a:r>
              <a:rPr kumimoji="0" lang="en-US" altLang="en-US" sz="11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1100" b="0" i="1"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Wiley</a:t>
            </a:r>
            <a:r>
              <a:rPr kumimoji="0" lang="en-US" altLang="en-US" sz="11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New York, 1973.</a:t>
            </a:r>
            <a:endParaRPr lang="en-IN" sz="1100" dirty="0"/>
          </a:p>
        </p:txBody>
      </p:sp>
    </p:spTree>
    <p:extLst>
      <p:ext uri="{BB962C8B-B14F-4D97-AF65-F5344CB8AC3E}">
        <p14:creationId xmlns:p14="http://schemas.microsoft.com/office/powerpoint/2010/main" val="390235878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3719736" y="2828835"/>
            <a:ext cx="4348883" cy="1200329"/>
          </a:xfrm>
          <a:prstGeom prst="rect">
            <a:avLst/>
          </a:prstGeom>
        </p:spPr>
        <p:txBody>
          <a:bodyPr wrap="none">
            <a:spAutoFit/>
          </a:bodyPr>
          <a:lstStyle/>
          <a:p>
            <a:pPr algn="r"/>
            <a:r>
              <a:rPr lang="en-US" sz="7200" b="1" i="1" dirty="0">
                <a:solidFill>
                  <a:srgbClr val="FF0000"/>
                </a:solidFill>
                <a:latin typeface="Times New Roman" panose="02020603050405020304" pitchFamily="18" charset="0"/>
                <a:cs typeface="Times New Roman" panose="02020603050405020304" pitchFamily="18" charset="0"/>
              </a:rPr>
              <a:t>Thank You</a:t>
            </a:r>
          </a:p>
        </p:txBody>
      </p:sp>
    </p:spTree>
  </p:cSld>
  <p:clrMapOvr>
    <a:masterClrMapping/>
  </p:clrMapOvr>
</p:sld>
</file>

<file path=ppt/theme/theme1.xml><?xml version="1.0" encoding="utf-8"?>
<a:theme xmlns:a="http://schemas.openxmlformats.org/drawingml/2006/main" name="Custom 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Capstone Project - Review 3 - Template.pptx" id="{77E64785-C4AC-D447-9F20-AA3556BA4DEA}" vid="{211B08FD-A304-1146-A3C3-5229E601B305}"/>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Capstone Project - Review 3 - Template (1)</Template>
  <TotalTime>1548</TotalTime>
  <Words>2912</Words>
  <Application>Microsoft Office PowerPoint</Application>
  <PresentationFormat>Widescreen</PresentationFormat>
  <Paragraphs>341</Paragraphs>
  <Slides>26</Slides>
  <Notes>13</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26</vt:i4>
      </vt:variant>
    </vt:vector>
  </HeadingPairs>
  <TitlesOfParts>
    <vt:vector size="33" baseType="lpstr">
      <vt:lpstr>Arial</vt:lpstr>
      <vt:lpstr>Calibri</vt:lpstr>
      <vt:lpstr>Calibri Light</vt:lpstr>
      <vt:lpstr>Times New Roman</vt:lpstr>
      <vt:lpstr>Trebuchet MS</vt:lpstr>
      <vt:lpstr>Wingdings</vt:lpstr>
      <vt:lpstr>Custom Design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KTwo Technology Solutions</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Sunitha R</dc:creator>
  <cp:lastModifiedBy>Prajval K</cp:lastModifiedBy>
  <cp:revision>54</cp:revision>
  <dcterms:created xsi:type="dcterms:W3CDTF">2020-11-22T08:14:37Z</dcterms:created>
  <dcterms:modified xsi:type="dcterms:W3CDTF">2025-02-12T16:53:53Z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_NewReviewCycle">
    <vt:lpwstr/>
  </property>
</Properties>
</file>